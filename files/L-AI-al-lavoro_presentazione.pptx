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17"/>
  </p:notesMasterIdLst>
  <p:sldIdLst>
    <p:sldId id="298" r:id="rId5"/>
    <p:sldId id="409" r:id="rId6"/>
    <p:sldId id="299" r:id="rId7"/>
    <p:sldId id="300" r:id="rId8"/>
    <p:sldId id="301" r:id="rId9"/>
    <p:sldId id="302" r:id="rId10"/>
    <p:sldId id="303" r:id="rId11"/>
    <p:sldId id="304" r:id="rId12"/>
    <p:sldId id="305" r:id="rId13"/>
    <p:sldId id="306" r:id="rId14"/>
    <p:sldId id="307" r:id="rId15"/>
    <p:sldId id="308" r:id="rId16"/>
    <p:sldId id="309" r:id="rId17"/>
    <p:sldId id="310" r:id="rId18"/>
    <p:sldId id="311" r:id="rId19"/>
    <p:sldId id="312" r:id="rId20"/>
    <p:sldId id="313" r:id="rId21"/>
    <p:sldId id="314" r:id="rId22"/>
    <p:sldId id="315" r:id="rId23"/>
    <p:sldId id="316" r:id="rId24"/>
    <p:sldId id="317" r:id="rId25"/>
    <p:sldId id="318" r:id="rId26"/>
    <p:sldId id="319" r:id="rId27"/>
    <p:sldId id="320" r:id="rId28"/>
    <p:sldId id="321" r:id="rId29"/>
    <p:sldId id="322" r:id="rId30"/>
    <p:sldId id="323" r:id="rId31"/>
    <p:sldId id="324" r:id="rId32"/>
    <p:sldId id="325" r:id="rId33"/>
    <p:sldId id="326" r:id="rId34"/>
    <p:sldId id="327" r:id="rId35"/>
    <p:sldId id="328" r:id="rId36"/>
    <p:sldId id="329" r:id="rId37"/>
    <p:sldId id="330" r:id="rId38"/>
    <p:sldId id="331" r:id="rId39"/>
    <p:sldId id="332" r:id="rId40"/>
    <p:sldId id="333" r:id="rId41"/>
    <p:sldId id="334" r:id="rId42"/>
    <p:sldId id="335" r:id="rId43"/>
    <p:sldId id="336" r:id="rId44"/>
    <p:sldId id="337" r:id="rId45"/>
    <p:sldId id="338" r:id="rId46"/>
    <p:sldId id="339" r:id="rId47"/>
    <p:sldId id="340" r:id="rId48"/>
    <p:sldId id="341" r:id="rId49"/>
    <p:sldId id="342" r:id="rId50"/>
    <p:sldId id="343" r:id="rId51"/>
    <p:sldId id="344" r:id="rId52"/>
    <p:sldId id="345" r:id="rId53"/>
    <p:sldId id="346" r:id="rId54"/>
    <p:sldId id="347" r:id="rId55"/>
    <p:sldId id="348" r:id="rId56"/>
    <p:sldId id="349" r:id="rId57"/>
    <p:sldId id="350" r:id="rId58"/>
    <p:sldId id="351" r:id="rId59"/>
    <p:sldId id="352" r:id="rId60"/>
    <p:sldId id="353" r:id="rId61"/>
    <p:sldId id="354" r:id="rId62"/>
    <p:sldId id="355" r:id="rId63"/>
    <p:sldId id="356" r:id="rId64"/>
    <p:sldId id="357" r:id="rId65"/>
    <p:sldId id="358" r:id="rId66"/>
    <p:sldId id="359" r:id="rId67"/>
    <p:sldId id="360" r:id="rId68"/>
    <p:sldId id="361" r:id="rId69"/>
    <p:sldId id="362" r:id="rId70"/>
    <p:sldId id="363" r:id="rId71"/>
    <p:sldId id="364" r:id="rId72"/>
    <p:sldId id="365" r:id="rId73"/>
    <p:sldId id="366" r:id="rId74"/>
    <p:sldId id="367" r:id="rId75"/>
    <p:sldId id="368" r:id="rId76"/>
    <p:sldId id="369" r:id="rId77"/>
    <p:sldId id="370" r:id="rId78"/>
    <p:sldId id="371" r:id="rId79"/>
    <p:sldId id="372" r:id="rId80"/>
    <p:sldId id="373" r:id="rId81"/>
    <p:sldId id="374" r:id="rId82"/>
    <p:sldId id="375" r:id="rId83"/>
    <p:sldId id="376" r:id="rId84"/>
    <p:sldId id="377" r:id="rId85"/>
    <p:sldId id="378" r:id="rId86"/>
    <p:sldId id="379" r:id="rId87"/>
    <p:sldId id="380" r:id="rId88"/>
    <p:sldId id="381" r:id="rId89"/>
    <p:sldId id="382" r:id="rId90"/>
    <p:sldId id="383" r:id="rId91"/>
    <p:sldId id="384" r:id="rId92"/>
    <p:sldId id="385" r:id="rId93"/>
    <p:sldId id="386" r:id="rId94"/>
    <p:sldId id="387" r:id="rId95"/>
    <p:sldId id="388" r:id="rId96"/>
    <p:sldId id="389" r:id="rId97"/>
    <p:sldId id="390" r:id="rId98"/>
    <p:sldId id="391" r:id="rId99"/>
    <p:sldId id="392" r:id="rId100"/>
    <p:sldId id="393" r:id="rId101"/>
    <p:sldId id="394" r:id="rId102"/>
    <p:sldId id="395" r:id="rId103"/>
    <p:sldId id="396" r:id="rId104"/>
    <p:sldId id="397" r:id="rId105"/>
    <p:sldId id="398" r:id="rId106"/>
    <p:sldId id="399" r:id="rId107"/>
    <p:sldId id="400" r:id="rId108"/>
    <p:sldId id="401" r:id="rId109"/>
    <p:sldId id="402" r:id="rId110"/>
    <p:sldId id="403" r:id="rId111"/>
    <p:sldId id="404" r:id="rId112"/>
    <p:sldId id="405" r:id="rId113"/>
    <p:sldId id="406" r:id="rId114"/>
    <p:sldId id="407" r:id="rId115"/>
    <p:sldId id="408" r:id="rId116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55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625"/>
    <p:restoredTop sz="94675"/>
  </p:normalViewPr>
  <p:slideViewPr>
    <p:cSldViewPr snapToGrid="0">
      <p:cViewPr varScale="1">
        <p:scale>
          <a:sx n="114" d="100"/>
          <a:sy n="114" d="100"/>
        </p:scale>
        <p:origin x="856" y="184"/>
      </p:cViewPr>
      <p:guideLst>
        <p:guide orient="horz" pos="2455"/>
        <p:guide pos="381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117" Type="http://schemas.openxmlformats.org/officeDocument/2006/relationships/notesMaster" Target="notesMasters/notesMaster1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slide" Target="slides/slide80.xml"/><Relationship Id="rId89" Type="http://schemas.openxmlformats.org/officeDocument/2006/relationships/slide" Target="slides/slide85.xml"/><Relationship Id="rId112" Type="http://schemas.openxmlformats.org/officeDocument/2006/relationships/slide" Target="slides/slide108.xml"/><Relationship Id="rId16" Type="http://schemas.openxmlformats.org/officeDocument/2006/relationships/slide" Target="slides/slide12.xml"/><Relationship Id="rId107" Type="http://schemas.openxmlformats.org/officeDocument/2006/relationships/slide" Target="slides/slide103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102" Type="http://schemas.openxmlformats.org/officeDocument/2006/relationships/slide" Target="slides/slide98.xml"/><Relationship Id="rId5" Type="http://schemas.openxmlformats.org/officeDocument/2006/relationships/slide" Target="slides/slide1.xml"/><Relationship Id="rId90" Type="http://schemas.openxmlformats.org/officeDocument/2006/relationships/slide" Target="slides/slide86.xml"/><Relationship Id="rId95" Type="http://schemas.openxmlformats.org/officeDocument/2006/relationships/slide" Target="slides/slide91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113" Type="http://schemas.openxmlformats.org/officeDocument/2006/relationships/slide" Target="slides/slide109.xml"/><Relationship Id="rId118" Type="http://schemas.openxmlformats.org/officeDocument/2006/relationships/presProps" Target="presProps.xml"/><Relationship Id="rId80" Type="http://schemas.openxmlformats.org/officeDocument/2006/relationships/slide" Target="slides/slide76.xml"/><Relationship Id="rId85" Type="http://schemas.openxmlformats.org/officeDocument/2006/relationships/slide" Target="slides/slide81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59" Type="http://schemas.openxmlformats.org/officeDocument/2006/relationships/slide" Target="slides/slide55.xml"/><Relationship Id="rId103" Type="http://schemas.openxmlformats.org/officeDocument/2006/relationships/slide" Target="slides/slide99.xml"/><Relationship Id="rId108" Type="http://schemas.openxmlformats.org/officeDocument/2006/relationships/slide" Target="slides/slide104.xml"/><Relationship Id="rId54" Type="http://schemas.openxmlformats.org/officeDocument/2006/relationships/slide" Target="slides/slide50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91" Type="http://schemas.openxmlformats.org/officeDocument/2006/relationships/slide" Target="slides/slide87.xml"/><Relationship Id="rId96" Type="http://schemas.openxmlformats.org/officeDocument/2006/relationships/slide" Target="slides/slide9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49" Type="http://schemas.openxmlformats.org/officeDocument/2006/relationships/slide" Target="slides/slide45.xml"/><Relationship Id="rId114" Type="http://schemas.openxmlformats.org/officeDocument/2006/relationships/slide" Target="slides/slide110.xml"/><Relationship Id="rId119" Type="http://schemas.openxmlformats.org/officeDocument/2006/relationships/viewProps" Target="viewProps.xml"/><Relationship Id="rId44" Type="http://schemas.openxmlformats.org/officeDocument/2006/relationships/slide" Target="slides/slide40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81" Type="http://schemas.openxmlformats.org/officeDocument/2006/relationships/slide" Target="slides/slide77.xml"/><Relationship Id="rId86" Type="http://schemas.openxmlformats.org/officeDocument/2006/relationships/slide" Target="slides/slide82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109" Type="http://schemas.openxmlformats.org/officeDocument/2006/relationships/slide" Target="slides/slide10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97" Type="http://schemas.openxmlformats.org/officeDocument/2006/relationships/slide" Target="slides/slide93.xml"/><Relationship Id="rId104" Type="http://schemas.openxmlformats.org/officeDocument/2006/relationships/slide" Target="slides/slide100.xml"/><Relationship Id="rId120" Type="http://schemas.openxmlformats.org/officeDocument/2006/relationships/theme" Target="theme/theme1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openxmlformats.org/officeDocument/2006/relationships/slide" Target="slides/slide88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slide" Target="slides/slide83.xml"/><Relationship Id="rId110" Type="http://schemas.openxmlformats.org/officeDocument/2006/relationships/slide" Target="slides/slide106.xml"/><Relationship Id="rId115" Type="http://schemas.openxmlformats.org/officeDocument/2006/relationships/slide" Target="slides/slide111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56" Type="http://schemas.openxmlformats.org/officeDocument/2006/relationships/slide" Target="slides/slide52.xml"/><Relationship Id="rId77" Type="http://schemas.openxmlformats.org/officeDocument/2006/relationships/slide" Target="slides/slide73.xml"/><Relationship Id="rId100" Type="http://schemas.openxmlformats.org/officeDocument/2006/relationships/slide" Target="slides/slide96.xml"/><Relationship Id="rId105" Type="http://schemas.openxmlformats.org/officeDocument/2006/relationships/slide" Target="slides/slide10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93" Type="http://schemas.openxmlformats.org/officeDocument/2006/relationships/slide" Target="slides/slide89.xml"/><Relationship Id="rId98" Type="http://schemas.openxmlformats.org/officeDocument/2006/relationships/slide" Target="slides/slide94.xml"/><Relationship Id="rId121" Type="http://schemas.openxmlformats.org/officeDocument/2006/relationships/tableStyles" Target="tableStyles.xml"/><Relationship Id="rId3" Type="http://schemas.openxmlformats.org/officeDocument/2006/relationships/customXml" Target="../customXml/item3.xml"/><Relationship Id="rId25" Type="http://schemas.openxmlformats.org/officeDocument/2006/relationships/slide" Target="slides/slide21.xml"/><Relationship Id="rId46" Type="http://schemas.openxmlformats.org/officeDocument/2006/relationships/slide" Target="slides/slide42.xml"/><Relationship Id="rId67" Type="http://schemas.openxmlformats.org/officeDocument/2006/relationships/slide" Target="slides/slide63.xml"/><Relationship Id="rId116" Type="http://schemas.openxmlformats.org/officeDocument/2006/relationships/slide" Target="slides/slide11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62" Type="http://schemas.openxmlformats.org/officeDocument/2006/relationships/slide" Target="slides/slide58.xml"/><Relationship Id="rId83" Type="http://schemas.openxmlformats.org/officeDocument/2006/relationships/slide" Target="slides/slide79.xml"/><Relationship Id="rId88" Type="http://schemas.openxmlformats.org/officeDocument/2006/relationships/slide" Target="slides/slide84.xml"/><Relationship Id="rId111" Type="http://schemas.openxmlformats.org/officeDocument/2006/relationships/slide" Target="slides/slide107.xml"/><Relationship Id="rId15" Type="http://schemas.openxmlformats.org/officeDocument/2006/relationships/slide" Target="slides/slide11.xml"/><Relationship Id="rId36" Type="http://schemas.openxmlformats.org/officeDocument/2006/relationships/slide" Target="slides/slide32.xml"/><Relationship Id="rId57" Type="http://schemas.openxmlformats.org/officeDocument/2006/relationships/slide" Target="slides/slide53.xml"/><Relationship Id="rId106" Type="http://schemas.openxmlformats.org/officeDocument/2006/relationships/slide" Target="slides/slide102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52" Type="http://schemas.openxmlformats.org/officeDocument/2006/relationships/slide" Target="slides/slide48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94" Type="http://schemas.openxmlformats.org/officeDocument/2006/relationships/slide" Target="slides/slide90.xml"/><Relationship Id="rId99" Type="http://schemas.openxmlformats.org/officeDocument/2006/relationships/slide" Target="slides/slide95.xml"/><Relationship Id="rId101" Type="http://schemas.openxmlformats.org/officeDocument/2006/relationships/slide" Target="slides/slide9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A459FF-7A79-244B-8B31-126DE12D30B6}" type="datetimeFigureOut">
              <a:rPr lang="it-IT" smtClean="0"/>
              <a:t>21/10/26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E825BE-B2C9-294B-9CF7-31F09075814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446469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Benvenuto. Giornata in due parti: prima capiamo il panorama e il metodo, poi entriamo a fondo in Claude e in come impostarlo. Chiedere chi usa già un'AI e quale.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49EC72-C61F-FA6E-AC20-FA78134A80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170566-3FFB-10A4-38F1-5AFDEC398BC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62BB72-2912-D7FC-369B-B87BD325D4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Benvenuto. Giornata in due parti: prima capiamo il panorama e il metodo, poi entriamo a fondo in Claude e in come impostarlo. Chiedere chi usa già un'AI e quale.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62FB1B-A20D-EF5E-1ECE-4164555096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1550656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Gancio: chiedere all'aula qual è il lavoro più noioso che rifanno ogni settimana. Annotare 3 o 4 risposte: torneranno nella sezione automazioni.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 slide «Pipeline» sono percorsi consigliati da replicare in ufficio: non facciamo prove in aula, mostriamo il metodo.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Messaggio chiave da ripetere in chiusura: l'AI non sostituisce il giudizio, il gusto e la conoscenza del brand. Li moltiplica.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Dati verificati a inizio ottobre 2026 su anthropic.com, help.openai.com e fonti Google. Ricontrollare la settimana dell'aula.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Metafora: un collaboratore brillantissimo al primo giorno, che non conosce né l'azienda né i clienti.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Un minuto per strumento. Le slide successive li presentano uno per uno.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Punto di forza: ecosistema enorme di app, agenti e automazioni.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È lo strumento adottato dal gruppo: lo approfondiamo dalla sezione 04.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Attenzione: dal 9 ottobre il piano gratuito usa solo il modello più leggero (Flash-Lite). Per dati aziendali non usare l'account Gmail personale.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Il suo valore è la verificabilità: ogni affermazione ha una fonte da aprire.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Qui solo la presentazione: la sezione finale spiega modelli, area di lavoro, token e pipeline.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Chiedere all'aula un compito reale della settimana e decidere insieme quale strumento usare.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Far notare i 4 ingredienti: ruolo, contesto, compito, formato.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Il trucco 2 (esempi) è il più potente per il tono di voce di un brand.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Non è una prova in aula: è il percorso ideale da replicare in ufficio. Spiegare perché ogni passo usa quello strumento.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Distribuire questi prompt come scheda pratica dopo l'aula.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Non è una guerra di tifoserie. Chi sa usare bene uno, impara gli altri in un'ora.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Dati volatili verificati a ottobre 2026. Prezzi in dollari, IVA esclusa.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Da qui in poi il focus è su Claude, lo strumento adottato dal gruppo.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Presentare la mappa come indice di tutta la parte su Claude.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Il messaggio chiave: installate l'app desktop. È lì che Claude può lavorare sulle vostre cartelle.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Dettagli verificati a ottobre 2026; le funzioni si allineano spesso, verificare prima dell'aula.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Prima esistevano Chat e Cowork separati. Ora è una sola conversazione: se chiedete un'idea risponde, se chiedete un lavoro su file apre le attività. Code resta la modalità per costruire strumenti.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Fonte: Centro assistenza Claude, «Claude Cowork and chat are one Claude». Distribuzione graduale: alcuni colleghi potrebbero vedere ancora la vecchia interfaccia.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Nomi delle voci tradotti dall'inglese: l'etichetta in italiano nell'app può variare leggermente.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Schema semplificato: l'interfaccia reale può differire nei dettagli e cambia spesso.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Sottolineare il punto 4: la modalità di approvazione la scegliete voi.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Collegare alla sezione 05 sulla cartella di lavoro.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Disponibilità dei modelli e livelli di effort variano per piano: verificare sugli account aziendali.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Fonte: support.claude.com, articolo sull'utilizzo del piano Pro.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È il concetto che cambia le abitudini: una chat infinita consuma sempre di più. Quando cambia argomento, nuova chat.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Haiku è il più efficiente, Fable consuma di più. Usare Opus per riassumere una mail è come andare a fare la spesa in Formula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Lasciare Sonnet con effort medio come impostazione predefinita.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Secondo il supporto Claude, i contenuti dei progetti vengono messi in cache e contano meno sul limite.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Mostrare selettore modello, effort e allegati.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Il progetto desktop vive sul computer e non si condivide; il progetto claude.ai vive nell'account. Si può collegare un progetto claude.ai a un progetto desktop per usarne i materiali.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Esempio: aggiornate il listino nella cartella e Claude, la volta dopo, usa già quello nuovo. Nessun caricamento.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Suggerire una cartella sincronizzata (OneDrive o SharePoint) per averla anche come backup. Mai collegare l'intero disco.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Il test finale serve a verificare che Claude abbia capito le regole prima di produrre qualcosa.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 istruzioni del progetto valgono per ogni conversazione al suo interno.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Risposta alla domanda ricorrente: il documento nella cartella è un file. L'artifact è la versione che vedi e modifichi dentro Claude. Spesso esistono entrambi.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Docs e Slides sono in beta sui piani a pagamento da settembre 2026: verificare la disponibilità sugli account aziendali.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Nota importante da dire in aula: quando Claude modifica un file lo riscrive da zero. Se nel frattempo lo avete ritoccato a mano, quelle modifiche si perdono. Quindi o chiedete a Claude, o duplicate e rinominate.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Non sostituisce il grafico: accelera le prime versioni.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Metafora: il manuale sullo scaffale. Claude legge solo la descrizione finché non serve, poi apre il manuale.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 la skill non scatta quando dovrebbe, quasi sempre è colpa della descrizione troppo vaga.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 skill della directory si possono scaricare, modificare e ricaricare come proprie. Gli amministratori possono condividere skill con tutta l'organizzazione.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Prima skill consigliata per il marketing: il tono di voce del brand, con parole sì, parole no ed esempi approvati.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Chiedere all'aula quale costruirebbero per prima.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Metafora: il collaboratore con la sua scrivania.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Per il livello base basta capire il concetto. La creazione vera la facciamo in un modulo avanzato.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Regola pratica: per una competenza ripetibile, skill. Per delegare un compito ampio o parallelo, agente.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Claude coordina, gli agenti lavorano in parallelo, le skill garantiscono metodo e formato coerenti.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Creare PowerPoint o Excel non richiede un connettore: è una skill. Il connettore serve per leggere e scrivere nei sistemi esterni.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Disponibili sui piani a pagamento.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Non serve saper programmare: si descrive il risultato. Claude Code è lo strumento giusto quando il lavoro è meccanico e ripetuto su tanti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Esempio da raccontare: le foto dello shooting rinominate secondo prodotto, finitura e ambiente.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Prima si osserva, poi si dà fiducia.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Percorso ideale da replicare in ufficio, non una prova in aula.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Distribuire come scheda pratica.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Questa slide è la checklist da consegnare dopo l'aula.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 istruzioni personali valgono in ogni conversazione, i progetti aggiungono le regole specifiche.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 policy sui dati cambiano per piano: verificare con l'IT.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Ognuno di questi errori l'abbiamo visto accadere: raccontare un esempio reale.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Riprendere la lista dei lavori noiosi raccolta all'inizio.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Il concetto da portare a casa: con questo schema si progetta qualsiasi automazione.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Raccontare il caso seguendo le 5 mosse.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Nomi di esempio. La tabella è anche documentazione: chiunque capisce come funziona.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Sono le 5 mosse scritte in italiano. Nessun codice. Partire con i permessi in Manuale.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L'azione è una BOZZA: la mail al rivenditore la manda la persona.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Per le foto, Claude Code o il lavoro su cartella sono ideali.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Queste regole evitano la maggior parte dei problemi.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Distribuire il modello delle 5 mosse da compilare.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Questo testo è la scheda da consegnare.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L'AI potenzia chi la usa, non sostituisce il giudizio.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Chiedere quale punto sembra più utile a ciascuno.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Proporre un follow-up a 4 o 6 settimane.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Il modello è quello degli uffici digitali fatti di agenti con compiti e orari. Lo costruiamo con gli strumenti già visti, tenendo il controllo.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Ogni mattone è stato spiegato nelle sezioni precedenti: qui li montiamo insieme su un caso reale.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Il file fornitori e location è il patrimonio dell'ufficio: Claude lo legge e lo aggiorna.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 skill danno il metodo, gli agenti si dividono il lavoro. Per iniziare bastano le skill: gli agenti arrivano dopo.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Ogni passo produce un file nella cartella dell'evento. La persona approva brief, budget, inviti e invii.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Tutte le attività partono in Manuale: le mail verso l'esterno restano bozze finché qualcuno non le approva.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 regole permanenti vanno nelle istruzioni del progetto, non ripetute a ogni conversazione.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realistico per il setup: mezza giornata, più due settimane di rodaggio.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Messaggio finale della sezione: non serve un'altra AI, serve un ufficio ben impostato.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 differenza di ChatGPT o Gemini, Leonardo non è una chat: è uno studio con controlli precisi su modello, formato e riferimenti.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Mostrare l'interfaccia se c'è tempo: barra del prompt in alto, selettore del modello a sinistra.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Per iniziare: Lucid Origin per i concept, Lucid Realism per il fotorealismo, Nano Banana per le modifiche.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Kling è un buon equilibrio tra qualità e velocità; Veo quando il prodotto deve restare coerente.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Elenco basato sulla guida ufficiale di Leonardo, ottobre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Si può chiedere a Claude di scrivere il prompt in inglese partendo da una descrizione in italiano.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 foto prodotto reali vanno usate come riferimento: l'AI da sola non le riproduce fedelmente.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Prezzi indicativi da fonti 2026: verificare su leonardo.ai prima dell'aula.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Collegare all'esperienza del gruppo con i video AI per le fiere.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Chiudere ricordando che l'AI accelera, ma la direzione artistica resta umana.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ertura">
    <p:bg>
      <p:bgPr>
        <a:gradFill flip="none" rotWithShape="1">
          <a:gsLst>
            <a:gs pos="57000">
              <a:schemeClr val="tx2">
                <a:lumMod val="100000"/>
              </a:schemeClr>
            </a:gs>
            <a:gs pos="0">
              <a:schemeClr val="accent1"/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egnaposto immagine 15">
            <a:extLst>
              <a:ext uri="{FF2B5EF4-FFF2-40B4-BE49-F238E27FC236}">
                <a16:creationId xmlns:a16="http://schemas.microsoft.com/office/drawing/2014/main" id="{98D86D26-2D52-2702-D614-1A56FFB59D5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6FE2E78B-065F-61E0-33E7-C71759D3082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86158" y="853440"/>
            <a:ext cx="5662930" cy="1215203"/>
          </a:xfrm>
          <a:prstGeom prst="rect">
            <a:avLst/>
          </a:prstGeom>
        </p:spPr>
        <p:txBody>
          <a:bodyPr anchor="t"/>
          <a:lstStyle>
            <a:lvl1pPr algn="l">
              <a:lnSpc>
                <a:spcPct val="80000"/>
              </a:lnSpc>
              <a:defRPr sz="5000" b="1" i="0">
                <a:solidFill>
                  <a:schemeClr val="bg1"/>
                </a:solidFill>
                <a:latin typeface="BUTLER-EXTRABOLD" panose="02000503090000020003" pitchFamily="2" charset="77"/>
              </a:defRPr>
            </a:lvl1pPr>
          </a:lstStyle>
          <a:p>
            <a:r>
              <a:rPr lang="it-IT" dirty="0"/>
              <a:t>Titolo Presentazione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1631E901-6438-31FC-EF6E-D8BED64FA47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6000" y="2619728"/>
            <a:ext cx="5750560" cy="1295082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80000"/>
              </a:lnSpc>
              <a:buNone/>
              <a:defRPr sz="3000" b="0" i="0">
                <a:solidFill>
                  <a:schemeClr val="bg1"/>
                </a:solidFill>
                <a:latin typeface="Butler" panose="02000503090000020003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 dirty="0"/>
              <a:t>Sottotitolo presentazione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4A3174C-00F6-3AEF-6F04-5859A2774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60" y="6356350"/>
            <a:ext cx="1922987" cy="365125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Karla" panose="020B0004030503030003" pitchFamily="34" charset="77"/>
              </a:defRPr>
            </a:lvl1pPr>
          </a:lstStyle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171150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ertura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egnaposto immagine 11">
            <a:extLst>
              <a:ext uri="{FF2B5EF4-FFF2-40B4-BE49-F238E27FC236}">
                <a16:creationId xmlns:a16="http://schemas.microsoft.com/office/drawing/2014/main" id="{B87E97FF-5B8B-58D1-B654-D0A1B302935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2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endParaRPr lang="it-IT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6FE2E78B-065F-61E0-33E7-C71759D3082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53101" y="3158950"/>
            <a:ext cx="3942674" cy="540100"/>
          </a:xfrm>
          <a:prstGeom prst="rect">
            <a:avLst/>
          </a:prstGeom>
        </p:spPr>
        <p:txBody>
          <a:bodyPr anchor="t"/>
          <a:lstStyle>
            <a:lvl1pPr algn="l">
              <a:lnSpc>
                <a:spcPct val="80000"/>
              </a:lnSpc>
              <a:defRPr sz="5000" b="1" i="0">
                <a:solidFill>
                  <a:schemeClr val="bg1"/>
                </a:solidFill>
                <a:latin typeface="BUTLER-EXTRABOLD" panose="02000503090000020003" pitchFamily="2" charset="77"/>
              </a:defRPr>
            </a:lvl1pPr>
          </a:lstStyle>
          <a:p>
            <a:r>
              <a:rPr lang="it-IT" dirty="0"/>
              <a:t>Titolo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1631E901-6438-31FC-EF6E-D8BED64FA47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46841" y="3987756"/>
            <a:ext cx="3948933" cy="876972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80000"/>
              </a:lnSpc>
              <a:buNone/>
              <a:defRPr sz="3000" b="0" i="0">
                <a:solidFill>
                  <a:schemeClr val="bg1"/>
                </a:solidFill>
                <a:latin typeface="Butler" panose="02000503090000020003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 dirty="0"/>
              <a:t>Sottotitolo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4A3174C-00F6-3AEF-6F04-5859A2774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0222" y="2466283"/>
            <a:ext cx="1840897" cy="459797"/>
          </a:xfrm>
        </p:spPr>
        <p:txBody>
          <a:bodyPr anchor="t"/>
          <a:lstStyle>
            <a:lvl1pPr>
              <a:defRPr sz="1200" b="0" i="0">
                <a:solidFill>
                  <a:schemeClr val="bg1"/>
                </a:solidFill>
                <a:latin typeface="Karla" panose="020B0004030503030003" pitchFamily="34" charset="77"/>
              </a:defRPr>
            </a:lvl1pPr>
          </a:lstStyle>
          <a:p>
            <a:r>
              <a:rPr lang="it-IT" dirty="0"/>
              <a:t>Data e </a:t>
            </a:r>
            <a:br>
              <a:rPr lang="it-IT" dirty="0"/>
            </a:br>
            <a:r>
              <a:rPr lang="it-IT" dirty="0"/>
              <a:t>luogo </a:t>
            </a:r>
          </a:p>
        </p:txBody>
      </p:sp>
    </p:spTree>
    <p:extLst>
      <p:ext uri="{BB962C8B-B14F-4D97-AF65-F5344CB8AC3E}">
        <p14:creationId xmlns:p14="http://schemas.microsoft.com/office/powerpoint/2010/main" val="1916194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con foto 1">
    <p:bg>
      <p:bgPr>
        <a:gradFill flip="none" rotWithShape="1">
          <a:gsLst>
            <a:gs pos="100000">
              <a:schemeClr val="bg2"/>
            </a:gs>
            <a:gs pos="0">
              <a:schemeClr val="accent1"/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magine 12" descr="Immagine che contiene nero, silhouette&#10;&#10;Il contenuto generato dall'IA potrebbe non essere corretto.">
            <a:extLst>
              <a:ext uri="{FF2B5EF4-FFF2-40B4-BE49-F238E27FC236}">
                <a16:creationId xmlns:a16="http://schemas.microsoft.com/office/drawing/2014/main" id="{A11F661D-CB32-4981-1192-474056D7E2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40599" t="24538" r="-3485" b="1257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6FE2E78B-065F-61E0-33E7-C71759D3082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43979" y="4322016"/>
            <a:ext cx="2733378" cy="687414"/>
          </a:xfrm>
          <a:prstGeom prst="rect">
            <a:avLst/>
          </a:prstGeom>
        </p:spPr>
        <p:txBody>
          <a:bodyPr anchor="t"/>
          <a:lstStyle>
            <a:lvl1pPr algn="l">
              <a:defRPr sz="5000" b="1" i="0">
                <a:solidFill>
                  <a:schemeClr val="bg1"/>
                </a:solidFill>
                <a:latin typeface="BUTLER-EXTRABOLD" panose="02000503090000020003" pitchFamily="2" charset="77"/>
              </a:defRPr>
            </a:lvl1pPr>
          </a:lstStyle>
          <a:p>
            <a:r>
              <a:rPr lang="it-IT" dirty="0"/>
              <a:t>01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4A3174C-00F6-3AEF-6F04-5859A2774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  <a:latin typeface="Karla" panose="020B0004030503030003" pitchFamily="34" charset="77"/>
              </a:defRPr>
            </a:lvl1pPr>
          </a:lstStyle>
          <a:p>
            <a:endParaRPr lang="it-IT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5B4FADA-6231-AB44-3E72-A009230D9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solidFill>
                  <a:schemeClr val="accent1"/>
                </a:solidFill>
                <a:latin typeface="Karla" panose="020B0004030503030003" pitchFamily="34" charset="77"/>
              </a:defRPr>
            </a:lvl1pPr>
          </a:lstStyle>
          <a:p>
            <a:fld id="{13D6451D-1641-964E-B995-104A5CF7FFD9}" type="slidenum">
              <a:rPr lang="it-IT" smtClean="0"/>
              <a:pPr/>
              <a:t>‹N›</a:t>
            </a:fld>
            <a:endParaRPr lang="it-IT" dirty="0"/>
          </a:p>
        </p:txBody>
      </p:sp>
      <p:sp>
        <p:nvSpPr>
          <p:cNvPr id="10" name="Segnaposto testo 9">
            <a:extLst>
              <a:ext uri="{FF2B5EF4-FFF2-40B4-BE49-F238E27FC236}">
                <a16:creationId xmlns:a16="http://schemas.microsoft.com/office/drawing/2014/main" id="{D2682CA9-F1A5-0CCF-8A7F-9DCFCEA5A39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9604" y="5272929"/>
            <a:ext cx="3852862" cy="93186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3600" b="0" i="0">
                <a:solidFill>
                  <a:schemeClr val="bg1"/>
                </a:solidFill>
                <a:latin typeface="Butler" panose="02000503090000020003" pitchFamily="2" charset="77"/>
              </a:defRPr>
            </a:lvl1pPr>
          </a:lstStyle>
          <a:p>
            <a:pPr lvl="0"/>
            <a:r>
              <a:rPr lang="it-IT" dirty="0"/>
              <a:t>Titolo </a:t>
            </a:r>
            <a:br>
              <a:rPr lang="it-IT" dirty="0"/>
            </a:br>
            <a:r>
              <a:rPr lang="it-IT" dirty="0"/>
              <a:t>Capitolo</a:t>
            </a:r>
          </a:p>
        </p:txBody>
      </p:sp>
    </p:spTree>
    <p:extLst>
      <p:ext uri="{BB962C8B-B14F-4D97-AF65-F5344CB8AC3E}">
        <p14:creationId xmlns:p14="http://schemas.microsoft.com/office/powerpoint/2010/main" val="12628925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magine 24">
            <a:extLst>
              <a:ext uri="{FF2B5EF4-FFF2-40B4-BE49-F238E27FC236}">
                <a16:creationId xmlns:a16="http://schemas.microsoft.com/office/drawing/2014/main" id="{23B77F8C-5C44-1493-6C7B-9A53A44519B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52" r="5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6FE2E78B-065F-61E0-33E7-C71759D3082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43978" y="2452967"/>
            <a:ext cx="5608587" cy="687414"/>
          </a:xfrm>
          <a:prstGeom prst="rect">
            <a:avLst/>
          </a:prstGeom>
        </p:spPr>
        <p:txBody>
          <a:bodyPr anchor="t"/>
          <a:lstStyle>
            <a:lvl1pPr algn="l">
              <a:lnSpc>
                <a:spcPct val="80000"/>
              </a:lnSpc>
              <a:defRPr sz="5000" b="0" i="0">
                <a:solidFill>
                  <a:schemeClr val="bg1"/>
                </a:solidFill>
                <a:latin typeface="Butler" panose="02000503090000020003" pitchFamily="2" charset="77"/>
              </a:defRPr>
            </a:lvl1pPr>
          </a:lstStyle>
          <a:p>
            <a:r>
              <a:rPr lang="it-IT" dirty="0"/>
              <a:t>Titolo capitolo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4A3174C-00F6-3AEF-6F04-5859A2774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  <a:latin typeface="Karla" panose="020B0004030503030003" pitchFamily="34" charset="77"/>
              </a:defRPr>
            </a:lvl1pPr>
          </a:lstStyle>
          <a:p>
            <a:endParaRPr lang="it-IT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5B4FADA-6231-AB44-3E72-A009230D9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  <a:latin typeface="Karla" panose="020B0004030503030003" pitchFamily="34" charset="77"/>
              </a:defRPr>
            </a:lvl1pPr>
          </a:lstStyle>
          <a:p>
            <a:fld id="{13D6451D-1641-964E-B995-104A5CF7FFD9}" type="slidenum">
              <a:rPr lang="it-IT" smtClean="0"/>
              <a:pPr/>
              <a:t>‹N›</a:t>
            </a:fld>
            <a:endParaRPr lang="it-IT" dirty="0"/>
          </a:p>
        </p:txBody>
      </p:sp>
      <p:sp>
        <p:nvSpPr>
          <p:cNvPr id="10" name="Segnaposto testo 9">
            <a:extLst>
              <a:ext uri="{FF2B5EF4-FFF2-40B4-BE49-F238E27FC236}">
                <a16:creationId xmlns:a16="http://schemas.microsoft.com/office/drawing/2014/main" id="{D2682CA9-F1A5-0CCF-8A7F-9DCFCEA5A39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9604" y="3206657"/>
            <a:ext cx="5638820" cy="93186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2800" b="0" i="0">
                <a:solidFill>
                  <a:schemeClr val="bg1"/>
                </a:solidFill>
                <a:latin typeface="Butler" panose="02000503090000020003" pitchFamily="2" charset="77"/>
              </a:defRPr>
            </a:lvl1pPr>
          </a:lstStyle>
          <a:p>
            <a:pPr lvl="0"/>
            <a:r>
              <a:rPr lang="it-IT" dirty="0"/>
              <a:t>Sottotitolo</a:t>
            </a: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CF2924F9-BEE5-D718-A84E-51165BC7634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94787" y="6333330"/>
            <a:ext cx="1991187" cy="412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26109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magine 24">
            <a:extLst>
              <a:ext uri="{FF2B5EF4-FFF2-40B4-BE49-F238E27FC236}">
                <a16:creationId xmlns:a16="http://schemas.microsoft.com/office/drawing/2014/main" id="{23B77F8C-5C44-1493-6C7B-9A53A44519B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-19957" t="7625" r="-18522" b="-5671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6FE2E78B-065F-61E0-33E7-C71759D3082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43978" y="4115920"/>
            <a:ext cx="5608587" cy="687414"/>
          </a:xfrm>
          <a:prstGeom prst="rect">
            <a:avLst/>
          </a:prstGeom>
        </p:spPr>
        <p:txBody>
          <a:bodyPr anchor="t"/>
          <a:lstStyle>
            <a:lvl1pPr algn="l">
              <a:lnSpc>
                <a:spcPct val="80000"/>
              </a:lnSpc>
              <a:defRPr sz="5000" b="0" i="0">
                <a:solidFill>
                  <a:schemeClr val="bg1"/>
                </a:solidFill>
                <a:latin typeface="Butler" panose="02000503090000020003" pitchFamily="2" charset="77"/>
              </a:defRPr>
            </a:lvl1pPr>
          </a:lstStyle>
          <a:p>
            <a:r>
              <a:rPr lang="it-IT" dirty="0"/>
              <a:t>Titolo capitolo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4A3174C-00F6-3AEF-6F04-5859A2774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  <a:latin typeface="Karla" panose="020B0004030503030003" pitchFamily="34" charset="77"/>
              </a:defRPr>
            </a:lvl1pPr>
          </a:lstStyle>
          <a:p>
            <a:r>
              <a:rPr lang="it-IT" dirty="0"/>
              <a:t>	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5B4FADA-6231-AB44-3E72-A009230D9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  <a:latin typeface="Karla" panose="020B0004030503030003" pitchFamily="34" charset="77"/>
              </a:defRPr>
            </a:lvl1pPr>
          </a:lstStyle>
          <a:p>
            <a:fld id="{13D6451D-1641-964E-B995-104A5CF7FFD9}" type="slidenum">
              <a:rPr lang="it-IT" smtClean="0"/>
              <a:pPr/>
              <a:t>‹N›</a:t>
            </a:fld>
            <a:endParaRPr lang="it-IT" dirty="0"/>
          </a:p>
        </p:txBody>
      </p:sp>
      <p:sp>
        <p:nvSpPr>
          <p:cNvPr id="10" name="Segnaposto testo 9">
            <a:extLst>
              <a:ext uri="{FF2B5EF4-FFF2-40B4-BE49-F238E27FC236}">
                <a16:creationId xmlns:a16="http://schemas.microsoft.com/office/drawing/2014/main" id="{D2682CA9-F1A5-0CCF-8A7F-9DCFCEA5A39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9604" y="4869610"/>
            <a:ext cx="5638820" cy="93186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2800" b="0" i="0">
                <a:solidFill>
                  <a:schemeClr val="bg1"/>
                </a:solidFill>
                <a:latin typeface="Butler" panose="02000503090000020003" pitchFamily="2" charset="77"/>
              </a:defRPr>
            </a:lvl1pPr>
          </a:lstStyle>
          <a:p>
            <a:pPr lvl="0"/>
            <a:r>
              <a:rPr lang="it-IT" dirty="0"/>
              <a:t>Sottotitolo</a:t>
            </a:r>
          </a:p>
        </p:txBody>
      </p:sp>
    </p:spTree>
    <p:extLst>
      <p:ext uri="{BB962C8B-B14F-4D97-AF65-F5344CB8AC3E}">
        <p14:creationId xmlns:p14="http://schemas.microsoft.com/office/powerpoint/2010/main" val="5796811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ase emozional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magine 24">
            <a:extLst>
              <a:ext uri="{FF2B5EF4-FFF2-40B4-BE49-F238E27FC236}">
                <a16:creationId xmlns:a16="http://schemas.microsoft.com/office/drawing/2014/main" id="{23B77F8C-5C44-1493-6C7B-9A53A44519B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rcRect l="1" t="-28" r="-7525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6FE2E78B-065F-61E0-33E7-C71759D3082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43978" y="4115919"/>
            <a:ext cx="7939410" cy="1976905"/>
          </a:xfrm>
          <a:prstGeom prst="rect">
            <a:avLst/>
          </a:prstGeom>
        </p:spPr>
        <p:txBody>
          <a:bodyPr anchor="t"/>
          <a:lstStyle>
            <a:lvl1pPr algn="l">
              <a:lnSpc>
                <a:spcPct val="80000"/>
              </a:lnSpc>
              <a:defRPr sz="7000" b="0" i="0">
                <a:solidFill>
                  <a:schemeClr val="tx2"/>
                </a:solidFill>
                <a:latin typeface="Butler" panose="02000503090000020003" pitchFamily="2" charset="77"/>
              </a:defRPr>
            </a:lvl1pPr>
          </a:lstStyle>
          <a:p>
            <a:r>
              <a:rPr lang="it-IT" dirty="0"/>
              <a:t>Frase emozionale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4A3174C-00F6-3AEF-6F04-5859A2774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solidFill>
                  <a:schemeClr val="tx2"/>
                </a:solidFill>
                <a:latin typeface="Karla" panose="020B0004030503030003" pitchFamily="34" charset="77"/>
              </a:defRPr>
            </a:lvl1pPr>
          </a:lstStyle>
          <a:p>
            <a:endParaRPr lang="it-IT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5B4FADA-6231-AB44-3E72-A009230D9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solidFill>
                  <a:schemeClr val="tx2"/>
                </a:solidFill>
                <a:latin typeface="Karla" panose="020B0004030503030003" pitchFamily="34" charset="77"/>
              </a:defRPr>
            </a:lvl1pPr>
          </a:lstStyle>
          <a:p>
            <a:fld id="{13D6451D-1641-964E-B995-104A5CF7FFD9}" type="slidenum">
              <a:rPr lang="it-IT" smtClean="0"/>
              <a:pPr/>
              <a:t>‹N›</a:t>
            </a:fld>
            <a:endParaRPr lang="it-IT" dirty="0"/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E21651A3-D9AC-5D79-8D36-7F948334E0E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96392" y="6330081"/>
            <a:ext cx="2008300" cy="415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97955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rase emozional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magine 24">
            <a:extLst>
              <a:ext uri="{FF2B5EF4-FFF2-40B4-BE49-F238E27FC236}">
                <a16:creationId xmlns:a16="http://schemas.microsoft.com/office/drawing/2014/main" id="{23B77F8C-5C44-1493-6C7B-9A53A44519B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-30653" t="-57086" r="29344" b="-1"/>
          <a:stretch>
            <a:fillRect/>
          </a:stretch>
        </p:blipFill>
        <p:spPr>
          <a:xfrm rot="16200000">
            <a:off x="2667000" y="-2667000"/>
            <a:ext cx="6858000" cy="12192000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6FE2E78B-065F-61E0-33E7-C71759D3082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43978" y="4115919"/>
            <a:ext cx="7939410" cy="1976905"/>
          </a:xfrm>
          <a:prstGeom prst="rect">
            <a:avLst/>
          </a:prstGeom>
        </p:spPr>
        <p:txBody>
          <a:bodyPr anchor="t"/>
          <a:lstStyle>
            <a:lvl1pPr algn="l">
              <a:lnSpc>
                <a:spcPct val="80000"/>
              </a:lnSpc>
              <a:defRPr sz="7000" b="0" i="0">
                <a:solidFill>
                  <a:schemeClr val="tx2"/>
                </a:solidFill>
                <a:latin typeface="Butler" panose="02000503090000020003" pitchFamily="2" charset="77"/>
              </a:defRPr>
            </a:lvl1pPr>
          </a:lstStyle>
          <a:p>
            <a:r>
              <a:rPr lang="it-IT" dirty="0"/>
              <a:t>Frase emozionale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4A3174C-00F6-3AEF-6F04-5859A2774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solidFill>
                  <a:schemeClr val="tx2"/>
                </a:solidFill>
                <a:latin typeface="Karla" panose="020B0004030503030003" pitchFamily="34" charset="77"/>
              </a:defRPr>
            </a:lvl1pPr>
          </a:lstStyle>
          <a:p>
            <a:endParaRPr lang="it-IT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5B4FADA-6231-AB44-3E72-A009230D9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solidFill>
                  <a:schemeClr val="tx2"/>
                </a:solidFill>
                <a:latin typeface="Karla" panose="020B0004030503030003" pitchFamily="34" charset="77"/>
              </a:defRPr>
            </a:lvl1pPr>
          </a:lstStyle>
          <a:p>
            <a:fld id="{13D6451D-1641-964E-B995-104A5CF7FFD9}" type="slidenum">
              <a:rPr lang="it-IT" smtClean="0"/>
              <a:pPr/>
              <a:t>‹N›</a:t>
            </a:fld>
            <a:endParaRPr lang="it-IT" dirty="0"/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E21651A3-D9AC-5D79-8D36-7F948334E0E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96392" y="6330081"/>
            <a:ext cx="2008300" cy="415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71804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+ testo dx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magine 24">
            <a:extLst>
              <a:ext uri="{FF2B5EF4-FFF2-40B4-BE49-F238E27FC236}">
                <a16:creationId xmlns:a16="http://schemas.microsoft.com/office/drawing/2014/main" id="{23B77F8C-5C44-1493-6C7B-9A53A44519B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-109148" t="3022" r="12336" b="421"/>
          <a:stretch>
            <a:fillRect/>
          </a:stretch>
        </p:blipFill>
        <p:spPr>
          <a:xfrm rot="10800000"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6FE2E78B-065F-61E0-33E7-C71759D3082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26070" y="999494"/>
            <a:ext cx="5661980" cy="1976905"/>
          </a:xfrm>
          <a:prstGeom prst="rect">
            <a:avLst/>
          </a:prstGeom>
        </p:spPr>
        <p:txBody>
          <a:bodyPr anchor="t"/>
          <a:lstStyle>
            <a:lvl1pPr algn="l">
              <a:lnSpc>
                <a:spcPct val="80000"/>
              </a:lnSpc>
              <a:defRPr sz="4800" b="1" i="0">
                <a:solidFill>
                  <a:schemeClr val="tx2"/>
                </a:solidFill>
                <a:latin typeface="Butler" panose="02000503090000020003" pitchFamily="2" charset="77"/>
              </a:defRPr>
            </a:lvl1pPr>
          </a:lstStyle>
          <a:p>
            <a:r>
              <a:rPr lang="it-IT" dirty="0"/>
              <a:t>Titolo intro</a:t>
            </a:r>
            <a:br>
              <a:rPr lang="it-IT" dirty="0"/>
            </a:br>
            <a:r>
              <a:rPr lang="it-IT" dirty="0"/>
              <a:t>o breve testo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4A3174C-00F6-3AEF-6F04-5859A2774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solidFill>
                  <a:schemeClr val="tx2"/>
                </a:solidFill>
                <a:latin typeface="Karla" panose="020B0004030503030003" pitchFamily="34" charset="77"/>
              </a:defRPr>
            </a:lvl1pPr>
          </a:lstStyle>
          <a:p>
            <a:endParaRPr lang="it-IT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5B4FADA-6231-AB44-3E72-A009230D9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solidFill>
                  <a:schemeClr val="tx2"/>
                </a:solidFill>
                <a:latin typeface="Karla" panose="020B0004030503030003" pitchFamily="34" charset="77"/>
              </a:defRPr>
            </a:lvl1pPr>
          </a:lstStyle>
          <a:p>
            <a:fld id="{13D6451D-1641-964E-B995-104A5CF7FFD9}" type="slidenum">
              <a:rPr lang="it-IT" smtClean="0"/>
              <a:pPr/>
              <a:t>‹N›</a:t>
            </a:fld>
            <a:endParaRPr lang="it-IT" dirty="0"/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E21651A3-D9AC-5D79-8D36-7F948334E0E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96392" y="6330081"/>
            <a:ext cx="2008300" cy="415920"/>
          </a:xfrm>
          <a:prstGeom prst="rect">
            <a:avLst/>
          </a:prstGeom>
        </p:spPr>
      </p:pic>
      <p:sp>
        <p:nvSpPr>
          <p:cNvPr id="10" name="Segnaposto testo 9">
            <a:extLst>
              <a:ext uri="{FF2B5EF4-FFF2-40B4-BE49-F238E27FC236}">
                <a16:creationId xmlns:a16="http://schemas.microsoft.com/office/drawing/2014/main" id="{D6D892A4-F708-D86B-3C40-A0660EBA9B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03950" y="1243012"/>
            <a:ext cx="5721350" cy="48498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it-IT" sz="1800" b="0" i="0" smtClean="0">
                <a:effectLst/>
              </a:defRPr>
            </a:lvl1pPr>
          </a:lstStyle>
          <a:p>
            <a:pPr lvl="0"/>
            <a:r>
              <a:rPr lang="it-IT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Inserire testo di media lunghezza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8902101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olo+ testo dx 1 bi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FE2E78B-065F-61E0-33E7-C71759D3082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26070" y="999494"/>
            <a:ext cx="5661980" cy="1976905"/>
          </a:xfrm>
          <a:prstGeom prst="rect">
            <a:avLst/>
          </a:prstGeom>
        </p:spPr>
        <p:txBody>
          <a:bodyPr anchor="t"/>
          <a:lstStyle>
            <a:lvl1pPr algn="l">
              <a:lnSpc>
                <a:spcPct val="80000"/>
              </a:lnSpc>
              <a:defRPr sz="4800" b="1" i="0">
                <a:solidFill>
                  <a:schemeClr val="tx2"/>
                </a:solidFill>
                <a:latin typeface="Butler" panose="02000503090000020003" pitchFamily="2" charset="77"/>
              </a:defRPr>
            </a:lvl1pPr>
          </a:lstStyle>
          <a:p>
            <a:r>
              <a:rPr lang="it-IT" dirty="0"/>
              <a:t>Titolo intro</a:t>
            </a:r>
            <a:br>
              <a:rPr lang="it-IT" dirty="0"/>
            </a:br>
            <a:r>
              <a:rPr lang="it-IT" dirty="0"/>
              <a:t>o breve testo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4A3174C-00F6-3AEF-6F04-5859A2774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solidFill>
                  <a:schemeClr val="tx2"/>
                </a:solidFill>
                <a:latin typeface="Karla" panose="020B0004030503030003" pitchFamily="34" charset="77"/>
              </a:defRPr>
            </a:lvl1pPr>
          </a:lstStyle>
          <a:p>
            <a:endParaRPr lang="it-IT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5B4FADA-6231-AB44-3E72-A009230D9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solidFill>
                  <a:schemeClr val="tx2"/>
                </a:solidFill>
                <a:latin typeface="Karla" panose="020B0004030503030003" pitchFamily="34" charset="77"/>
              </a:defRPr>
            </a:lvl1pPr>
          </a:lstStyle>
          <a:p>
            <a:fld id="{13D6451D-1641-964E-B995-104A5CF7FFD9}" type="slidenum">
              <a:rPr lang="it-IT" smtClean="0"/>
              <a:pPr/>
              <a:t>‹N›</a:t>
            </a:fld>
            <a:endParaRPr lang="it-IT" dirty="0"/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E21651A3-D9AC-5D79-8D36-7F948334E0E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6392" y="6330081"/>
            <a:ext cx="2008300" cy="415920"/>
          </a:xfrm>
          <a:prstGeom prst="rect">
            <a:avLst/>
          </a:prstGeom>
        </p:spPr>
      </p:pic>
      <p:sp>
        <p:nvSpPr>
          <p:cNvPr id="10" name="Segnaposto testo 9">
            <a:extLst>
              <a:ext uri="{FF2B5EF4-FFF2-40B4-BE49-F238E27FC236}">
                <a16:creationId xmlns:a16="http://schemas.microsoft.com/office/drawing/2014/main" id="{D6D892A4-F708-D86B-3C40-A0660EBA9B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03950" y="1243012"/>
            <a:ext cx="5721350" cy="48498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it-IT" sz="1800" b="0" i="0" smtClean="0">
                <a:effectLst/>
              </a:defRPr>
            </a:lvl1pPr>
          </a:lstStyle>
          <a:p>
            <a:pPr lvl="0"/>
            <a:r>
              <a:rPr lang="it-IT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Inserire testo di media lunghezza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8936894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+ testo dx 1 sfumato">
    <p:bg>
      <p:bgPr>
        <a:gradFill flip="none" rotWithShape="1">
          <a:gsLst>
            <a:gs pos="0">
              <a:schemeClr val="accent1"/>
            </a:gs>
            <a:gs pos="100000">
              <a:schemeClr val="tx2"/>
            </a:gs>
          </a:gsLst>
          <a:lin ang="108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FE2E78B-065F-61E0-33E7-C71759D3082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26070" y="999494"/>
            <a:ext cx="5661980" cy="1976905"/>
          </a:xfrm>
          <a:prstGeom prst="rect">
            <a:avLst/>
          </a:prstGeom>
        </p:spPr>
        <p:txBody>
          <a:bodyPr anchor="t"/>
          <a:lstStyle>
            <a:lvl1pPr algn="l">
              <a:lnSpc>
                <a:spcPct val="80000"/>
              </a:lnSpc>
              <a:defRPr sz="4800" b="1" i="0">
                <a:solidFill>
                  <a:schemeClr val="bg1"/>
                </a:solidFill>
                <a:latin typeface="Butler" panose="02000503090000020003" pitchFamily="2" charset="77"/>
              </a:defRPr>
            </a:lvl1pPr>
          </a:lstStyle>
          <a:p>
            <a:r>
              <a:rPr lang="it-IT" dirty="0"/>
              <a:t>Titolo intro</a:t>
            </a:r>
            <a:br>
              <a:rPr lang="it-IT" dirty="0"/>
            </a:br>
            <a:r>
              <a:rPr lang="it-IT" dirty="0"/>
              <a:t>o breve testo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4A3174C-00F6-3AEF-6F04-5859A2774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  <a:latin typeface="Karla" panose="020B0004030503030003" pitchFamily="34" charset="77"/>
              </a:defRPr>
            </a:lvl1pPr>
          </a:lstStyle>
          <a:p>
            <a:endParaRPr lang="it-IT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5B4FADA-6231-AB44-3E72-A009230D9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  <a:latin typeface="Karla" panose="020B0004030503030003" pitchFamily="34" charset="77"/>
              </a:defRPr>
            </a:lvl1pPr>
          </a:lstStyle>
          <a:p>
            <a:fld id="{13D6451D-1641-964E-B995-104A5CF7FFD9}" type="slidenum">
              <a:rPr lang="it-IT" smtClean="0"/>
              <a:pPr/>
              <a:t>‹N›</a:t>
            </a:fld>
            <a:endParaRPr lang="it-IT" dirty="0"/>
          </a:p>
        </p:txBody>
      </p:sp>
      <p:sp>
        <p:nvSpPr>
          <p:cNvPr id="10" name="Segnaposto testo 9">
            <a:extLst>
              <a:ext uri="{FF2B5EF4-FFF2-40B4-BE49-F238E27FC236}">
                <a16:creationId xmlns:a16="http://schemas.microsoft.com/office/drawing/2014/main" id="{D6D892A4-F708-D86B-3C40-A0660EBA9B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03950" y="1243012"/>
            <a:ext cx="5721350" cy="48498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it-IT" sz="1800" b="0" i="0" smtClean="0"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it-IT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Inserire testo di media lunghezza</a:t>
            </a:r>
            <a:endParaRPr lang="it-IT" dirty="0"/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F7C45129-2C98-5662-BD95-9772FF5D040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4787" y="6333330"/>
            <a:ext cx="1991187" cy="412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45490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+ testo dx 2 scuro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magine 24">
            <a:extLst>
              <a:ext uri="{FF2B5EF4-FFF2-40B4-BE49-F238E27FC236}">
                <a16:creationId xmlns:a16="http://schemas.microsoft.com/office/drawing/2014/main" id="{23B77F8C-5C44-1493-6C7B-9A53A44519B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8737" t="-116382" r="-1" b="-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6FE2E78B-065F-61E0-33E7-C71759D3082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26070" y="441325"/>
            <a:ext cx="5661980" cy="1976905"/>
          </a:xfrm>
          <a:prstGeom prst="rect">
            <a:avLst/>
          </a:prstGeom>
        </p:spPr>
        <p:txBody>
          <a:bodyPr anchor="t"/>
          <a:lstStyle>
            <a:lvl1pPr algn="l">
              <a:lnSpc>
                <a:spcPct val="80000"/>
              </a:lnSpc>
              <a:defRPr sz="4800" b="1" i="0">
                <a:solidFill>
                  <a:schemeClr val="bg2"/>
                </a:solidFill>
                <a:latin typeface="Butler" panose="02000503090000020003" pitchFamily="2" charset="77"/>
              </a:defRPr>
            </a:lvl1pPr>
          </a:lstStyle>
          <a:p>
            <a:r>
              <a:rPr lang="it-IT" dirty="0"/>
              <a:t>Titolo intro</a:t>
            </a:r>
            <a:br>
              <a:rPr lang="it-IT" dirty="0"/>
            </a:br>
            <a:r>
              <a:rPr lang="it-IT" dirty="0"/>
              <a:t>o breve testo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4A3174C-00F6-3AEF-6F04-5859A2774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  <a:latin typeface="Karla" panose="020B0004030503030003" pitchFamily="34" charset="77"/>
              </a:defRPr>
            </a:lvl1pPr>
          </a:lstStyle>
          <a:p>
            <a:endParaRPr lang="it-IT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5B4FADA-6231-AB44-3E72-A009230D9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  <a:latin typeface="Karla" panose="020B0004030503030003" pitchFamily="34" charset="77"/>
              </a:defRPr>
            </a:lvl1pPr>
          </a:lstStyle>
          <a:p>
            <a:fld id="{13D6451D-1641-964E-B995-104A5CF7FFD9}" type="slidenum">
              <a:rPr lang="it-IT" smtClean="0"/>
              <a:pPr/>
              <a:t>‹N›</a:t>
            </a:fld>
            <a:endParaRPr lang="it-IT" dirty="0"/>
          </a:p>
        </p:txBody>
      </p:sp>
      <p:sp>
        <p:nvSpPr>
          <p:cNvPr id="10" name="Segnaposto testo 9">
            <a:extLst>
              <a:ext uri="{FF2B5EF4-FFF2-40B4-BE49-F238E27FC236}">
                <a16:creationId xmlns:a16="http://schemas.microsoft.com/office/drawing/2014/main" id="{D6D892A4-F708-D86B-3C40-A0660EBA9B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03950" y="684843"/>
            <a:ext cx="5721350" cy="48498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it-IT" sz="1800" b="0" i="0" smtClean="0"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it-IT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Inserire testo di media lunghezza</a:t>
            </a:r>
            <a:endParaRPr lang="it-IT" dirty="0"/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1B80AACE-99DE-808B-DD2E-8878625D48B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94787" y="6333330"/>
            <a:ext cx="1991187" cy="412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72808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+ testo dx 2 chiar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magine 24">
            <a:extLst>
              <a:ext uri="{FF2B5EF4-FFF2-40B4-BE49-F238E27FC236}">
                <a16:creationId xmlns:a16="http://schemas.microsoft.com/office/drawing/2014/main" id="{23B77F8C-5C44-1493-6C7B-9A53A44519B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8737" t="-116382" r="-1" b="-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6FE2E78B-065F-61E0-33E7-C71759D3082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26070" y="441325"/>
            <a:ext cx="5661980" cy="1976905"/>
          </a:xfrm>
          <a:prstGeom prst="rect">
            <a:avLst/>
          </a:prstGeom>
        </p:spPr>
        <p:txBody>
          <a:bodyPr anchor="t"/>
          <a:lstStyle>
            <a:lvl1pPr algn="l">
              <a:lnSpc>
                <a:spcPct val="80000"/>
              </a:lnSpc>
              <a:defRPr sz="4800" b="1" i="0">
                <a:solidFill>
                  <a:schemeClr val="tx2"/>
                </a:solidFill>
                <a:latin typeface="Butler" panose="02000503090000020003" pitchFamily="2" charset="77"/>
              </a:defRPr>
            </a:lvl1pPr>
          </a:lstStyle>
          <a:p>
            <a:r>
              <a:rPr lang="it-IT" dirty="0"/>
              <a:t>Titolo intro</a:t>
            </a:r>
            <a:br>
              <a:rPr lang="it-IT" dirty="0"/>
            </a:br>
            <a:r>
              <a:rPr lang="it-IT" dirty="0"/>
              <a:t>o breve testo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4A3174C-00F6-3AEF-6F04-5859A2774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solidFill>
                  <a:schemeClr val="tx1"/>
                </a:solidFill>
                <a:latin typeface="Karla" panose="020B0004030503030003" pitchFamily="34" charset="77"/>
              </a:defRPr>
            </a:lvl1pPr>
          </a:lstStyle>
          <a:p>
            <a:endParaRPr lang="it-IT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5B4FADA-6231-AB44-3E72-A009230D9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solidFill>
                  <a:schemeClr val="tx2"/>
                </a:solidFill>
                <a:latin typeface="Karla" panose="020B0004030503030003" pitchFamily="34" charset="77"/>
              </a:defRPr>
            </a:lvl1pPr>
          </a:lstStyle>
          <a:p>
            <a:fld id="{13D6451D-1641-964E-B995-104A5CF7FFD9}" type="slidenum">
              <a:rPr lang="it-IT" smtClean="0"/>
              <a:pPr/>
              <a:t>‹N›</a:t>
            </a:fld>
            <a:endParaRPr lang="it-IT" dirty="0"/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E21651A3-D9AC-5D79-8D36-7F948334E0E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96392" y="6330081"/>
            <a:ext cx="2008300" cy="415920"/>
          </a:xfrm>
          <a:prstGeom prst="rect">
            <a:avLst/>
          </a:prstGeom>
        </p:spPr>
      </p:pic>
      <p:sp>
        <p:nvSpPr>
          <p:cNvPr id="10" name="Segnaposto testo 9">
            <a:extLst>
              <a:ext uri="{FF2B5EF4-FFF2-40B4-BE49-F238E27FC236}">
                <a16:creationId xmlns:a16="http://schemas.microsoft.com/office/drawing/2014/main" id="{D6D892A4-F708-D86B-3C40-A0660EBA9B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03950" y="684843"/>
            <a:ext cx="5721350" cy="48498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it-IT" sz="1800" b="0" i="0" smtClean="0">
                <a:effectLst/>
              </a:defRPr>
            </a:lvl1pPr>
          </a:lstStyle>
          <a:p>
            <a:pPr lvl="0"/>
            <a:r>
              <a:rPr lang="it-IT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Inserire testo di media lunghezza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3030718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+ testo+ 3 foto bi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FE2E78B-065F-61E0-33E7-C71759D3082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46852" y="441326"/>
            <a:ext cx="5661980" cy="1563938"/>
          </a:xfrm>
          <a:prstGeom prst="rect">
            <a:avLst/>
          </a:prstGeom>
        </p:spPr>
        <p:txBody>
          <a:bodyPr anchor="t"/>
          <a:lstStyle>
            <a:lvl1pPr algn="l">
              <a:lnSpc>
                <a:spcPct val="80000"/>
              </a:lnSpc>
              <a:defRPr sz="3600" b="1" i="0">
                <a:solidFill>
                  <a:schemeClr val="accent1"/>
                </a:solidFill>
                <a:latin typeface="Butler" panose="02000503090000020003" pitchFamily="2" charset="77"/>
              </a:defRPr>
            </a:lvl1pPr>
          </a:lstStyle>
          <a:p>
            <a:r>
              <a:rPr lang="it-IT" dirty="0"/>
              <a:t>Titolo intro</a:t>
            </a:r>
            <a:br>
              <a:rPr lang="it-IT" dirty="0"/>
            </a:br>
            <a:r>
              <a:rPr lang="it-IT" dirty="0"/>
              <a:t>o breve testo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4A3174C-00F6-3AEF-6F04-5859A2774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solidFill>
                  <a:schemeClr val="tx1"/>
                </a:solidFill>
                <a:latin typeface="Karla" panose="020B0004030503030003" pitchFamily="34" charset="77"/>
              </a:defRPr>
            </a:lvl1pPr>
          </a:lstStyle>
          <a:p>
            <a:endParaRPr lang="it-IT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5B4FADA-6231-AB44-3E72-A009230D9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solidFill>
                  <a:schemeClr val="tx2"/>
                </a:solidFill>
                <a:latin typeface="Karla" panose="020B0004030503030003" pitchFamily="34" charset="77"/>
              </a:defRPr>
            </a:lvl1pPr>
          </a:lstStyle>
          <a:p>
            <a:fld id="{13D6451D-1641-964E-B995-104A5CF7FFD9}" type="slidenum">
              <a:rPr lang="it-IT" smtClean="0"/>
              <a:pPr/>
              <a:t>‹N›</a:t>
            </a:fld>
            <a:endParaRPr lang="it-IT" dirty="0"/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E21651A3-D9AC-5D79-8D36-7F948334E0E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6392" y="6330081"/>
            <a:ext cx="2008300" cy="415920"/>
          </a:xfrm>
          <a:prstGeom prst="rect">
            <a:avLst/>
          </a:prstGeom>
        </p:spPr>
      </p:pic>
      <p:sp>
        <p:nvSpPr>
          <p:cNvPr id="10" name="Segnaposto testo 9">
            <a:extLst>
              <a:ext uri="{FF2B5EF4-FFF2-40B4-BE49-F238E27FC236}">
                <a16:creationId xmlns:a16="http://schemas.microsoft.com/office/drawing/2014/main" id="{D6D892A4-F708-D86B-3C40-A0660EBA9B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03950" y="591325"/>
            <a:ext cx="5721350" cy="170209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it-IT" sz="1800" b="0" i="0" smtClean="0">
                <a:effectLst/>
              </a:defRPr>
            </a:lvl1pPr>
          </a:lstStyle>
          <a:p>
            <a:pPr lvl="0"/>
            <a:r>
              <a:rPr lang="it-IT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Inserire testo di media lunghezza</a:t>
            </a:r>
            <a:endParaRPr lang="it-IT" dirty="0"/>
          </a:p>
        </p:txBody>
      </p:sp>
      <p:sp>
        <p:nvSpPr>
          <p:cNvPr id="7" name="Segnaposto immagine 3">
            <a:extLst>
              <a:ext uri="{FF2B5EF4-FFF2-40B4-BE49-F238E27FC236}">
                <a16:creationId xmlns:a16="http://schemas.microsoft.com/office/drawing/2014/main" id="{FE7012EB-0D1E-CC8F-8339-20483A87633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95775" y="2493963"/>
            <a:ext cx="3600450" cy="3598862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12" name="Segnaposto immagine 3">
            <a:extLst>
              <a:ext uri="{FF2B5EF4-FFF2-40B4-BE49-F238E27FC236}">
                <a16:creationId xmlns:a16="http://schemas.microsoft.com/office/drawing/2014/main" id="{07AF0263-E4CF-6242-673F-FD98ADA57A2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184232" y="2493963"/>
            <a:ext cx="3600450" cy="3598862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13" name="Segnaposto immagine 3">
            <a:extLst>
              <a:ext uri="{FF2B5EF4-FFF2-40B4-BE49-F238E27FC236}">
                <a16:creationId xmlns:a16="http://schemas.microsoft.com/office/drawing/2014/main" id="{B3C6E3E8-EF22-7CB9-7D61-C79C257CFAD0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79376" y="2493963"/>
            <a:ext cx="3600450" cy="3598862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747601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+ testo+ 3 foto sfumato">
    <p:bg>
      <p:bgPr>
        <a:gradFill flip="none" rotWithShape="1">
          <a:gsLst>
            <a:gs pos="6000">
              <a:schemeClr val="bg2"/>
            </a:gs>
            <a:gs pos="100000">
              <a:schemeClr val="accent2">
                <a:lumMod val="60000"/>
                <a:lumOff val="40000"/>
              </a:schemeClr>
            </a:gs>
          </a:gsLst>
          <a:lin ang="108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FE2E78B-065F-61E0-33E7-C71759D3082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46852" y="441326"/>
            <a:ext cx="5661980" cy="1547896"/>
          </a:xfrm>
          <a:prstGeom prst="rect">
            <a:avLst/>
          </a:prstGeom>
        </p:spPr>
        <p:txBody>
          <a:bodyPr anchor="t"/>
          <a:lstStyle>
            <a:lvl1pPr algn="l">
              <a:lnSpc>
                <a:spcPct val="80000"/>
              </a:lnSpc>
              <a:defRPr sz="3600" b="1" i="0">
                <a:solidFill>
                  <a:schemeClr val="accent1"/>
                </a:solidFill>
                <a:latin typeface="Butler" panose="02000503090000020003" pitchFamily="2" charset="77"/>
              </a:defRPr>
            </a:lvl1pPr>
          </a:lstStyle>
          <a:p>
            <a:r>
              <a:rPr lang="it-IT" dirty="0"/>
              <a:t>Titolo intro</a:t>
            </a:r>
            <a:br>
              <a:rPr lang="it-IT" dirty="0"/>
            </a:br>
            <a:r>
              <a:rPr lang="it-IT" dirty="0"/>
              <a:t>o breve testo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4A3174C-00F6-3AEF-6F04-5859A2774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solidFill>
                  <a:schemeClr val="tx1"/>
                </a:solidFill>
                <a:latin typeface="Karla" panose="020B0004030503030003" pitchFamily="34" charset="77"/>
              </a:defRPr>
            </a:lvl1pPr>
          </a:lstStyle>
          <a:p>
            <a:endParaRPr lang="it-IT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5B4FADA-6231-AB44-3E72-A009230D9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solidFill>
                  <a:schemeClr val="tx2"/>
                </a:solidFill>
                <a:latin typeface="Karla" panose="020B0004030503030003" pitchFamily="34" charset="77"/>
              </a:defRPr>
            </a:lvl1pPr>
          </a:lstStyle>
          <a:p>
            <a:fld id="{13D6451D-1641-964E-B995-104A5CF7FFD9}" type="slidenum">
              <a:rPr lang="it-IT" smtClean="0"/>
              <a:pPr/>
              <a:t>‹N›</a:t>
            </a:fld>
            <a:endParaRPr lang="it-IT" dirty="0"/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E21651A3-D9AC-5D79-8D36-7F948334E0E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6392" y="6330081"/>
            <a:ext cx="2008300" cy="415920"/>
          </a:xfrm>
          <a:prstGeom prst="rect">
            <a:avLst/>
          </a:prstGeom>
        </p:spPr>
      </p:pic>
      <p:sp>
        <p:nvSpPr>
          <p:cNvPr id="7" name="Segnaposto immagine 3">
            <a:extLst>
              <a:ext uri="{FF2B5EF4-FFF2-40B4-BE49-F238E27FC236}">
                <a16:creationId xmlns:a16="http://schemas.microsoft.com/office/drawing/2014/main" id="{FE7012EB-0D1E-CC8F-8339-20483A87633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95775" y="2493963"/>
            <a:ext cx="3600450" cy="3598862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12" name="Segnaposto immagine 3">
            <a:extLst>
              <a:ext uri="{FF2B5EF4-FFF2-40B4-BE49-F238E27FC236}">
                <a16:creationId xmlns:a16="http://schemas.microsoft.com/office/drawing/2014/main" id="{07AF0263-E4CF-6242-673F-FD98ADA57A2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184232" y="2493963"/>
            <a:ext cx="3600450" cy="3598862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13" name="Segnaposto immagine 3">
            <a:extLst>
              <a:ext uri="{FF2B5EF4-FFF2-40B4-BE49-F238E27FC236}">
                <a16:creationId xmlns:a16="http://schemas.microsoft.com/office/drawing/2014/main" id="{B3C6E3E8-EF22-7CB9-7D61-C79C257CFAD0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79376" y="2493963"/>
            <a:ext cx="3600450" cy="3598862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14" name="Segnaposto testo 9">
            <a:extLst>
              <a:ext uri="{FF2B5EF4-FFF2-40B4-BE49-F238E27FC236}">
                <a16:creationId xmlns:a16="http://schemas.microsoft.com/office/drawing/2014/main" id="{47E0841D-F0F4-270C-6C06-229B2A6E77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03950" y="591325"/>
            <a:ext cx="5721350" cy="170209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it-IT" sz="1800" b="0" i="0" smtClean="0">
                <a:effectLst/>
              </a:defRPr>
            </a:lvl1pPr>
          </a:lstStyle>
          <a:p>
            <a:pPr lvl="0"/>
            <a:r>
              <a:rPr lang="it-IT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Inserire testo di media lunghezza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6397546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+ testo+ 3 foto marron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FE2E78B-065F-61E0-33E7-C71759D3082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46852" y="441326"/>
            <a:ext cx="5661980" cy="1596022"/>
          </a:xfrm>
          <a:prstGeom prst="rect">
            <a:avLst/>
          </a:prstGeom>
        </p:spPr>
        <p:txBody>
          <a:bodyPr anchor="t"/>
          <a:lstStyle>
            <a:lvl1pPr algn="l">
              <a:lnSpc>
                <a:spcPct val="80000"/>
              </a:lnSpc>
              <a:defRPr sz="3600" b="1" i="0">
                <a:solidFill>
                  <a:schemeClr val="bg2"/>
                </a:solidFill>
                <a:latin typeface="Butler" panose="02000503090000020003" pitchFamily="2" charset="77"/>
              </a:defRPr>
            </a:lvl1pPr>
          </a:lstStyle>
          <a:p>
            <a:r>
              <a:rPr lang="it-IT" dirty="0"/>
              <a:t>Titolo intro</a:t>
            </a:r>
            <a:br>
              <a:rPr lang="it-IT" dirty="0"/>
            </a:br>
            <a:r>
              <a:rPr lang="it-IT" dirty="0"/>
              <a:t>o breve testo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4A3174C-00F6-3AEF-6F04-5859A2774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  <a:latin typeface="Karla" panose="020B0004030503030003" pitchFamily="34" charset="77"/>
              </a:defRPr>
            </a:lvl1pPr>
          </a:lstStyle>
          <a:p>
            <a:endParaRPr lang="it-IT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5B4FADA-6231-AB44-3E72-A009230D9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  <a:latin typeface="Karla" panose="020B0004030503030003" pitchFamily="34" charset="77"/>
              </a:defRPr>
            </a:lvl1pPr>
          </a:lstStyle>
          <a:p>
            <a:fld id="{13D6451D-1641-964E-B995-104A5CF7FFD9}" type="slidenum">
              <a:rPr lang="it-IT" smtClean="0"/>
              <a:pPr/>
              <a:t>‹N›</a:t>
            </a:fld>
            <a:endParaRPr lang="it-IT" dirty="0"/>
          </a:p>
        </p:txBody>
      </p:sp>
      <p:sp>
        <p:nvSpPr>
          <p:cNvPr id="7" name="Segnaposto immagine 3">
            <a:extLst>
              <a:ext uri="{FF2B5EF4-FFF2-40B4-BE49-F238E27FC236}">
                <a16:creationId xmlns:a16="http://schemas.microsoft.com/office/drawing/2014/main" id="{FE7012EB-0D1E-CC8F-8339-20483A87633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95775" y="2493963"/>
            <a:ext cx="3600450" cy="3598862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12" name="Segnaposto immagine 3">
            <a:extLst>
              <a:ext uri="{FF2B5EF4-FFF2-40B4-BE49-F238E27FC236}">
                <a16:creationId xmlns:a16="http://schemas.microsoft.com/office/drawing/2014/main" id="{07AF0263-E4CF-6242-673F-FD98ADA57A2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184232" y="2493963"/>
            <a:ext cx="3600450" cy="3598862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13" name="Segnaposto immagine 3">
            <a:extLst>
              <a:ext uri="{FF2B5EF4-FFF2-40B4-BE49-F238E27FC236}">
                <a16:creationId xmlns:a16="http://schemas.microsoft.com/office/drawing/2014/main" id="{B3C6E3E8-EF22-7CB9-7D61-C79C257CFAD0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79376" y="2493963"/>
            <a:ext cx="3600450" cy="3598862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43A3E25A-240D-820E-F6D8-4EB8A62FDEC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4787" y="6333330"/>
            <a:ext cx="1991187" cy="412376"/>
          </a:xfrm>
          <a:prstGeom prst="rect">
            <a:avLst/>
          </a:prstGeom>
        </p:spPr>
      </p:pic>
      <p:sp>
        <p:nvSpPr>
          <p:cNvPr id="4" name="Segnaposto testo 9">
            <a:extLst>
              <a:ext uri="{FF2B5EF4-FFF2-40B4-BE49-F238E27FC236}">
                <a16:creationId xmlns:a16="http://schemas.microsoft.com/office/drawing/2014/main" id="{6D4DD1E8-89B0-59EE-330F-A4AE49A40AF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03950" y="591325"/>
            <a:ext cx="5721350" cy="170209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it-IT" sz="1800" b="0" i="0" smtClean="0">
                <a:solidFill>
                  <a:schemeClr val="bg1"/>
                </a:solidFill>
                <a:effectLst/>
                <a:latin typeface="Karla" panose="020B0004030503030003" pitchFamily="34" charset="77"/>
              </a:defRPr>
            </a:lvl1pPr>
          </a:lstStyle>
          <a:p>
            <a:pPr lvl="0"/>
            <a:r>
              <a:rPr lang="it-IT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Inserire testo di media lunghezza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9054118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+ testo+ 2 foto bi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FE2E78B-065F-61E0-33E7-C71759D3082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44384" y="2414506"/>
            <a:ext cx="3682184" cy="839334"/>
          </a:xfrm>
          <a:prstGeom prst="rect">
            <a:avLst/>
          </a:prstGeom>
        </p:spPr>
        <p:txBody>
          <a:bodyPr anchor="t"/>
          <a:lstStyle>
            <a:lvl1pPr algn="l">
              <a:lnSpc>
                <a:spcPct val="80000"/>
              </a:lnSpc>
              <a:defRPr sz="3600" b="1" i="0">
                <a:solidFill>
                  <a:schemeClr val="tx2"/>
                </a:solidFill>
                <a:latin typeface="Butler" panose="02000503090000020003" pitchFamily="2" charset="77"/>
              </a:defRPr>
            </a:lvl1pPr>
          </a:lstStyle>
          <a:p>
            <a:r>
              <a:rPr lang="it-IT" dirty="0"/>
              <a:t>Titolo intro</a:t>
            </a:r>
            <a:br>
              <a:rPr lang="it-IT" dirty="0"/>
            </a:br>
            <a:r>
              <a:rPr lang="it-IT" dirty="0"/>
              <a:t>o breve testo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4A3174C-00F6-3AEF-6F04-5859A2774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solidFill>
                  <a:schemeClr val="tx1"/>
                </a:solidFill>
                <a:latin typeface="Karla" panose="020B0004030503030003" pitchFamily="34" charset="77"/>
              </a:defRPr>
            </a:lvl1pPr>
          </a:lstStyle>
          <a:p>
            <a:endParaRPr lang="it-IT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5B4FADA-6231-AB44-3E72-A009230D9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solidFill>
                  <a:schemeClr val="tx2"/>
                </a:solidFill>
                <a:latin typeface="Karla" panose="020B0004030503030003" pitchFamily="34" charset="77"/>
              </a:defRPr>
            </a:lvl1pPr>
          </a:lstStyle>
          <a:p>
            <a:fld id="{13D6451D-1641-964E-B995-104A5CF7FFD9}" type="slidenum">
              <a:rPr lang="it-IT" smtClean="0"/>
              <a:pPr/>
              <a:t>‹N›</a:t>
            </a:fld>
            <a:endParaRPr lang="it-IT" dirty="0"/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E21651A3-D9AC-5D79-8D36-7F948334E0E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6392" y="6330081"/>
            <a:ext cx="2008300" cy="415920"/>
          </a:xfrm>
          <a:prstGeom prst="rect">
            <a:avLst/>
          </a:prstGeom>
        </p:spPr>
      </p:pic>
      <p:sp>
        <p:nvSpPr>
          <p:cNvPr id="10" name="Segnaposto testo 9">
            <a:extLst>
              <a:ext uri="{FF2B5EF4-FFF2-40B4-BE49-F238E27FC236}">
                <a16:creationId xmlns:a16="http://schemas.microsoft.com/office/drawing/2014/main" id="{D6D892A4-F708-D86B-3C40-A0660EBA9B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4384" y="3479470"/>
            <a:ext cx="3705102" cy="26133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it-IT" sz="1800" b="0" i="0" smtClean="0">
                <a:effectLst/>
              </a:defRPr>
            </a:lvl1pPr>
          </a:lstStyle>
          <a:p>
            <a:pPr lvl="0"/>
            <a:r>
              <a:rPr lang="it-IT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Inserire testo di media lunghezza</a:t>
            </a:r>
            <a:endParaRPr lang="it-IT" dirty="0"/>
          </a:p>
        </p:txBody>
      </p:sp>
      <p:sp>
        <p:nvSpPr>
          <p:cNvPr id="7" name="Segnaposto immagine 3">
            <a:extLst>
              <a:ext uri="{FF2B5EF4-FFF2-40B4-BE49-F238E27FC236}">
                <a16:creationId xmlns:a16="http://schemas.microsoft.com/office/drawing/2014/main" id="{FE7012EB-0D1E-CC8F-8339-20483A87633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95775" y="2493963"/>
            <a:ext cx="3600450" cy="3598862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12" name="Segnaposto immagine 3">
            <a:extLst>
              <a:ext uri="{FF2B5EF4-FFF2-40B4-BE49-F238E27FC236}">
                <a16:creationId xmlns:a16="http://schemas.microsoft.com/office/drawing/2014/main" id="{07AF0263-E4CF-6242-673F-FD98ADA57A2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184232" y="441325"/>
            <a:ext cx="3600450" cy="5651500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2825409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+ testo+ 2 foto sfumato">
    <p:bg>
      <p:bgPr>
        <a:gradFill>
          <a:gsLst>
            <a:gs pos="6000">
              <a:schemeClr val="bg2"/>
            </a:gs>
            <a:gs pos="100000">
              <a:schemeClr val="accent2">
                <a:lumMod val="60000"/>
                <a:lumOff val="40000"/>
              </a:schemeClr>
            </a:gs>
          </a:gsLst>
          <a:lin ang="108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FE2E78B-065F-61E0-33E7-C71759D3082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44384" y="2414506"/>
            <a:ext cx="3682184" cy="839334"/>
          </a:xfrm>
          <a:prstGeom prst="rect">
            <a:avLst/>
          </a:prstGeom>
        </p:spPr>
        <p:txBody>
          <a:bodyPr anchor="t"/>
          <a:lstStyle>
            <a:lvl1pPr algn="l">
              <a:lnSpc>
                <a:spcPct val="80000"/>
              </a:lnSpc>
              <a:defRPr sz="3600" b="1" i="0">
                <a:solidFill>
                  <a:schemeClr val="accent1"/>
                </a:solidFill>
                <a:latin typeface="Butler" panose="02000503090000020003" pitchFamily="2" charset="77"/>
              </a:defRPr>
            </a:lvl1pPr>
          </a:lstStyle>
          <a:p>
            <a:r>
              <a:rPr lang="it-IT" dirty="0"/>
              <a:t>Titolo intro</a:t>
            </a:r>
            <a:br>
              <a:rPr lang="it-IT" dirty="0"/>
            </a:br>
            <a:r>
              <a:rPr lang="it-IT" dirty="0"/>
              <a:t>o breve testo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4A3174C-00F6-3AEF-6F04-5859A2774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solidFill>
                  <a:schemeClr val="tx1"/>
                </a:solidFill>
                <a:latin typeface="Karla" panose="020B0004030503030003" pitchFamily="34" charset="77"/>
              </a:defRPr>
            </a:lvl1pPr>
          </a:lstStyle>
          <a:p>
            <a:endParaRPr lang="it-IT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5B4FADA-6231-AB44-3E72-A009230D9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solidFill>
                  <a:schemeClr val="tx2"/>
                </a:solidFill>
                <a:latin typeface="Karla" panose="020B0004030503030003" pitchFamily="34" charset="77"/>
              </a:defRPr>
            </a:lvl1pPr>
          </a:lstStyle>
          <a:p>
            <a:fld id="{13D6451D-1641-964E-B995-104A5CF7FFD9}" type="slidenum">
              <a:rPr lang="it-IT" smtClean="0"/>
              <a:pPr/>
              <a:t>‹N›</a:t>
            </a:fld>
            <a:endParaRPr lang="it-IT" dirty="0"/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E21651A3-D9AC-5D79-8D36-7F948334E0E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6392" y="6330081"/>
            <a:ext cx="2008300" cy="415920"/>
          </a:xfrm>
          <a:prstGeom prst="rect">
            <a:avLst/>
          </a:prstGeom>
        </p:spPr>
      </p:pic>
      <p:sp>
        <p:nvSpPr>
          <p:cNvPr id="10" name="Segnaposto testo 9">
            <a:extLst>
              <a:ext uri="{FF2B5EF4-FFF2-40B4-BE49-F238E27FC236}">
                <a16:creationId xmlns:a16="http://schemas.microsoft.com/office/drawing/2014/main" id="{D6D892A4-F708-D86B-3C40-A0660EBA9B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4384" y="3479470"/>
            <a:ext cx="3705102" cy="26133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it-IT" sz="1800" b="0" i="0" smtClean="0">
                <a:effectLst/>
              </a:defRPr>
            </a:lvl1pPr>
          </a:lstStyle>
          <a:p>
            <a:pPr lvl="0"/>
            <a:r>
              <a:rPr lang="it-IT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Inserire testo di media lunghezza</a:t>
            </a:r>
            <a:endParaRPr lang="it-IT" dirty="0"/>
          </a:p>
        </p:txBody>
      </p:sp>
      <p:sp>
        <p:nvSpPr>
          <p:cNvPr id="7" name="Segnaposto immagine 3">
            <a:extLst>
              <a:ext uri="{FF2B5EF4-FFF2-40B4-BE49-F238E27FC236}">
                <a16:creationId xmlns:a16="http://schemas.microsoft.com/office/drawing/2014/main" id="{FE7012EB-0D1E-CC8F-8339-20483A87633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95775" y="2493963"/>
            <a:ext cx="3600450" cy="3598862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12" name="Segnaposto immagine 3">
            <a:extLst>
              <a:ext uri="{FF2B5EF4-FFF2-40B4-BE49-F238E27FC236}">
                <a16:creationId xmlns:a16="http://schemas.microsoft.com/office/drawing/2014/main" id="{07AF0263-E4CF-6242-673F-FD98ADA57A2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184232" y="441325"/>
            <a:ext cx="3600450" cy="5651500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5563876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+ testo+ 2 foto marron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FE2E78B-065F-61E0-33E7-C71759D3082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44384" y="2414506"/>
            <a:ext cx="3682184" cy="839334"/>
          </a:xfrm>
          <a:prstGeom prst="rect">
            <a:avLst/>
          </a:prstGeom>
        </p:spPr>
        <p:txBody>
          <a:bodyPr anchor="t"/>
          <a:lstStyle>
            <a:lvl1pPr algn="l">
              <a:lnSpc>
                <a:spcPct val="80000"/>
              </a:lnSpc>
              <a:defRPr sz="3600" b="1" i="0">
                <a:solidFill>
                  <a:schemeClr val="bg2"/>
                </a:solidFill>
                <a:latin typeface="Butler" panose="02000503090000020003" pitchFamily="2" charset="77"/>
              </a:defRPr>
            </a:lvl1pPr>
          </a:lstStyle>
          <a:p>
            <a:r>
              <a:rPr lang="it-IT" dirty="0"/>
              <a:t>Titolo intro</a:t>
            </a:r>
            <a:br>
              <a:rPr lang="it-IT" dirty="0"/>
            </a:br>
            <a:r>
              <a:rPr lang="it-IT" dirty="0"/>
              <a:t>o breve testo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4A3174C-00F6-3AEF-6F04-5859A2774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  <a:latin typeface="Karla" panose="020B0004030503030003" pitchFamily="34" charset="77"/>
              </a:defRPr>
            </a:lvl1pPr>
          </a:lstStyle>
          <a:p>
            <a:endParaRPr lang="it-IT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5B4FADA-6231-AB44-3E72-A009230D9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  <a:latin typeface="Karla" panose="020B0004030503030003" pitchFamily="34" charset="77"/>
              </a:defRPr>
            </a:lvl1pPr>
          </a:lstStyle>
          <a:p>
            <a:fld id="{13D6451D-1641-964E-B995-104A5CF7FFD9}" type="slidenum">
              <a:rPr lang="it-IT" smtClean="0"/>
              <a:pPr/>
              <a:t>‹N›</a:t>
            </a:fld>
            <a:endParaRPr lang="it-IT" dirty="0"/>
          </a:p>
        </p:txBody>
      </p:sp>
      <p:sp>
        <p:nvSpPr>
          <p:cNvPr id="10" name="Segnaposto testo 9">
            <a:extLst>
              <a:ext uri="{FF2B5EF4-FFF2-40B4-BE49-F238E27FC236}">
                <a16:creationId xmlns:a16="http://schemas.microsoft.com/office/drawing/2014/main" id="{D6D892A4-F708-D86B-3C40-A0660EBA9B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4384" y="3479470"/>
            <a:ext cx="3705102" cy="26133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it-IT" sz="1800" b="0" i="0" smtClean="0"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it-IT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Inserire testo di media lunghezza</a:t>
            </a:r>
            <a:endParaRPr lang="it-IT" dirty="0"/>
          </a:p>
        </p:txBody>
      </p:sp>
      <p:sp>
        <p:nvSpPr>
          <p:cNvPr id="7" name="Segnaposto immagine 3">
            <a:extLst>
              <a:ext uri="{FF2B5EF4-FFF2-40B4-BE49-F238E27FC236}">
                <a16:creationId xmlns:a16="http://schemas.microsoft.com/office/drawing/2014/main" id="{FE7012EB-0D1E-CC8F-8339-20483A87633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95775" y="2493963"/>
            <a:ext cx="3600450" cy="3598862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12" name="Segnaposto immagine 3">
            <a:extLst>
              <a:ext uri="{FF2B5EF4-FFF2-40B4-BE49-F238E27FC236}">
                <a16:creationId xmlns:a16="http://schemas.microsoft.com/office/drawing/2014/main" id="{07AF0263-E4CF-6242-673F-FD98ADA57A2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184232" y="441325"/>
            <a:ext cx="3600450" cy="5651500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6EA5D731-D413-FF7A-77D1-775507B198D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4787" y="6333330"/>
            <a:ext cx="1991187" cy="412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619306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to+titolo+2 colonne testo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egnaposto immagine 3">
            <a:extLst>
              <a:ext uri="{FF2B5EF4-FFF2-40B4-BE49-F238E27FC236}">
                <a16:creationId xmlns:a16="http://schemas.microsoft.com/office/drawing/2014/main" id="{07AF0263-E4CF-6242-673F-FD98ADA57A2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12192000" cy="3254644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6FE2E78B-065F-61E0-33E7-C71759D3082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44384" y="3700865"/>
            <a:ext cx="3682184" cy="839334"/>
          </a:xfrm>
          <a:prstGeom prst="rect">
            <a:avLst/>
          </a:prstGeom>
        </p:spPr>
        <p:txBody>
          <a:bodyPr anchor="t"/>
          <a:lstStyle>
            <a:lvl1pPr algn="l">
              <a:lnSpc>
                <a:spcPct val="80000"/>
              </a:lnSpc>
              <a:defRPr sz="3600" b="1" i="0">
                <a:solidFill>
                  <a:schemeClr val="tx2"/>
                </a:solidFill>
                <a:latin typeface="Butler" panose="02000503090000020003" pitchFamily="2" charset="77"/>
              </a:defRPr>
            </a:lvl1pPr>
          </a:lstStyle>
          <a:p>
            <a:r>
              <a:rPr lang="it-IT" dirty="0"/>
              <a:t>Titolo intro</a:t>
            </a:r>
            <a:br>
              <a:rPr lang="it-IT" dirty="0"/>
            </a:br>
            <a:r>
              <a:rPr lang="it-IT" dirty="0"/>
              <a:t>o breve testo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4A3174C-00F6-3AEF-6F04-5859A2774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solidFill>
                  <a:schemeClr val="tx1"/>
                </a:solidFill>
                <a:latin typeface="Karla" panose="020B0004030503030003" pitchFamily="34" charset="77"/>
              </a:defRPr>
            </a:lvl1pPr>
          </a:lstStyle>
          <a:p>
            <a:endParaRPr lang="it-IT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5B4FADA-6231-AB44-3E72-A009230D9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solidFill>
                  <a:schemeClr val="tx2"/>
                </a:solidFill>
                <a:latin typeface="Karla" panose="020B0004030503030003" pitchFamily="34" charset="77"/>
              </a:defRPr>
            </a:lvl1pPr>
          </a:lstStyle>
          <a:p>
            <a:fld id="{13D6451D-1641-964E-B995-104A5CF7FFD9}" type="slidenum">
              <a:rPr lang="it-IT" smtClean="0"/>
              <a:pPr/>
              <a:t>‹N›</a:t>
            </a:fld>
            <a:endParaRPr lang="it-IT" dirty="0"/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E21651A3-D9AC-5D79-8D36-7F948334E0E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6392" y="6330081"/>
            <a:ext cx="2008300" cy="415920"/>
          </a:xfrm>
          <a:prstGeom prst="rect">
            <a:avLst/>
          </a:prstGeom>
        </p:spPr>
      </p:pic>
      <p:sp>
        <p:nvSpPr>
          <p:cNvPr id="8" name="Segnaposto testo 9">
            <a:extLst>
              <a:ext uri="{FF2B5EF4-FFF2-40B4-BE49-F238E27FC236}">
                <a16:creationId xmlns:a16="http://schemas.microsoft.com/office/drawing/2014/main" id="{752E955D-F7B0-2307-7B05-D941217184E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050232" y="3735092"/>
            <a:ext cx="3825245" cy="235773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it-IT" sz="1800" b="0" i="0" smtClean="0">
                <a:effectLst/>
              </a:defRPr>
            </a:lvl1pPr>
          </a:lstStyle>
          <a:p>
            <a:pPr lvl="0"/>
            <a:r>
              <a:rPr lang="it-IT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Inserire testo di media lunghezza</a:t>
            </a:r>
            <a:endParaRPr lang="it-IT" dirty="0"/>
          </a:p>
        </p:txBody>
      </p:sp>
      <p:sp>
        <p:nvSpPr>
          <p:cNvPr id="13" name="Segnaposto testo 9">
            <a:extLst>
              <a:ext uri="{FF2B5EF4-FFF2-40B4-BE49-F238E27FC236}">
                <a16:creationId xmlns:a16="http://schemas.microsoft.com/office/drawing/2014/main" id="{25C9B379-1D53-E7CF-A5D3-68138F77407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188623" y="3735092"/>
            <a:ext cx="3825245" cy="235773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it-IT" sz="1800" b="0" i="0" smtClean="0">
                <a:effectLst/>
              </a:defRPr>
            </a:lvl1pPr>
          </a:lstStyle>
          <a:p>
            <a:pPr lvl="0"/>
            <a:r>
              <a:rPr lang="it-IT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Inserire testo di media lunghezza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54757601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to+titolo+2 colonne testo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egnaposto immagine 3">
            <a:extLst>
              <a:ext uri="{FF2B5EF4-FFF2-40B4-BE49-F238E27FC236}">
                <a16:creationId xmlns:a16="http://schemas.microsoft.com/office/drawing/2014/main" id="{07AF0263-E4CF-6242-673F-FD98ADA57A2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11784013" cy="3879670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6FE2E78B-065F-61E0-33E7-C71759D3082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44383" y="3126099"/>
            <a:ext cx="3806929" cy="440061"/>
          </a:xfrm>
          <a:prstGeom prst="rect">
            <a:avLst/>
          </a:prstGeom>
        </p:spPr>
        <p:txBody>
          <a:bodyPr anchor="t"/>
          <a:lstStyle>
            <a:lvl1pPr algn="l">
              <a:lnSpc>
                <a:spcPct val="80000"/>
              </a:lnSpc>
              <a:defRPr sz="3600" b="1" i="0">
                <a:solidFill>
                  <a:schemeClr val="bg1"/>
                </a:solidFill>
                <a:latin typeface="Butler" panose="02000503090000020003" pitchFamily="2" charset="77"/>
              </a:defRPr>
            </a:lvl1pPr>
          </a:lstStyle>
          <a:p>
            <a:r>
              <a:rPr lang="it-IT" dirty="0"/>
              <a:t>Titoletto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4A3174C-00F6-3AEF-6F04-5859A2774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solidFill>
                  <a:schemeClr val="tx1"/>
                </a:solidFill>
                <a:latin typeface="Karla" panose="020B0004030503030003" pitchFamily="34" charset="77"/>
              </a:defRPr>
            </a:lvl1pPr>
          </a:lstStyle>
          <a:p>
            <a:endParaRPr lang="it-IT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5B4FADA-6231-AB44-3E72-A009230D9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solidFill>
                  <a:schemeClr val="tx2"/>
                </a:solidFill>
                <a:latin typeface="Karla" panose="020B0004030503030003" pitchFamily="34" charset="77"/>
              </a:defRPr>
            </a:lvl1pPr>
          </a:lstStyle>
          <a:p>
            <a:fld id="{13D6451D-1641-964E-B995-104A5CF7FFD9}" type="slidenum">
              <a:rPr lang="it-IT" smtClean="0"/>
              <a:pPr/>
              <a:t>‹N›</a:t>
            </a:fld>
            <a:endParaRPr lang="it-IT" dirty="0"/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E21651A3-D9AC-5D79-8D36-7F948334E0E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6392" y="6330081"/>
            <a:ext cx="2008300" cy="415920"/>
          </a:xfrm>
          <a:prstGeom prst="rect">
            <a:avLst/>
          </a:prstGeom>
        </p:spPr>
      </p:pic>
      <p:sp>
        <p:nvSpPr>
          <p:cNvPr id="8" name="Segnaposto testo 9">
            <a:extLst>
              <a:ext uri="{FF2B5EF4-FFF2-40B4-BE49-F238E27FC236}">
                <a16:creationId xmlns:a16="http://schemas.microsoft.com/office/drawing/2014/main" id="{752E955D-F7B0-2307-7B05-D941217184E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050232" y="4144078"/>
            <a:ext cx="3825245" cy="198039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it-IT" sz="1800" b="0" i="0" smtClean="0">
                <a:effectLst/>
              </a:defRPr>
            </a:lvl1pPr>
          </a:lstStyle>
          <a:p>
            <a:pPr lvl="0"/>
            <a:r>
              <a:rPr lang="it-IT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Inserire testo di media lunghezza</a:t>
            </a:r>
            <a:endParaRPr lang="it-IT" dirty="0"/>
          </a:p>
        </p:txBody>
      </p:sp>
      <p:sp>
        <p:nvSpPr>
          <p:cNvPr id="7" name="Segnaposto testo 9">
            <a:extLst>
              <a:ext uri="{FF2B5EF4-FFF2-40B4-BE49-F238E27FC236}">
                <a16:creationId xmlns:a16="http://schemas.microsoft.com/office/drawing/2014/main" id="{68311A45-A776-1850-8952-624EB500ECC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223792" y="4144078"/>
            <a:ext cx="3825245" cy="198039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it-IT" sz="1800" b="0" i="0" smtClean="0">
                <a:effectLst/>
              </a:defRPr>
            </a:lvl1pPr>
          </a:lstStyle>
          <a:p>
            <a:pPr lvl="0"/>
            <a:r>
              <a:rPr lang="it-IT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Inserire testo di media lunghezza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3604316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615" userDrawn="1">
          <p15:clr>
            <a:srgbClr val="FBAE40"/>
          </p15:clr>
        </p15:guide>
        <p15:guide id="2" orient="horz" pos="2568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to sx+titolo+testo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egnaposto immagine 3">
            <a:extLst>
              <a:ext uri="{FF2B5EF4-FFF2-40B4-BE49-F238E27FC236}">
                <a16:creationId xmlns:a16="http://schemas.microsoft.com/office/drawing/2014/main" id="{07AF0263-E4CF-6242-673F-FD98ADA57A2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-1" y="441325"/>
            <a:ext cx="7876903" cy="5651499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6FE2E78B-065F-61E0-33E7-C71759D3082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064533" y="415199"/>
            <a:ext cx="3682184" cy="839334"/>
          </a:xfrm>
          <a:prstGeom prst="rect">
            <a:avLst/>
          </a:prstGeom>
        </p:spPr>
        <p:txBody>
          <a:bodyPr anchor="t"/>
          <a:lstStyle>
            <a:lvl1pPr algn="l">
              <a:lnSpc>
                <a:spcPct val="80000"/>
              </a:lnSpc>
              <a:defRPr sz="3600" b="1" i="0">
                <a:solidFill>
                  <a:schemeClr val="tx2"/>
                </a:solidFill>
                <a:latin typeface="Butler" panose="02000503090000020003" pitchFamily="2" charset="77"/>
              </a:defRPr>
            </a:lvl1pPr>
          </a:lstStyle>
          <a:p>
            <a:r>
              <a:rPr lang="it-IT" dirty="0"/>
              <a:t>Titolo intro</a:t>
            </a:r>
            <a:br>
              <a:rPr lang="it-IT" dirty="0"/>
            </a:br>
            <a:r>
              <a:rPr lang="it-IT" dirty="0"/>
              <a:t>o breve testo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4A3174C-00F6-3AEF-6F04-5859A2774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solidFill>
                  <a:schemeClr val="tx1"/>
                </a:solidFill>
                <a:latin typeface="Karla" panose="020B0004030503030003" pitchFamily="34" charset="77"/>
              </a:defRPr>
            </a:lvl1pPr>
          </a:lstStyle>
          <a:p>
            <a:endParaRPr lang="it-IT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5B4FADA-6231-AB44-3E72-A009230D9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solidFill>
                  <a:schemeClr val="tx2"/>
                </a:solidFill>
                <a:latin typeface="Karla" panose="020B0004030503030003" pitchFamily="34" charset="77"/>
              </a:defRPr>
            </a:lvl1pPr>
          </a:lstStyle>
          <a:p>
            <a:fld id="{13D6451D-1641-964E-B995-104A5CF7FFD9}" type="slidenum">
              <a:rPr lang="it-IT" smtClean="0"/>
              <a:pPr/>
              <a:t>‹N›</a:t>
            </a:fld>
            <a:endParaRPr lang="it-IT" dirty="0"/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E21651A3-D9AC-5D79-8D36-7F948334E0E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6392" y="6330081"/>
            <a:ext cx="2008300" cy="415920"/>
          </a:xfrm>
          <a:prstGeom prst="rect">
            <a:avLst/>
          </a:prstGeom>
        </p:spPr>
      </p:pic>
      <p:sp>
        <p:nvSpPr>
          <p:cNvPr id="8" name="Segnaposto testo 9">
            <a:extLst>
              <a:ext uri="{FF2B5EF4-FFF2-40B4-BE49-F238E27FC236}">
                <a16:creationId xmlns:a16="http://schemas.microsoft.com/office/drawing/2014/main" id="{752E955D-F7B0-2307-7B05-D941217184E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050232" y="1736475"/>
            <a:ext cx="3825245" cy="235773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it-IT" sz="1800" b="0" i="0" smtClean="0">
                <a:effectLst/>
              </a:defRPr>
            </a:lvl1pPr>
          </a:lstStyle>
          <a:p>
            <a:pPr lvl="0"/>
            <a:r>
              <a:rPr lang="it-IT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Inserire testo di media lunghezza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10277465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to dx+titolo+sottotitolo+testo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egnaposto immagine 3">
            <a:extLst>
              <a:ext uri="{FF2B5EF4-FFF2-40B4-BE49-F238E27FC236}">
                <a16:creationId xmlns:a16="http://schemas.microsoft.com/office/drawing/2014/main" id="{07AF0263-E4CF-6242-673F-FD98ADA57A2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203950" y="441325"/>
            <a:ext cx="5988050" cy="5149578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6FE2E78B-065F-61E0-33E7-C71759D3082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6974" y="415199"/>
            <a:ext cx="5611076" cy="839334"/>
          </a:xfrm>
          <a:prstGeom prst="rect">
            <a:avLst/>
          </a:prstGeom>
        </p:spPr>
        <p:txBody>
          <a:bodyPr anchor="t"/>
          <a:lstStyle>
            <a:lvl1pPr algn="l">
              <a:lnSpc>
                <a:spcPct val="80000"/>
              </a:lnSpc>
              <a:defRPr sz="3600" b="1" i="0">
                <a:solidFill>
                  <a:schemeClr val="tx2"/>
                </a:solidFill>
                <a:latin typeface="Butler" panose="02000503090000020003" pitchFamily="2" charset="77"/>
              </a:defRPr>
            </a:lvl1pPr>
          </a:lstStyle>
          <a:p>
            <a:r>
              <a:rPr lang="it-IT" dirty="0"/>
              <a:t>Titolo paragrafo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4A3174C-00F6-3AEF-6F04-5859A2774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solidFill>
                  <a:schemeClr val="tx1"/>
                </a:solidFill>
                <a:latin typeface="Karla" panose="020B0004030503030003" pitchFamily="34" charset="77"/>
              </a:defRPr>
            </a:lvl1pPr>
          </a:lstStyle>
          <a:p>
            <a:endParaRPr lang="it-IT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5B4FADA-6231-AB44-3E72-A009230D9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solidFill>
                  <a:schemeClr val="tx2"/>
                </a:solidFill>
                <a:latin typeface="Karla" panose="020B0004030503030003" pitchFamily="34" charset="77"/>
              </a:defRPr>
            </a:lvl1pPr>
          </a:lstStyle>
          <a:p>
            <a:fld id="{13D6451D-1641-964E-B995-104A5CF7FFD9}" type="slidenum">
              <a:rPr lang="it-IT" smtClean="0"/>
              <a:pPr/>
              <a:t>‹N›</a:t>
            </a:fld>
            <a:endParaRPr lang="it-IT" dirty="0"/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E21651A3-D9AC-5D79-8D36-7F948334E0E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6392" y="6330081"/>
            <a:ext cx="2008300" cy="415920"/>
          </a:xfrm>
          <a:prstGeom prst="rect">
            <a:avLst/>
          </a:prstGeom>
        </p:spPr>
      </p:pic>
      <p:sp>
        <p:nvSpPr>
          <p:cNvPr id="8" name="Segnaposto testo 9">
            <a:extLst>
              <a:ext uri="{FF2B5EF4-FFF2-40B4-BE49-F238E27FC236}">
                <a16:creationId xmlns:a16="http://schemas.microsoft.com/office/drawing/2014/main" id="{752E955D-F7B0-2307-7B05-D941217184E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300327" y="3029698"/>
            <a:ext cx="3800027" cy="263958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it-IT" sz="1800" b="0" i="0" smtClean="0">
                <a:effectLst/>
              </a:defRPr>
            </a:lvl1pPr>
          </a:lstStyle>
          <a:p>
            <a:pPr lvl="0"/>
            <a:r>
              <a:rPr lang="it-IT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Inserire testo di media lunghezza</a:t>
            </a:r>
            <a:endParaRPr lang="it-IT" dirty="0"/>
          </a:p>
        </p:txBody>
      </p:sp>
      <p:sp>
        <p:nvSpPr>
          <p:cNvPr id="14" name="Segnaposto testo 13">
            <a:extLst>
              <a:ext uri="{FF2B5EF4-FFF2-40B4-BE49-F238E27FC236}">
                <a16:creationId xmlns:a16="http://schemas.microsoft.com/office/drawing/2014/main" id="{934A3A91-98FD-2052-25AF-5D5EDA92C57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39726" y="3016249"/>
            <a:ext cx="1937807" cy="9286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 i="0">
                <a:solidFill>
                  <a:schemeClr val="accent1"/>
                </a:solidFill>
                <a:latin typeface="Butler" panose="02000503090000020003" pitchFamily="2" charset="77"/>
              </a:defRPr>
            </a:lvl1pPr>
          </a:lstStyle>
          <a:p>
            <a:pPr lvl="0"/>
            <a:r>
              <a:rPr lang="it-IT" sz="2000" b="0" i="0" dirty="0">
                <a:latin typeface="Butler" panose="02000503090000020003" pitchFamily="2" charset="77"/>
              </a:rPr>
              <a:t>Primo sottocapitolo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22929032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Foto dx+titolo+tes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egnaposto immagine 3">
            <a:extLst>
              <a:ext uri="{FF2B5EF4-FFF2-40B4-BE49-F238E27FC236}">
                <a16:creationId xmlns:a16="http://schemas.microsoft.com/office/drawing/2014/main" id="{07AF0263-E4CF-6242-673F-FD98ADA57A2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148638" y="441325"/>
            <a:ext cx="4043362" cy="5651500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6FE2E78B-065F-61E0-33E7-C71759D3082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6974" y="415198"/>
            <a:ext cx="3790292" cy="1023857"/>
          </a:xfrm>
          <a:prstGeom prst="rect">
            <a:avLst/>
          </a:prstGeom>
        </p:spPr>
        <p:txBody>
          <a:bodyPr anchor="t"/>
          <a:lstStyle>
            <a:lvl1pPr algn="l">
              <a:lnSpc>
                <a:spcPct val="80000"/>
              </a:lnSpc>
              <a:defRPr sz="3600" b="1" i="0">
                <a:solidFill>
                  <a:schemeClr val="tx2"/>
                </a:solidFill>
                <a:latin typeface="Butler" panose="02000503090000020003" pitchFamily="2" charset="77"/>
              </a:defRPr>
            </a:lvl1pPr>
          </a:lstStyle>
          <a:p>
            <a:r>
              <a:rPr lang="it-IT" dirty="0"/>
              <a:t>Titolo paragrafo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4A3174C-00F6-3AEF-6F04-5859A2774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solidFill>
                  <a:schemeClr val="tx1"/>
                </a:solidFill>
                <a:latin typeface="Karla" panose="020B0004030503030003" pitchFamily="34" charset="77"/>
              </a:defRPr>
            </a:lvl1pPr>
          </a:lstStyle>
          <a:p>
            <a:endParaRPr lang="it-IT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5B4FADA-6231-AB44-3E72-A009230D9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solidFill>
                  <a:schemeClr val="tx2"/>
                </a:solidFill>
                <a:latin typeface="Karla" panose="020B0004030503030003" pitchFamily="34" charset="77"/>
              </a:defRPr>
            </a:lvl1pPr>
          </a:lstStyle>
          <a:p>
            <a:fld id="{13D6451D-1641-964E-B995-104A5CF7FFD9}" type="slidenum">
              <a:rPr lang="it-IT" smtClean="0"/>
              <a:pPr/>
              <a:t>‹N›</a:t>
            </a:fld>
            <a:endParaRPr lang="it-IT" dirty="0"/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E21651A3-D9AC-5D79-8D36-7F948334E0E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6392" y="6330081"/>
            <a:ext cx="2008300" cy="415920"/>
          </a:xfrm>
          <a:prstGeom prst="rect">
            <a:avLst/>
          </a:prstGeom>
        </p:spPr>
      </p:pic>
      <p:sp>
        <p:nvSpPr>
          <p:cNvPr id="8" name="Segnaposto testo 9">
            <a:extLst>
              <a:ext uri="{FF2B5EF4-FFF2-40B4-BE49-F238E27FC236}">
                <a16:creationId xmlns:a16="http://schemas.microsoft.com/office/drawing/2014/main" id="{752E955D-F7B0-2307-7B05-D941217184E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72126" y="1995378"/>
            <a:ext cx="3800027" cy="263958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it-IT" sz="1800" b="0" i="0" smtClean="0">
                <a:effectLst/>
              </a:defRPr>
            </a:lvl1pPr>
          </a:lstStyle>
          <a:p>
            <a:pPr lvl="0"/>
            <a:r>
              <a:rPr lang="it-IT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Inserire testo di media lunghezza</a:t>
            </a:r>
            <a:endParaRPr lang="it-IT" dirty="0"/>
          </a:p>
        </p:txBody>
      </p:sp>
      <p:sp>
        <p:nvSpPr>
          <p:cNvPr id="7" name="Segnaposto immagine 3">
            <a:extLst>
              <a:ext uri="{FF2B5EF4-FFF2-40B4-BE49-F238E27FC236}">
                <a16:creationId xmlns:a16="http://schemas.microsoft.com/office/drawing/2014/main" id="{9F8750C4-82B8-BF36-6FE8-6440F1C629FF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295800" y="441325"/>
            <a:ext cx="3619007" cy="5651500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4673779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to+titolo+sottotitolo+2 testi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egnaposto immagine 3">
            <a:extLst>
              <a:ext uri="{FF2B5EF4-FFF2-40B4-BE49-F238E27FC236}">
                <a16:creationId xmlns:a16="http://schemas.microsoft.com/office/drawing/2014/main" id="{07AF0263-E4CF-6242-673F-FD98ADA57A2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295775" y="0"/>
            <a:ext cx="7488238" cy="3447738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6FE2E78B-065F-61E0-33E7-C71759D3082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44383" y="441325"/>
            <a:ext cx="3806929" cy="1237573"/>
          </a:xfrm>
          <a:prstGeom prst="rect">
            <a:avLst/>
          </a:prstGeom>
        </p:spPr>
        <p:txBody>
          <a:bodyPr anchor="t"/>
          <a:lstStyle>
            <a:lvl1pPr algn="l">
              <a:lnSpc>
                <a:spcPct val="80000"/>
              </a:lnSpc>
              <a:defRPr sz="3600" b="1" i="0">
                <a:solidFill>
                  <a:schemeClr val="tx2"/>
                </a:solidFill>
                <a:latin typeface="Butler" panose="02000503090000020003" pitchFamily="2" charset="77"/>
              </a:defRPr>
            </a:lvl1pPr>
          </a:lstStyle>
          <a:p>
            <a:r>
              <a:rPr lang="it-IT" dirty="0"/>
              <a:t>Titoletto</a:t>
            </a:r>
            <a:br>
              <a:rPr lang="it-IT" dirty="0"/>
            </a:br>
            <a:r>
              <a:rPr lang="it-IT" dirty="0"/>
              <a:t>paragrafo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4A3174C-00F6-3AEF-6F04-5859A2774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solidFill>
                  <a:schemeClr val="tx1"/>
                </a:solidFill>
                <a:latin typeface="Karla" panose="020B0004030503030003" pitchFamily="34" charset="77"/>
              </a:defRPr>
            </a:lvl1pPr>
          </a:lstStyle>
          <a:p>
            <a:endParaRPr lang="it-IT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5B4FADA-6231-AB44-3E72-A009230D9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solidFill>
                  <a:schemeClr val="tx2"/>
                </a:solidFill>
                <a:latin typeface="Karla" panose="020B0004030503030003" pitchFamily="34" charset="77"/>
              </a:defRPr>
            </a:lvl1pPr>
          </a:lstStyle>
          <a:p>
            <a:fld id="{13D6451D-1641-964E-B995-104A5CF7FFD9}" type="slidenum">
              <a:rPr lang="it-IT" smtClean="0"/>
              <a:pPr/>
              <a:t>‹N›</a:t>
            </a:fld>
            <a:endParaRPr lang="it-IT" dirty="0"/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E21651A3-D9AC-5D79-8D36-7F948334E0E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6392" y="6330081"/>
            <a:ext cx="2008300" cy="415920"/>
          </a:xfrm>
          <a:prstGeom prst="rect">
            <a:avLst/>
          </a:prstGeom>
        </p:spPr>
      </p:pic>
      <p:sp>
        <p:nvSpPr>
          <p:cNvPr id="8" name="Segnaposto testo 9">
            <a:extLst>
              <a:ext uri="{FF2B5EF4-FFF2-40B4-BE49-F238E27FC236}">
                <a16:creationId xmlns:a16="http://schemas.microsoft.com/office/drawing/2014/main" id="{752E955D-F7B0-2307-7B05-D941217184E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122215" y="3784313"/>
            <a:ext cx="3825245" cy="242161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it-IT" sz="1800" b="0" i="0" smtClean="0">
                <a:effectLst/>
              </a:defRPr>
            </a:lvl1pPr>
          </a:lstStyle>
          <a:p>
            <a:pPr lvl="0"/>
            <a:r>
              <a:rPr lang="it-IT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Inserire testo di media lunghezza</a:t>
            </a:r>
            <a:endParaRPr lang="it-IT" dirty="0"/>
          </a:p>
        </p:txBody>
      </p:sp>
      <p:sp>
        <p:nvSpPr>
          <p:cNvPr id="7" name="Segnaposto testo 9">
            <a:extLst>
              <a:ext uri="{FF2B5EF4-FFF2-40B4-BE49-F238E27FC236}">
                <a16:creationId xmlns:a16="http://schemas.microsoft.com/office/drawing/2014/main" id="{68311A45-A776-1850-8952-624EB500ECC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295775" y="3784313"/>
            <a:ext cx="3825245" cy="242161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it-IT" sz="1800" b="0" i="0" smtClean="0">
                <a:effectLst/>
              </a:defRPr>
            </a:lvl1pPr>
          </a:lstStyle>
          <a:p>
            <a:pPr lvl="0"/>
            <a:r>
              <a:rPr lang="it-IT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Inserire testo di media lunghezza</a:t>
            </a:r>
            <a:endParaRPr lang="it-IT" dirty="0"/>
          </a:p>
        </p:txBody>
      </p:sp>
      <p:sp>
        <p:nvSpPr>
          <p:cNvPr id="9" name="Segnaposto testo 13">
            <a:extLst>
              <a:ext uri="{FF2B5EF4-FFF2-40B4-BE49-F238E27FC236}">
                <a16:creationId xmlns:a16="http://schemas.microsoft.com/office/drawing/2014/main" id="{103AA490-954F-27F1-9A26-178C602874A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39726" y="3612356"/>
            <a:ext cx="3437795" cy="9286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 i="0">
                <a:solidFill>
                  <a:schemeClr val="accent1"/>
                </a:solidFill>
                <a:latin typeface="Butler" panose="02000503090000020003" pitchFamily="2" charset="77"/>
              </a:defRPr>
            </a:lvl1pPr>
          </a:lstStyle>
          <a:p>
            <a:pPr lvl="0"/>
            <a:r>
              <a:rPr lang="it-IT" sz="2000" b="0" i="0" dirty="0">
                <a:latin typeface="Butler" panose="02000503090000020003" pitchFamily="2" charset="77"/>
              </a:rPr>
              <a:t>Sottocapitolo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9038703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615" userDrawn="1">
          <p15:clr>
            <a:srgbClr val="FBAE40"/>
          </p15:clr>
        </p15:guide>
        <p15:guide id="2" orient="horz" pos="2568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to+2 sottotitoli+2 testi bi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egnaposto immagine 3">
            <a:extLst>
              <a:ext uri="{FF2B5EF4-FFF2-40B4-BE49-F238E27FC236}">
                <a16:creationId xmlns:a16="http://schemas.microsoft.com/office/drawing/2014/main" id="{07AF0263-E4CF-6242-673F-FD98ADA57A2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" y="441324"/>
            <a:ext cx="5988050" cy="5651501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4A3174C-00F6-3AEF-6F04-5859A2774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solidFill>
                  <a:schemeClr val="tx1"/>
                </a:solidFill>
                <a:latin typeface="Karla" panose="020B0004030503030003" pitchFamily="34" charset="77"/>
              </a:defRPr>
            </a:lvl1pPr>
          </a:lstStyle>
          <a:p>
            <a:endParaRPr lang="it-IT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5B4FADA-6231-AB44-3E72-A009230D9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solidFill>
                  <a:schemeClr val="tx2"/>
                </a:solidFill>
                <a:latin typeface="Karla" panose="020B0004030503030003" pitchFamily="34" charset="77"/>
              </a:defRPr>
            </a:lvl1pPr>
          </a:lstStyle>
          <a:p>
            <a:fld id="{13D6451D-1641-964E-B995-104A5CF7FFD9}" type="slidenum">
              <a:rPr lang="it-IT" smtClean="0"/>
              <a:pPr/>
              <a:t>‹N›</a:t>
            </a:fld>
            <a:endParaRPr lang="it-IT" dirty="0"/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E21651A3-D9AC-5D79-8D36-7F948334E0E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6392" y="6330081"/>
            <a:ext cx="2008300" cy="415920"/>
          </a:xfrm>
          <a:prstGeom prst="rect">
            <a:avLst/>
          </a:prstGeom>
        </p:spPr>
      </p:pic>
      <p:sp>
        <p:nvSpPr>
          <p:cNvPr id="8" name="Segnaposto testo 9">
            <a:extLst>
              <a:ext uri="{FF2B5EF4-FFF2-40B4-BE49-F238E27FC236}">
                <a16:creationId xmlns:a16="http://schemas.microsoft.com/office/drawing/2014/main" id="{752E955D-F7B0-2307-7B05-D941217184E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040935" y="3671210"/>
            <a:ext cx="3825245" cy="242161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it-IT" sz="1800" b="0" i="0" smtClean="0">
                <a:effectLst/>
              </a:defRPr>
            </a:lvl1pPr>
          </a:lstStyle>
          <a:p>
            <a:pPr lvl="0"/>
            <a:r>
              <a:rPr lang="it-IT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Inserire testo di media lunghezza</a:t>
            </a:r>
            <a:endParaRPr lang="it-IT" dirty="0"/>
          </a:p>
        </p:txBody>
      </p:sp>
      <p:sp>
        <p:nvSpPr>
          <p:cNvPr id="7" name="Segnaposto testo 9">
            <a:extLst>
              <a:ext uri="{FF2B5EF4-FFF2-40B4-BE49-F238E27FC236}">
                <a16:creationId xmlns:a16="http://schemas.microsoft.com/office/drawing/2014/main" id="{68311A45-A776-1850-8952-624EB500ECC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043228" y="655033"/>
            <a:ext cx="3825245" cy="242161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it-IT" sz="1800" b="0" i="0" smtClean="0">
                <a:effectLst/>
              </a:defRPr>
            </a:lvl1pPr>
          </a:lstStyle>
          <a:p>
            <a:pPr lvl="0"/>
            <a:r>
              <a:rPr lang="it-IT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Inserire testo di media lunghezza</a:t>
            </a:r>
            <a:endParaRPr lang="it-IT" dirty="0"/>
          </a:p>
        </p:txBody>
      </p:sp>
      <p:sp>
        <p:nvSpPr>
          <p:cNvPr id="9" name="Segnaposto testo 13">
            <a:extLst>
              <a:ext uri="{FF2B5EF4-FFF2-40B4-BE49-F238E27FC236}">
                <a16:creationId xmlns:a16="http://schemas.microsoft.com/office/drawing/2014/main" id="{103AA490-954F-27F1-9A26-178C602874A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6160" y="3654356"/>
            <a:ext cx="1930401" cy="9286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 i="0">
                <a:solidFill>
                  <a:schemeClr val="accent1"/>
                </a:solidFill>
                <a:latin typeface="Butler" panose="02000503090000020003" pitchFamily="2" charset="77"/>
              </a:defRPr>
            </a:lvl1pPr>
          </a:lstStyle>
          <a:p>
            <a:pPr lvl="0"/>
            <a:r>
              <a:rPr lang="it-IT" sz="2000" b="0" i="0" dirty="0">
                <a:latin typeface="Butler" panose="02000503090000020003" pitchFamily="2" charset="77"/>
              </a:rPr>
              <a:t>Sottocapitolo</a:t>
            </a:r>
            <a:endParaRPr lang="it-IT" dirty="0"/>
          </a:p>
        </p:txBody>
      </p:sp>
      <p:sp>
        <p:nvSpPr>
          <p:cNvPr id="3" name="Segnaposto testo 13">
            <a:extLst>
              <a:ext uri="{FF2B5EF4-FFF2-40B4-BE49-F238E27FC236}">
                <a16:creationId xmlns:a16="http://schemas.microsoft.com/office/drawing/2014/main" id="{1E7BDB5A-366C-A7A1-AC2A-E9DB700CD64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106160" y="628809"/>
            <a:ext cx="1930401" cy="9286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 i="0">
                <a:solidFill>
                  <a:schemeClr val="accent1"/>
                </a:solidFill>
                <a:latin typeface="Butler" panose="02000503090000020003" pitchFamily="2" charset="77"/>
              </a:defRPr>
            </a:lvl1pPr>
          </a:lstStyle>
          <a:p>
            <a:pPr lvl="0"/>
            <a:r>
              <a:rPr lang="it-IT" sz="2000" b="0" i="0" dirty="0">
                <a:latin typeface="Butler" panose="02000503090000020003" pitchFamily="2" charset="77"/>
              </a:rPr>
              <a:t>Sottocapitolo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9359379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615" userDrawn="1">
          <p15:clr>
            <a:srgbClr val="FBAE40"/>
          </p15:clr>
        </p15:guide>
        <p15:guide id="2" orient="horz" pos="550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to+2 sottotitoli+2 testi marron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egnaposto immagine 3">
            <a:extLst>
              <a:ext uri="{FF2B5EF4-FFF2-40B4-BE49-F238E27FC236}">
                <a16:creationId xmlns:a16="http://schemas.microsoft.com/office/drawing/2014/main" id="{07AF0263-E4CF-6242-673F-FD98ADA57A2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" y="441324"/>
            <a:ext cx="5988050" cy="5651501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4A3174C-00F6-3AEF-6F04-5859A2774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  <a:latin typeface="Karla" panose="020B0004030503030003" pitchFamily="34" charset="77"/>
              </a:defRPr>
            </a:lvl1pPr>
          </a:lstStyle>
          <a:p>
            <a:endParaRPr lang="it-IT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5B4FADA-6231-AB44-3E72-A009230D9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  <a:latin typeface="Karla" panose="020B0004030503030003" pitchFamily="34" charset="77"/>
              </a:defRPr>
            </a:lvl1pPr>
          </a:lstStyle>
          <a:p>
            <a:fld id="{13D6451D-1641-964E-B995-104A5CF7FFD9}" type="slidenum">
              <a:rPr lang="it-IT" smtClean="0"/>
              <a:pPr/>
              <a:t>‹N›</a:t>
            </a:fld>
            <a:endParaRPr lang="it-IT" dirty="0"/>
          </a:p>
        </p:txBody>
      </p:sp>
      <p:sp>
        <p:nvSpPr>
          <p:cNvPr id="8" name="Segnaposto testo 9">
            <a:extLst>
              <a:ext uri="{FF2B5EF4-FFF2-40B4-BE49-F238E27FC236}">
                <a16:creationId xmlns:a16="http://schemas.microsoft.com/office/drawing/2014/main" id="{752E955D-F7B0-2307-7B05-D941217184E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040935" y="3671210"/>
            <a:ext cx="3825245" cy="242161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it-IT" sz="1800" b="0" i="0" smtClean="0"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it-IT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Inserire testo di media lunghezza</a:t>
            </a:r>
            <a:endParaRPr lang="it-IT" dirty="0"/>
          </a:p>
        </p:txBody>
      </p:sp>
      <p:sp>
        <p:nvSpPr>
          <p:cNvPr id="7" name="Segnaposto testo 9">
            <a:extLst>
              <a:ext uri="{FF2B5EF4-FFF2-40B4-BE49-F238E27FC236}">
                <a16:creationId xmlns:a16="http://schemas.microsoft.com/office/drawing/2014/main" id="{68311A45-A776-1850-8952-624EB500ECC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043228" y="655033"/>
            <a:ext cx="3825245" cy="242161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it-IT" sz="1800" b="0" i="0" smtClean="0"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it-IT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Inserire testo di media lunghezza</a:t>
            </a:r>
            <a:endParaRPr lang="it-IT" dirty="0"/>
          </a:p>
        </p:txBody>
      </p:sp>
      <p:sp>
        <p:nvSpPr>
          <p:cNvPr id="9" name="Segnaposto testo 13">
            <a:extLst>
              <a:ext uri="{FF2B5EF4-FFF2-40B4-BE49-F238E27FC236}">
                <a16:creationId xmlns:a16="http://schemas.microsoft.com/office/drawing/2014/main" id="{103AA490-954F-27F1-9A26-178C602874A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6160" y="3654356"/>
            <a:ext cx="1930401" cy="9286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 i="0">
                <a:solidFill>
                  <a:schemeClr val="bg2"/>
                </a:solidFill>
                <a:latin typeface="Butler" panose="02000503090000020003" pitchFamily="2" charset="77"/>
              </a:defRPr>
            </a:lvl1pPr>
          </a:lstStyle>
          <a:p>
            <a:pPr lvl="0"/>
            <a:r>
              <a:rPr lang="it-IT" sz="2000" b="0" i="0" dirty="0">
                <a:latin typeface="Butler" panose="02000503090000020003" pitchFamily="2" charset="77"/>
              </a:rPr>
              <a:t>Sottocapitolo</a:t>
            </a:r>
            <a:endParaRPr lang="it-IT" dirty="0"/>
          </a:p>
        </p:txBody>
      </p:sp>
      <p:sp>
        <p:nvSpPr>
          <p:cNvPr id="3" name="Segnaposto testo 13">
            <a:extLst>
              <a:ext uri="{FF2B5EF4-FFF2-40B4-BE49-F238E27FC236}">
                <a16:creationId xmlns:a16="http://schemas.microsoft.com/office/drawing/2014/main" id="{1E7BDB5A-366C-A7A1-AC2A-E9DB700CD64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106160" y="628809"/>
            <a:ext cx="1930401" cy="9286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 i="0">
                <a:solidFill>
                  <a:schemeClr val="bg2"/>
                </a:solidFill>
                <a:latin typeface="Butler" panose="02000503090000020003" pitchFamily="2" charset="77"/>
              </a:defRPr>
            </a:lvl1pPr>
          </a:lstStyle>
          <a:p>
            <a:pPr lvl="0"/>
            <a:r>
              <a:rPr lang="it-IT" sz="2000" b="0" i="0" dirty="0">
                <a:latin typeface="Butler" panose="02000503090000020003" pitchFamily="2" charset="77"/>
              </a:rPr>
              <a:t>Sottocapitolo</a:t>
            </a:r>
            <a:endParaRPr lang="it-IT" dirty="0"/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B03894CF-898C-39DD-5B8A-2A12419269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4787" y="6333330"/>
            <a:ext cx="1991187" cy="412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26537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615" userDrawn="1">
          <p15:clr>
            <a:srgbClr val="FBAE40"/>
          </p15:clr>
        </p15:guide>
        <p15:guide id="2" orient="horz" pos="550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to dx+sottotitolo+testo bi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egnaposto immagine 3">
            <a:extLst>
              <a:ext uri="{FF2B5EF4-FFF2-40B4-BE49-F238E27FC236}">
                <a16:creationId xmlns:a16="http://schemas.microsoft.com/office/drawing/2014/main" id="{07AF0263-E4CF-6242-673F-FD98ADA57A2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203950" y="0"/>
            <a:ext cx="5580063" cy="60928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4A3174C-00F6-3AEF-6F04-5859A2774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solidFill>
                  <a:schemeClr val="tx1"/>
                </a:solidFill>
                <a:latin typeface="Karla" panose="020B0004030503030003" pitchFamily="34" charset="77"/>
              </a:defRPr>
            </a:lvl1pPr>
          </a:lstStyle>
          <a:p>
            <a:endParaRPr lang="it-IT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5B4FADA-6231-AB44-3E72-A009230D9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solidFill>
                  <a:schemeClr val="tx2"/>
                </a:solidFill>
                <a:latin typeface="Karla" panose="020B0004030503030003" pitchFamily="34" charset="77"/>
              </a:defRPr>
            </a:lvl1pPr>
          </a:lstStyle>
          <a:p>
            <a:fld id="{13D6451D-1641-964E-B995-104A5CF7FFD9}" type="slidenum">
              <a:rPr lang="it-IT" smtClean="0"/>
              <a:pPr/>
              <a:t>‹N›</a:t>
            </a:fld>
            <a:endParaRPr lang="it-IT" dirty="0"/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E21651A3-D9AC-5D79-8D36-7F948334E0E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6392" y="6330081"/>
            <a:ext cx="2008300" cy="415920"/>
          </a:xfrm>
          <a:prstGeom prst="rect">
            <a:avLst/>
          </a:prstGeom>
        </p:spPr>
      </p:pic>
      <p:sp>
        <p:nvSpPr>
          <p:cNvPr id="7" name="Segnaposto testo 9">
            <a:extLst>
              <a:ext uri="{FF2B5EF4-FFF2-40B4-BE49-F238E27FC236}">
                <a16:creationId xmlns:a16="http://schemas.microsoft.com/office/drawing/2014/main" id="{68311A45-A776-1850-8952-624EB500ECC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81720" y="655033"/>
            <a:ext cx="3825245" cy="242161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it-IT" sz="1800" b="0" i="0" smtClean="0">
                <a:effectLst/>
              </a:defRPr>
            </a:lvl1pPr>
          </a:lstStyle>
          <a:p>
            <a:pPr lvl="0"/>
            <a:r>
              <a:rPr lang="it-IT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Inserire testo di media lunghezza</a:t>
            </a:r>
            <a:endParaRPr lang="it-IT" dirty="0"/>
          </a:p>
        </p:txBody>
      </p:sp>
      <p:sp>
        <p:nvSpPr>
          <p:cNvPr id="3" name="Segnaposto testo 13">
            <a:extLst>
              <a:ext uri="{FF2B5EF4-FFF2-40B4-BE49-F238E27FC236}">
                <a16:creationId xmlns:a16="http://schemas.microsoft.com/office/drawing/2014/main" id="{1E7BDB5A-366C-A7A1-AC2A-E9DB700CD64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44652" y="628809"/>
            <a:ext cx="1930401" cy="9286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 i="0">
                <a:solidFill>
                  <a:schemeClr val="accent1"/>
                </a:solidFill>
                <a:latin typeface="Butler" panose="02000503090000020003" pitchFamily="2" charset="77"/>
              </a:defRPr>
            </a:lvl1pPr>
          </a:lstStyle>
          <a:p>
            <a:pPr lvl="0"/>
            <a:r>
              <a:rPr lang="it-IT" sz="2000" b="0" i="0" dirty="0">
                <a:latin typeface="Butler" panose="02000503090000020003" pitchFamily="2" charset="77"/>
              </a:rPr>
              <a:t>Sottocapitolo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1665477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615" userDrawn="1">
          <p15:clr>
            <a:srgbClr val="FBAE40"/>
          </p15:clr>
        </p15:guide>
        <p15:guide id="2" orient="horz" pos="550" userDrawn="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to dx+sottotitolo+testo marron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egnaposto immagine 3">
            <a:extLst>
              <a:ext uri="{FF2B5EF4-FFF2-40B4-BE49-F238E27FC236}">
                <a16:creationId xmlns:a16="http://schemas.microsoft.com/office/drawing/2014/main" id="{07AF0263-E4CF-6242-673F-FD98ADA57A2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203950" y="0"/>
            <a:ext cx="5580063" cy="60928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4A3174C-00F6-3AEF-6F04-5859A2774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  <a:latin typeface="Karla" panose="020B0004030503030003" pitchFamily="34" charset="77"/>
              </a:defRPr>
            </a:lvl1pPr>
          </a:lstStyle>
          <a:p>
            <a:endParaRPr lang="it-IT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5B4FADA-6231-AB44-3E72-A009230D9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  <a:latin typeface="Karla" panose="020B0004030503030003" pitchFamily="34" charset="77"/>
              </a:defRPr>
            </a:lvl1pPr>
          </a:lstStyle>
          <a:p>
            <a:fld id="{13D6451D-1641-964E-B995-104A5CF7FFD9}" type="slidenum">
              <a:rPr lang="it-IT" smtClean="0"/>
              <a:pPr/>
              <a:t>‹N›</a:t>
            </a:fld>
            <a:endParaRPr lang="it-IT" dirty="0"/>
          </a:p>
        </p:txBody>
      </p:sp>
      <p:sp>
        <p:nvSpPr>
          <p:cNvPr id="7" name="Segnaposto testo 9">
            <a:extLst>
              <a:ext uri="{FF2B5EF4-FFF2-40B4-BE49-F238E27FC236}">
                <a16:creationId xmlns:a16="http://schemas.microsoft.com/office/drawing/2014/main" id="{68311A45-A776-1850-8952-624EB500ECC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81720" y="655033"/>
            <a:ext cx="3825245" cy="242161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it-IT" sz="1800" b="0" i="0" smtClean="0"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it-IT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Inserire testo di media lunghezza</a:t>
            </a:r>
            <a:endParaRPr lang="it-IT" dirty="0"/>
          </a:p>
        </p:txBody>
      </p:sp>
      <p:sp>
        <p:nvSpPr>
          <p:cNvPr id="3" name="Segnaposto testo 13">
            <a:extLst>
              <a:ext uri="{FF2B5EF4-FFF2-40B4-BE49-F238E27FC236}">
                <a16:creationId xmlns:a16="http://schemas.microsoft.com/office/drawing/2014/main" id="{1E7BDB5A-366C-A7A1-AC2A-E9DB700CD64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44652" y="628809"/>
            <a:ext cx="1930401" cy="9286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 i="0">
                <a:solidFill>
                  <a:schemeClr val="bg2"/>
                </a:solidFill>
                <a:latin typeface="Butler" panose="02000503090000020003" pitchFamily="2" charset="77"/>
              </a:defRPr>
            </a:lvl1pPr>
          </a:lstStyle>
          <a:p>
            <a:pPr lvl="0"/>
            <a:r>
              <a:rPr lang="it-IT" sz="2000" b="0" i="0" dirty="0">
                <a:latin typeface="Butler" panose="02000503090000020003" pitchFamily="2" charset="77"/>
              </a:rPr>
              <a:t>Sottocapitolo</a:t>
            </a:r>
            <a:endParaRPr lang="it-IT" dirty="0"/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6A7D7179-2181-CA45-A38A-FE5A1748428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4787" y="6333330"/>
            <a:ext cx="1991187" cy="412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58608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615" userDrawn="1">
          <p15:clr>
            <a:srgbClr val="FBAE40"/>
          </p15:clr>
        </p15:guide>
        <p15:guide id="2" orient="horz" pos="550" userDrawn="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to centro+titolo+di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egnaposto immagine 3">
            <a:extLst>
              <a:ext uri="{FF2B5EF4-FFF2-40B4-BE49-F238E27FC236}">
                <a16:creationId xmlns:a16="http://schemas.microsoft.com/office/drawing/2014/main" id="{07AF0263-E4CF-6242-673F-FD98ADA57A2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1773383"/>
            <a:ext cx="11784013" cy="4319442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6FE2E78B-065F-61E0-33E7-C71759D3082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44384" y="441325"/>
            <a:ext cx="3682184" cy="839334"/>
          </a:xfrm>
          <a:prstGeom prst="rect">
            <a:avLst/>
          </a:prstGeom>
        </p:spPr>
        <p:txBody>
          <a:bodyPr anchor="t"/>
          <a:lstStyle>
            <a:lvl1pPr algn="l">
              <a:lnSpc>
                <a:spcPct val="80000"/>
              </a:lnSpc>
              <a:defRPr sz="3600" b="1" i="0">
                <a:solidFill>
                  <a:schemeClr val="tx2"/>
                </a:solidFill>
                <a:latin typeface="Butler" panose="02000503090000020003" pitchFamily="2" charset="77"/>
              </a:defRPr>
            </a:lvl1pPr>
          </a:lstStyle>
          <a:p>
            <a:r>
              <a:rPr lang="it-IT" dirty="0"/>
              <a:t>Titolo intro</a:t>
            </a:r>
            <a:br>
              <a:rPr lang="it-IT" dirty="0"/>
            </a:br>
            <a:r>
              <a:rPr lang="it-IT" dirty="0"/>
              <a:t>o breve testo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4A3174C-00F6-3AEF-6F04-5859A2774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solidFill>
                  <a:schemeClr val="tx1"/>
                </a:solidFill>
                <a:latin typeface="Karla" panose="020B0004030503030003" pitchFamily="34" charset="77"/>
              </a:defRPr>
            </a:lvl1pPr>
          </a:lstStyle>
          <a:p>
            <a:endParaRPr lang="it-IT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5B4FADA-6231-AB44-3E72-A009230D9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solidFill>
                  <a:schemeClr val="tx2"/>
                </a:solidFill>
                <a:latin typeface="Karla" panose="020B0004030503030003" pitchFamily="34" charset="77"/>
              </a:defRPr>
            </a:lvl1pPr>
          </a:lstStyle>
          <a:p>
            <a:fld id="{13D6451D-1641-964E-B995-104A5CF7FFD9}" type="slidenum">
              <a:rPr lang="it-IT" smtClean="0"/>
              <a:pPr/>
              <a:t>‹N›</a:t>
            </a:fld>
            <a:endParaRPr lang="it-IT" dirty="0"/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E21651A3-D9AC-5D79-8D36-7F948334E0E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6392" y="6330081"/>
            <a:ext cx="2008300" cy="415920"/>
          </a:xfrm>
          <a:prstGeom prst="rect">
            <a:avLst/>
          </a:prstGeom>
        </p:spPr>
      </p:pic>
      <p:sp>
        <p:nvSpPr>
          <p:cNvPr id="8" name="Segnaposto testo 9">
            <a:extLst>
              <a:ext uri="{FF2B5EF4-FFF2-40B4-BE49-F238E27FC236}">
                <a16:creationId xmlns:a16="http://schemas.microsoft.com/office/drawing/2014/main" id="{752E955D-F7B0-2307-7B05-D941217184E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050232" y="590106"/>
            <a:ext cx="3825245" cy="90618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it-IT" sz="1600" b="0" i="0" smtClean="0">
                <a:effectLst/>
              </a:defRPr>
            </a:lvl1pPr>
          </a:lstStyle>
          <a:p>
            <a:pPr lvl="0"/>
            <a:r>
              <a:rPr lang="it-IT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Inserire testo di media lunghezza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9907721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 userDrawn="1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to dx+titolo+2 colonne tes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egnaposto immagine 3">
            <a:extLst>
              <a:ext uri="{FF2B5EF4-FFF2-40B4-BE49-F238E27FC236}">
                <a16:creationId xmlns:a16="http://schemas.microsoft.com/office/drawing/2014/main" id="{07AF0263-E4CF-6242-673F-FD98ADA57A2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148638" y="441325"/>
            <a:ext cx="4043362" cy="5651500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6FE2E78B-065F-61E0-33E7-C71759D3082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6974" y="415198"/>
            <a:ext cx="3790292" cy="1023857"/>
          </a:xfrm>
          <a:prstGeom prst="rect">
            <a:avLst/>
          </a:prstGeom>
        </p:spPr>
        <p:txBody>
          <a:bodyPr anchor="t"/>
          <a:lstStyle>
            <a:lvl1pPr algn="l">
              <a:lnSpc>
                <a:spcPct val="80000"/>
              </a:lnSpc>
              <a:defRPr sz="3600" b="1" i="0">
                <a:solidFill>
                  <a:schemeClr val="tx2"/>
                </a:solidFill>
                <a:latin typeface="Butler" panose="02000503090000020003" pitchFamily="2" charset="77"/>
              </a:defRPr>
            </a:lvl1pPr>
          </a:lstStyle>
          <a:p>
            <a:r>
              <a:rPr lang="it-IT" dirty="0"/>
              <a:t>Titolo breve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4A3174C-00F6-3AEF-6F04-5859A2774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solidFill>
                  <a:schemeClr val="tx1"/>
                </a:solidFill>
                <a:latin typeface="Karla" panose="020B0004030503030003" pitchFamily="34" charset="77"/>
              </a:defRPr>
            </a:lvl1pPr>
          </a:lstStyle>
          <a:p>
            <a:endParaRPr lang="it-IT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5B4FADA-6231-AB44-3E72-A009230D9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solidFill>
                  <a:schemeClr val="tx2"/>
                </a:solidFill>
                <a:latin typeface="Karla" panose="020B0004030503030003" pitchFamily="34" charset="77"/>
              </a:defRPr>
            </a:lvl1pPr>
          </a:lstStyle>
          <a:p>
            <a:fld id="{13D6451D-1641-964E-B995-104A5CF7FFD9}" type="slidenum">
              <a:rPr lang="it-IT" smtClean="0"/>
              <a:pPr/>
              <a:t>‹N›</a:t>
            </a:fld>
            <a:endParaRPr lang="it-IT" dirty="0"/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E21651A3-D9AC-5D79-8D36-7F948334E0E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6392" y="6330081"/>
            <a:ext cx="2008300" cy="415920"/>
          </a:xfrm>
          <a:prstGeom prst="rect">
            <a:avLst/>
          </a:prstGeom>
        </p:spPr>
      </p:pic>
      <p:sp>
        <p:nvSpPr>
          <p:cNvPr id="8" name="Segnaposto testo 9">
            <a:extLst>
              <a:ext uri="{FF2B5EF4-FFF2-40B4-BE49-F238E27FC236}">
                <a16:creationId xmlns:a16="http://schemas.microsoft.com/office/drawing/2014/main" id="{752E955D-F7B0-2307-7B05-D941217184E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72126" y="3143571"/>
            <a:ext cx="3800027" cy="29492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it-IT" sz="1800" b="0" i="0" smtClean="0">
                <a:effectLst/>
              </a:defRPr>
            </a:lvl1pPr>
          </a:lstStyle>
          <a:p>
            <a:pPr lvl="0"/>
            <a:r>
              <a:rPr lang="it-IT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Inserire testo di media lunghezza</a:t>
            </a:r>
            <a:endParaRPr lang="it-IT" dirty="0"/>
          </a:p>
        </p:txBody>
      </p:sp>
      <p:sp>
        <p:nvSpPr>
          <p:cNvPr id="9" name="Segnaposto testo 9">
            <a:extLst>
              <a:ext uri="{FF2B5EF4-FFF2-40B4-BE49-F238E27FC236}">
                <a16:creationId xmlns:a16="http://schemas.microsoft.com/office/drawing/2014/main" id="{7EF58259-6ABA-1BD8-5772-A309CBCF0C8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214914" y="3143571"/>
            <a:ext cx="3800027" cy="29492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it-IT" sz="1800" b="0" i="0" smtClean="0">
                <a:effectLst/>
              </a:defRPr>
            </a:lvl1pPr>
          </a:lstStyle>
          <a:p>
            <a:pPr lvl="0"/>
            <a:r>
              <a:rPr lang="it-IT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Inserire testo di media lunghezza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515637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foto+2 sottotitoli+2 testi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egnaposto immagine 3">
            <a:extLst>
              <a:ext uri="{FF2B5EF4-FFF2-40B4-BE49-F238E27FC236}">
                <a16:creationId xmlns:a16="http://schemas.microsoft.com/office/drawing/2014/main" id="{07AF0263-E4CF-6242-673F-FD98ADA57A2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203950" y="3416968"/>
            <a:ext cx="5580063" cy="2675857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4A3174C-00F6-3AEF-6F04-5859A2774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solidFill>
                  <a:schemeClr val="tx1"/>
                </a:solidFill>
                <a:latin typeface="Karla" panose="020B0004030503030003" pitchFamily="34" charset="77"/>
              </a:defRPr>
            </a:lvl1pPr>
          </a:lstStyle>
          <a:p>
            <a:endParaRPr lang="it-IT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5B4FADA-6231-AB44-3E72-A009230D9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solidFill>
                  <a:schemeClr val="tx2"/>
                </a:solidFill>
                <a:latin typeface="Karla" panose="020B0004030503030003" pitchFamily="34" charset="77"/>
              </a:defRPr>
            </a:lvl1pPr>
          </a:lstStyle>
          <a:p>
            <a:fld id="{13D6451D-1641-964E-B995-104A5CF7FFD9}" type="slidenum">
              <a:rPr lang="it-IT" smtClean="0"/>
              <a:pPr/>
              <a:t>‹N›</a:t>
            </a:fld>
            <a:endParaRPr lang="it-IT" dirty="0"/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E21651A3-D9AC-5D79-8D36-7F948334E0E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6392" y="6330081"/>
            <a:ext cx="2008300" cy="415920"/>
          </a:xfrm>
          <a:prstGeom prst="rect">
            <a:avLst/>
          </a:prstGeom>
        </p:spPr>
      </p:pic>
      <p:sp>
        <p:nvSpPr>
          <p:cNvPr id="7" name="Segnaposto testo 9">
            <a:extLst>
              <a:ext uri="{FF2B5EF4-FFF2-40B4-BE49-F238E27FC236}">
                <a16:creationId xmlns:a16="http://schemas.microsoft.com/office/drawing/2014/main" id="{68311A45-A776-1850-8952-624EB500ECC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81720" y="655033"/>
            <a:ext cx="3825245" cy="242161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it-IT" sz="1800" b="0" i="0" smtClean="0">
                <a:effectLst/>
              </a:defRPr>
            </a:lvl1pPr>
          </a:lstStyle>
          <a:p>
            <a:pPr lvl="0"/>
            <a:r>
              <a:rPr lang="it-IT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Inserire testo di media lunghezza</a:t>
            </a:r>
            <a:endParaRPr lang="it-IT" dirty="0"/>
          </a:p>
        </p:txBody>
      </p:sp>
      <p:sp>
        <p:nvSpPr>
          <p:cNvPr id="3" name="Segnaposto testo 13">
            <a:extLst>
              <a:ext uri="{FF2B5EF4-FFF2-40B4-BE49-F238E27FC236}">
                <a16:creationId xmlns:a16="http://schemas.microsoft.com/office/drawing/2014/main" id="{1E7BDB5A-366C-A7A1-AC2A-E9DB700CD64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44652" y="628809"/>
            <a:ext cx="1930401" cy="9286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 i="0">
                <a:solidFill>
                  <a:schemeClr val="accent1"/>
                </a:solidFill>
                <a:latin typeface="Butler" panose="02000503090000020003" pitchFamily="2" charset="77"/>
              </a:defRPr>
            </a:lvl1pPr>
          </a:lstStyle>
          <a:p>
            <a:pPr lvl="0"/>
            <a:r>
              <a:rPr lang="it-IT" sz="2000" b="0" i="0" dirty="0">
                <a:latin typeface="Butler" panose="02000503090000020003" pitchFamily="2" charset="77"/>
              </a:rPr>
              <a:t>Sottocapitolo</a:t>
            </a:r>
            <a:endParaRPr lang="it-IT" dirty="0"/>
          </a:p>
        </p:txBody>
      </p:sp>
      <p:sp>
        <p:nvSpPr>
          <p:cNvPr id="8" name="Segnaposto testo 9">
            <a:extLst>
              <a:ext uri="{FF2B5EF4-FFF2-40B4-BE49-F238E27FC236}">
                <a16:creationId xmlns:a16="http://schemas.microsoft.com/office/drawing/2014/main" id="{82A92E89-DC6E-CD15-24BE-A6834CC15D0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045100" y="655033"/>
            <a:ext cx="3825245" cy="242161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it-IT" sz="1800" b="0" i="0" smtClean="0">
                <a:effectLst/>
              </a:defRPr>
            </a:lvl1pPr>
          </a:lstStyle>
          <a:p>
            <a:pPr lvl="0"/>
            <a:r>
              <a:rPr lang="it-IT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Inserire testo di media lunghezza</a:t>
            </a:r>
            <a:endParaRPr lang="it-IT" dirty="0"/>
          </a:p>
        </p:txBody>
      </p:sp>
      <p:sp>
        <p:nvSpPr>
          <p:cNvPr id="9" name="Segnaposto testo 13">
            <a:extLst>
              <a:ext uri="{FF2B5EF4-FFF2-40B4-BE49-F238E27FC236}">
                <a16:creationId xmlns:a16="http://schemas.microsoft.com/office/drawing/2014/main" id="{5A71FCA9-D491-A400-63D0-8F7FF5471EE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108032" y="628809"/>
            <a:ext cx="1930401" cy="9286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 i="0">
                <a:solidFill>
                  <a:schemeClr val="accent1"/>
                </a:solidFill>
                <a:latin typeface="Butler" panose="02000503090000020003" pitchFamily="2" charset="77"/>
              </a:defRPr>
            </a:lvl1pPr>
          </a:lstStyle>
          <a:p>
            <a:pPr lvl="0"/>
            <a:r>
              <a:rPr lang="it-IT" sz="2000" b="0" i="0" dirty="0">
                <a:latin typeface="Butler" panose="02000503090000020003" pitchFamily="2" charset="77"/>
              </a:rPr>
              <a:t>Sottocapitolo</a:t>
            </a:r>
            <a:endParaRPr lang="it-IT" dirty="0"/>
          </a:p>
        </p:txBody>
      </p:sp>
      <p:sp>
        <p:nvSpPr>
          <p:cNvPr id="10" name="Segnaposto immagine 3">
            <a:extLst>
              <a:ext uri="{FF2B5EF4-FFF2-40B4-BE49-F238E27FC236}">
                <a16:creationId xmlns:a16="http://schemas.microsoft.com/office/drawing/2014/main" id="{534FBA1A-F8C2-9BF1-CA0D-E839BB5E78B0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07368" y="3416968"/>
            <a:ext cx="5580063" cy="2675857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791028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615" userDrawn="1">
          <p15:clr>
            <a:srgbClr val="FBAE40"/>
          </p15:clr>
        </p15:guide>
        <p15:guide id="2" orient="horz" pos="550" userDrawn="1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to+titolo+di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egnaposto immagine 3">
            <a:extLst>
              <a:ext uri="{FF2B5EF4-FFF2-40B4-BE49-F238E27FC236}">
                <a16:creationId xmlns:a16="http://schemas.microsoft.com/office/drawing/2014/main" id="{07AF0263-E4CF-6242-673F-FD98ADA57A2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441325"/>
            <a:ext cx="9818557" cy="5651499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6FE2E78B-065F-61E0-33E7-C71759D3082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44383" y="5239712"/>
            <a:ext cx="3806929" cy="440061"/>
          </a:xfrm>
          <a:prstGeom prst="rect">
            <a:avLst/>
          </a:prstGeom>
        </p:spPr>
        <p:txBody>
          <a:bodyPr anchor="t"/>
          <a:lstStyle>
            <a:lvl1pPr algn="l">
              <a:lnSpc>
                <a:spcPct val="80000"/>
              </a:lnSpc>
              <a:defRPr sz="3600" b="1" i="0">
                <a:solidFill>
                  <a:schemeClr val="bg1"/>
                </a:solidFill>
                <a:latin typeface="Butler" panose="02000503090000020003" pitchFamily="2" charset="77"/>
              </a:defRPr>
            </a:lvl1pPr>
          </a:lstStyle>
          <a:p>
            <a:r>
              <a:rPr lang="it-IT" dirty="0"/>
              <a:t>Titoletto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4A3174C-00F6-3AEF-6F04-5859A2774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solidFill>
                  <a:schemeClr val="tx1"/>
                </a:solidFill>
                <a:latin typeface="Karla" panose="020B0004030503030003" pitchFamily="34" charset="77"/>
              </a:defRPr>
            </a:lvl1pPr>
          </a:lstStyle>
          <a:p>
            <a:endParaRPr lang="it-IT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5B4FADA-6231-AB44-3E72-A009230D9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solidFill>
                  <a:schemeClr val="tx2"/>
                </a:solidFill>
                <a:latin typeface="Karla" panose="020B0004030503030003" pitchFamily="34" charset="77"/>
              </a:defRPr>
            </a:lvl1pPr>
          </a:lstStyle>
          <a:p>
            <a:fld id="{13D6451D-1641-964E-B995-104A5CF7FFD9}" type="slidenum">
              <a:rPr lang="it-IT" smtClean="0"/>
              <a:pPr/>
              <a:t>‹N›</a:t>
            </a:fld>
            <a:endParaRPr lang="it-IT" dirty="0"/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E21651A3-D9AC-5D79-8D36-7F948334E0E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6392" y="6330081"/>
            <a:ext cx="2008300" cy="415920"/>
          </a:xfrm>
          <a:prstGeom prst="rect">
            <a:avLst/>
          </a:prstGeom>
        </p:spPr>
      </p:pic>
      <p:sp>
        <p:nvSpPr>
          <p:cNvPr id="8" name="Segnaposto testo 9">
            <a:extLst>
              <a:ext uri="{FF2B5EF4-FFF2-40B4-BE49-F238E27FC236}">
                <a16:creationId xmlns:a16="http://schemas.microsoft.com/office/drawing/2014/main" id="{752E955D-F7B0-2307-7B05-D941217184E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938479" y="4144078"/>
            <a:ext cx="1936998" cy="198039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it-IT" sz="1600" b="0" i="0" smtClean="0">
                <a:effectLst/>
              </a:defRPr>
            </a:lvl1pPr>
          </a:lstStyle>
          <a:p>
            <a:pPr lvl="0"/>
            <a:r>
              <a:rPr lang="it-IT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Inserire testo di media lunghezza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682301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615" userDrawn="1">
          <p15:clr>
            <a:srgbClr val="FBAE40"/>
          </p15:clr>
        </p15:guide>
        <p15:guide id="2" orient="horz" pos="2568" userDrawn="1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Foto+di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egnaposto immagine 3">
            <a:extLst>
              <a:ext uri="{FF2B5EF4-FFF2-40B4-BE49-F238E27FC236}">
                <a16:creationId xmlns:a16="http://schemas.microsoft.com/office/drawing/2014/main" id="{07AF0263-E4CF-6242-673F-FD98ADA57A2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42913" y="1"/>
            <a:ext cx="3574451" cy="6092824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4A3174C-00F6-3AEF-6F04-5859A2774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solidFill>
                  <a:schemeClr val="tx1"/>
                </a:solidFill>
                <a:latin typeface="Karla" panose="020B0004030503030003" pitchFamily="34" charset="77"/>
              </a:defRPr>
            </a:lvl1pPr>
          </a:lstStyle>
          <a:p>
            <a:endParaRPr lang="it-IT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5B4FADA-6231-AB44-3E72-A009230D9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solidFill>
                  <a:schemeClr val="tx2"/>
                </a:solidFill>
                <a:latin typeface="Karla" panose="020B0004030503030003" pitchFamily="34" charset="77"/>
              </a:defRPr>
            </a:lvl1pPr>
          </a:lstStyle>
          <a:p>
            <a:fld id="{13D6451D-1641-964E-B995-104A5CF7FFD9}" type="slidenum">
              <a:rPr lang="it-IT" smtClean="0"/>
              <a:pPr/>
              <a:t>‹N›</a:t>
            </a:fld>
            <a:endParaRPr lang="it-IT" dirty="0"/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E21651A3-D9AC-5D79-8D36-7F948334E0E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6392" y="6330081"/>
            <a:ext cx="2008300" cy="415920"/>
          </a:xfrm>
          <a:prstGeom prst="rect">
            <a:avLst/>
          </a:prstGeom>
        </p:spPr>
      </p:pic>
      <p:sp>
        <p:nvSpPr>
          <p:cNvPr id="8" name="Segnaposto testo 9">
            <a:extLst>
              <a:ext uri="{FF2B5EF4-FFF2-40B4-BE49-F238E27FC236}">
                <a16:creationId xmlns:a16="http://schemas.microsoft.com/office/drawing/2014/main" id="{752E955D-F7B0-2307-7B05-D941217184E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953469" y="381365"/>
            <a:ext cx="1936998" cy="198039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it-IT" sz="1600" b="0" i="0" smtClean="0">
                <a:effectLst/>
              </a:defRPr>
            </a:lvl1pPr>
          </a:lstStyle>
          <a:p>
            <a:pPr lvl="0"/>
            <a:r>
              <a:rPr lang="it-IT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Inserire testo di media lunghezza</a:t>
            </a:r>
            <a:endParaRPr lang="it-IT" dirty="0"/>
          </a:p>
        </p:txBody>
      </p:sp>
      <p:sp>
        <p:nvSpPr>
          <p:cNvPr id="7" name="Segnaposto immagine 3">
            <a:extLst>
              <a:ext uri="{FF2B5EF4-FFF2-40B4-BE49-F238E27FC236}">
                <a16:creationId xmlns:a16="http://schemas.microsoft.com/office/drawing/2014/main" id="{D7CF185A-D6B9-0D86-1631-B486E9CBF7C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307848" y="1"/>
            <a:ext cx="5495719" cy="6092824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79981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615" userDrawn="1">
          <p15:clr>
            <a:srgbClr val="FBAE40"/>
          </p15:clr>
        </p15:guide>
        <p15:guide id="2" orient="horz" pos="2568" userDrawn="1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Foto+ titol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egnaposto immagine 3">
            <a:extLst>
              <a:ext uri="{FF2B5EF4-FFF2-40B4-BE49-F238E27FC236}">
                <a16:creationId xmlns:a16="http://schemas.microsoft.com/office/drawing/2014/main" id="{07AF0263-E4CF-6242-673F-FD98ADA57A2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12192000" cy="6857999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DB4611E7-CB0A-10B8-C8FA-6EC7CF62838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44383" y="6091737"/>
            <a:ext cx="3806929" cy="440061"/>
          </a:xfrm>
          <a:prstGeom prst="rect">
            <a:avLst/>
          </a:prstGeom>
        </p:spPr>
        <p:txBody>
          <a:bodyPr anchor="t"/>
          <a:lstStyle>
            <a:lvl1pPr algn="l">
              <a:lnSpc>
                <a:spcPct val="80000"/>
              </a:lnSpc>
              <a:defRPr sz="3600" b="1" i="0">
                <a:solidFill>
                  <a:schemeClr val="bg1"/>
                </a:solidFill>
                <a:latin typeface="Butler" panose="02000503090000020003" pitchFamily="2" charset="77"/>
              </a:defRPr>
            </a:lvl1pPr>
          </a:lstStyle>
          <a:p>
            <a:r>
              <a:rPr lang="it-IT" dirty="0"/>
              <a:t>Titoletto</a:t>
            </a:r>
          </a:p>
        </p:txBody>
      </p:sp>
    </p:spTree>
    <p:extLst>
      <p:ext uri="{BB962C8B-B14F-4D97-AF65-F5344CB8AC3E}">
        <p14:creationId xmlns:p14="http://schemas.microsoft.com/office/powerpoint/2010/main" val="23881949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615" userDrawn="1">
          <p15:clr>
            <a:srgbClr val="FBAE40"/>
          </p15:clr>
        </p15:guide>
        <p15:guide id="2" orient="horz" pos="2568" userDrawn="1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Foto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egnaposto immagine 3">
            <a:extLst>
              <a:ext uri="{FF2B5EF4-FFF2-40B4-BE49-F238E27FC236}">
                <a16:creationId xmlns:a16="http://schemas.microsoft.com/office/drawing/2014/main" id="{07AF0263-E4CF-6242-673F-FD98ADA57A2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5988049" cy="6857999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7" name="Segnaposto immagine 3">
            <a:extLst>
              <a:ext uri="{FF2B5EF4-FFF2-40B4-BE49-F238E27FC236}">
                <a16:creationId xmlns:a16="http://schemas.microsoft.com/office/drawing/2014/main" id="{D7CF185A-D6B9-0D86-1631-B486E9CBF7C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203950" y="0"/>
            <a:ext cx="5988050" cy="6857999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486497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615" userDrawn="1">
          <p15:clr>
            <a:srgbClr val="FBAE40"/>
          </p15:clr>
        </p15:guide>
        <p15:guide id="2" orient="horz" pos="2568" userDrawn="1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Foto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egnaposto immagine 3">
            <a:extLst>
              <a:ext uri="{FF2B5EF4-FFF2-40B4-BE49-F238E27FC236}">
                <a16:creationId xmlns:a16="http://schemas.microsoft.com/office/drawing/2014/main" id="{D7CF185A-D6B9-0D86-1631-B486E9CBF7C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151312" y="1"/>
            <a:ext cx="8040687" cy="6857999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11" name="Segnaposto immagine 3">
            <a:extLst>
              <a:ext uri="{FF2B5EF4-FFF2-40B4-BE49-F238E27FC236}">
                <a16:creationId xmlns:a16="http://schemas.microsoft.com/office/drawing/2014/main" id="{D0DE120E-6DD6-3B79-5BB4-33585689C144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-24680" y="1"/>
            <a:ext cx="3889374" cy="6857999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269325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615" userDrawn="1">
          <p15:clr>
            <a:srgbClr val="FBAE40"/>
          </p15:clr>
        </p15:guide>
        <p15:guide id="2" orient="horz" pos="2568" userDrawn="1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Fo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egnaposto immagine 3">
            <a:extLst>
              <a:ext uri="{FF2B5EF4-FFF2-40B4-BE49-F238E27FC236}">
                <a16:creationId xmlns:a16="http://schemas.microsoft.com/office/drawing/2014/main" id="{D7CF185A-D6B9-0D86-1631-B486E9CBF7C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151313" y="1"/>
            <a:ext cx="3889374" cy="6857999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10" name="Segnaposto immagine 3">
            <a:extLst>
              <a:ext uri="{FF2B5EF4-FFF2-40B4-BE49-F238E27FC236}">
                <a16:creationId xmlns:a16="http://schemas.microsoft.com/office/drawing/2014/main" id="{BE327297-F9F5-E997-892B-001FF80520E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302626" y="1"/>
            <a:ext cx="3889374" cy="6857999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11" name="Segnaposto immagine 3">
            <a:extLst>
              <a:ext uri="{FF2B5EF4-FFF2-40B4-BE49-F238E27FC236}">
                <a16:creationId xmlns:a16="http://schemas.microsoft.com/office/drawing/2014/main" id="{D0DE120E-6DD6-3B79-5BB4-33585689C144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-24680" y="1"/>
            <a:ext cx="3889374" cy="6857999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884762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615" userDrawn="1">
          <p15:clr>
            <a:srgbClr val="FBAE40"/>
          </p15:clr>
        </p15:guide>
        <p15:guide id="2" orient="horz" pos="2568" userDrawn="1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Foto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egnaposto immagine 3">
            <a:extLst>
              <a:ext uri="{FF2B5EF4-FFF2-40B4-BE49-F238E27FC236}">
                <a16:creationId xmlns:a16="http://schemas.microsoft.com/office/drawing/2014/main" id="{DC279A45-B0B8-4F32-4126-B51F5D6559B9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073501" y="1"/>
            <a:ext cx="4044999" cy="6840000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13" name="Segnaposto immagine 3">
            <a:extLst>
              <a:ext uri="{FF2B5EF4-FFF2-40B4-BE49-F238E27FC236}">
                <a16:creationId xmlns:a16="http://schemas.microsoft.com/office/drawing/2014/main" id="{918123E6-51DD-6186-102B-6035720A0B4F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0" y="3564000"/>
            <a:ext cx="3787419" cy="3294000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17" name="Segnaposto immagine 3">
            <a:extLst>
              <a:ext uri="{FF2B5EF4-FFF2-40B4-BE49-F238E27FC236}">
                <a16:creationId xmlns:a16="http://schemas.microsoft.com/office/drawing/2014/main" id="{CDA80275-1581-7364-546C-552976EF1F6A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0" y="0"/>
            <a:ext cx="3787419" cy="3294000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18" name="Segnaposto immagine 3">
            <a:extLst>
              <a:ext uri="{FF2B5EF4-FFF2-40B4-BE49-F238E27FC236}">
                <a16:creationId xmlns:a16="http://schemas.microsoft.com/office/drawing/2014/main" id="{31161624-9A63-69AC-D8E6-E85A9A36A799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8400256" y="3564000"/>
            <a:ext cx="3787419" cy="3294000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19" name="Segnaposto immagine 3">
            <a:extLst>
              <a:ext uri="{FF2B5EF4-FFF2-40B4-BE49-F238E27FC236}">
                <a16:creationId xmlns:a16="http://schemas.microsoft.com/office/drawing/2014/main" id="{4768892D-7F99-E8E3-184A-2624A33B4325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8400256" y="0"/>
            <a:ext cx="3787419" cy="3294000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29723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615" userDrawn="1">
          <p15:clr>
            <a:srgbClr val="FBAE40"/>
          </p15:clr>
        </p15:guide>
        <p15:guide id="2" orient="horz" pos="2568" userDrawn="1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Foto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egnaposto immagine 3">
            <a:extLst>
              <a:ext uri="{FF2B5EF4-FFF2-40B4-BE49-F238E27FC236}">
                <a16:creationId xmlns:a16="http://schemas.microsoft.com/office/drawing/2014/main" id="{D0DE120E-6DD6-3B79-5BB4-33585689C144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0" y="1"/>
            <a:ext cx="4044999" cy="6857999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2" name="Segnaposto immagine 3">
            <a:extLst>
              <a:ext uri="{FF2B5EF4-FFF2-40B4-BE49-F238E27FC236}">
                <a16:creationId xmlns:a16="http://schemas.microsoft.com/office/drawing/2014/main" id="{05B23648-70E3-29C3-3775-DC219D96D27C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4295775" y="2367000"/>
            <a:ext cx="3600450" cy="2124000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8" name="Segnaposto immagine 3">
            <a:extLst>
              <a:ext uri="{FF2B5EF4-FFF2-40B4-BE49-F238E27FC236}">
                <a16:creationId xmlns:a16="http://schemas.microsoft.com/office/drawing/2014/main" id="{F83C4782-6B30-926D-DD4E-C13BC110D4DB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295775" y="0"/>
            <a:ext cx="3600450" cy="2124000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9" name="Segnaposto immagine 3">
            <a:extLst>
              <a:ext uri="{FF2B5EF4-FFF2-40B4-BE49-F238E27FC236}">
                <a16:creationId xmlns:a16="http://schemas.microsoft.com/office/drawing/2014/main" id="{FCA0543A-21E8-DF30-DB4E-50942010BDC1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4295775" y="4734000"/>
            <a:ext cx="3600450" cy="2124000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12" name="Segnaposto immagine 3">
            <a:extLst>
              <a:ext uri="{FF2B5EF4-FFF2-40B4-BE49-F238E27FC236}">
                <a16:creationId xmlns:a16="http://schemas.microsoft.com/office/drawing/2014/main" id="{DC279A45-B0B8-4F32-4126-B51F5D6559B9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8148638" y="1"/>
            <a:ext cx="4044999" cy="6857999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104654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615" userDrawn="1">
          <p15:clr>
            <a:srgbClr val="FBAE40"/>
          </p15:clr>
        </p15:guide>
        <p15:guide id="2" orient="horz" pos="2568" userDrawn="1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iusura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magine 24">
            <a:extLst>
              <a:ext uri="{FF2B5EF4-FFF2-40B4-BE49-F238E27FC236}">
                <a16:creationId xmlns:a16="http://schemas.microsoft.com/office/drawing/2014/main" id="{23B77F8C-5C44-1493-6C7B-9A53A44519B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-25912" t="-54560" r="-28648"/>
          <a:stretch>
            <a:fillRect/>
          </a:stretch>
        </p:blipFill>
        <p:spPr>
          <a:xfrm rot="10800000">
            <a:off x="-89940" y="0"/>
            <a:ext cx="12192000" cy="6858000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6FE2E78B-065F-61E0-33E7-C71759D3082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43978" y="4115920"/>
            <a:ext cx="5608587" cy="687414"/>
          </a:xfrm>
          <a:prstGeom prst="rect">
            <a:avLst/>
          </a:prstGeom>
        </p:spPr>
        <p:txBody>
          <a:bodyPr anchor="t"/>
          <a:lstStyle>
            <a:lvl1pPr algn="l">
              <a:lnSpc>
                <a:spcPct val="80000"/>
              </a:lnSpc>
              <a:defRPr sz="4000" b="0" i="0">
                <a:solidFill>
                  <a:schemeClr val="bg1"/>
                </a:solidFill>
                <a:latin typeface="Butler" panose="02000503090000020003" pitchFamily="2" charset="77"/>
              </a:defRPr>
            </a:lvl1pPr>
          </a:lstStyle>
          <a:p>
            <a:r>
              <a:rPr lang="it-IT" dirty="0"/>
              <a:t>Grazie per l’attenzione</a:t>
            </a:r>
          </a:p>
        </p:txBody>
      </p:sp>
      <p:sp>
        <p:nvSpPr>
          <p:cNvPr id="4" name="Segnaposto piè di pagina 4">
            <a:extLst>
              <a:ext uri="{FF2B5EF4-FFF2-40B4-BE49-F238E27FC236}">
                <a16:creationId xmlns:a16="http://schemas.microsoft.com/office/drawing/2014/main" id="{B0BF522E-B315-72A2-A04F-D2B0A6E40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282609" y="6356350"/>
            <a:ext cx="3617843" cy="365125"/>
          </a:xfrm>
        </p:spPr>
        <p:txBody>
          <a:bodyPr/>
          <a:lstStyle>
            <a:lvl1pPr algn="r">
              <a:defRPr sz="1200" b="0" i="0">
                <a:solidFill>
                  <a:schemeClr val="bg1"/>
                </a:solidFill>
                <a:latin typeface="Karla" panose="020B0004030503030003" pitchFamily="34" charset="77"/>
              </a:defRPr>
            </a:lvl1pPr>
          </a:lstStyle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75800386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iusura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magine 11" descr="Immagine che contiene cerchio, luna, arte&#10;&#10;Il contenuto generato dall'IA potrebbe non essere corretto.">
            <a:extLst>
              <a:ext uri="{FF2B5EF4-FFF2-40B4-BE49-F238E27FC236}">
                <a16:creationId xmlns:a16="http://schemas.microsoft.com/office/drawing/2014/main" id="{71DF30D7-B390-E3D0-4A9B-F119CCABA4C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49678" t="1104" r="-48572"/>
          <a:stretch>
            <a:fillRect/>
          </a:stretch>
        </p:blipFill>
        <p:spPr>
          <a:xfrm rot="10800000"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Immagine 7" descr="Immagine che contiene cerchio, luna, arte&#10;&#10;Il contenuto generato dall'IA potrebbe non essere corretto.">
            <a:extLst>
              <a:ext uri="{FF2B5EF4-FFF2-40B4-BE49-F238E27FC236}">
                <a16:creationId xmlns:a16="http://schemas.microsoft.com/office/drawing/2014/main" id="{98ABD2E8-AC7C-EBE8-FAB0-0E351A553D2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49678" t="1104" r="-4857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Segnaposto piè di pagina 4">
            <a:extLst>
              <a:ext uri="{FF2B5EF4-FFF2-40B4-BE49-F238E27FC236}">
                <a16:creationId xmlns:a16="http://schemas.microsoft.com/office/drawing/2014/main" id="{6EE02DA6-7BA9-FEDF-76C4-7C7F6EEA6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282609" y="6356350"/>
            <a:ext cx="3617843" cy="365125"/>
          </a:xfrm>
        </p:spPr>
        <p:txBody>
          <a:bodyPr/>
          <a:lstStyle>
            <a:lvl1pPr algn="r">
              <a:defRPr sz="1200" b="0" i="0">
                <a:solidFill>
                  <a:schemeClr val="bg1"/>
                </a:solidFill>
                <a:latin typeface="Karla" panose="020B0004030503030003" pitchFamily="34" charset="77"/>
              </a:defRPr>
            </a:lvl1pPr>
          </a:lstStyle>
          <a:p>
            <a:endParaRPr lang="it-IT" dirty="0"/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2103D8ED-499A-202E-13E7-015837D4318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94787" y="6333330"/>
            <a:ext cx="1991187" cy="412376"/>
          </a:xfrm>
          <a:prstGeom prst="rect">
            <a:avLst/>
          </a:prstGeom>
        </p:spPr>
      </p:pic>
      <p:sp>
        <p:nvSpPr>
          <p:cNvPr id="14" name="Segnaposto testo 13">
            <a:extLst>
              <a:ext uri="{FF2B5EF4-FFF2-40B4-BE49-F238E27FC236}">
                <a16:creationId xmlns:a16="http://schemas.microsoft.com/office/drawing/2014/main" id="{225F75D8-B228-9C7B-623D-63EB467B049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341563" y="2961802"/>
            <a:ext cx="7508875" cy="73984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000" b="1" i="0">
                <a:solidFill>
                  <a:schemeClr val="bg1"/>
                </a:solidFill>
                <a:latin typeface="BUTLER-EXTRABOLD" panose="02000503090000020003" pitchFamily="2" charset="77"/>
              </a:defRPr>
            </a:lvl1pPr>
          </a:lstStyle>
          <a:p>
            <a:pPr lvl="0"/>
            <a:r>
              <a:rPr lang="it-IT" sz="4000" b="1" i="0" dirty="0">
                <a:latin typeface="Butler" panose="02000503090000020003" pitchFamily="2" charset="77"/>
              </a:rPr>
              <a:t>Grazie per l’attenzione 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0175052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4E400ED-0F61-EF08-EAC0-ACDF6B383F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59395" y="6356350"/>
            <a:ext cx="19229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5B6F618-0DA9-CA61-B8DA-FD41405762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8555" y="6356350"/>
            <a:ext cx="7232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D6451D-1641-964E-B995-104A5CF7FFD9}" type="slidenum">
              <a:rPr lang="it-IT" smtClean="0"/>
              <a:pPr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5634434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1" r:id="rId9"/>
    <p:sldLayoutId id="2147483660" r:id="rId10"/>
    <p:sldLayoutId id="2147483657" r:id="rId11"/>
    <p:sldLayoutId id="2147483658" r:id="rId12"/>
    <p:sldLayoutId id="2147483663" r:id="rId13"/>
    <p:sldLayoutId id="2147483659" r:id="rId14"/>
    <p:sldLayoutId id="2147483662" r:id="rId15"/>
    <p:sldLayoutId id="2147483664" r:id="rId16"/>
    <p:sldLayoutId id="2147483666" r:id="rId17"/>
    <p:sldLayoutId id="2147483665" r:id="rId18"/>
    <p:sldLayoutId id="2147483667" r:id="rId19"/>
    <p:sldLayoutId id="2147483668" r:id="rId20"/>
    <p:sldLayoutId id="2147483670" r:id="rId21"/>
    <p:sldLayoutId id="2147483671" r:id="rId22"/>
    <p:sldLayoutId id="2147483674" r:id="rId23"/>
    <p:sldLayoutId id="2147483675" r:id="rId24"/>
    <p:sldLayoutId id="2147483676" r:id="rId25"/>
    <p:sldLayoutId id="2147483677" r:id="rId26"/>
    <p:sldLayoutId id="2147483678" r:id="rId27"/>
    <p:sldLayoutId id="2147483679" r:id="rId28"/>
    <p:sldLayoutId id="2147483680" r:id="rId29"/>
    <p:sldLayoutId id="2147483681" r:id="rId30"/>
    <p:sldLayoutId id="2147483682" r:id="rId31"/>
    <p:sldLayoutId id="2147483672" r:id="rId32"/>
    <p:sldLayoutId id="2147483673" r:id="rId33"/>
    <p:sldLayoutId id="2147483688" r:id="rId34"/>
    <p:sldLayoutId id="2147483683" r:id="rId35"/>
    <p:sldLayoutId id="2147483686" r:id="rId36"/>
    <p:sldLayoutId id="2147483685" r:id="rId37"/>
    <p:sldLayoutId id="2147483687" r:id="rId38"/>
    <p:sldLayoutId id="2147483689" r:id="rId39"/>
    <p:sldLayoutId id="2147483691" r:id="rId40"/>
    <p:sldLayoutId id="2147483690" r:id="rId4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78" userDrawn="1">
          <p15:clr>
            <a:srgbClr val="F26B43"/>
          </p15:clr>
        </p15:guide>
        <p15:guide id="2" pos="7423" userDrawn="1">
          <p15:clr>
            <a:srgbClr val="F26B43"/>
          </p15:clr>
        </p15:guide>
        <p15:guide id="3" pos="279" userDrawn="1">
          <p15:clr>
            <a:srgbClr val="F26B43"/>
          </p15:clr>
        </p15:guide>
        <p15:guide id="4" pos="3772" userDrawn="1">
          <p15:clr>
            <a:srgbClr val="F26B43"/>
          </p15:clr>
        </p15:guide>
        <p15:guide id="5" pos="5133" userDrawn="1">
          <p15:clr>
            <a:srgbClr val="F26B43"/>
          </p15:clr>
        </p15:guide>
        <p15:guide id="6" pos="6335" userDrawn="1">
          <p15:clr>
            <a:srgbClr val="F26B43"/>
          </p15:clr>
        </p15:guide>
        <p15:guide id="7" pos="1504" userDrawn="1">
          <p15:clr>
            <a:srgbClr val="F26B43"/>
          </p15:clr>
        </p15:guide>
        <p15:guide id="8" pos="3908" userDrawn="1">
          <p15:clr>
            <a:srgbClr val="F26B43"/>
          </p15:clr>
        </p15:guide>
        <p15:guide id="9" pos="2706" userDrawn="1">
          <p15:clr>
            <a:srgbClr val="F26B43"/>
          </p15:clr>
        </p15:guide>
        <p15:guide id="10" orient="horz" pos="3838" userDrawn="1">
          <p15:clr>
            <a:srgbClr val="F26B43"/>
          </p15:clr>
        </p15:guide>
        <p15:guide id="11" orient="horz" pos="415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0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emf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9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9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0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9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8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0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9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9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9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9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8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5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6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9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0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9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6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5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1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6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9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0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5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8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1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9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5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6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5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0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9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9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1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8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0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9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5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8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9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1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0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1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5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6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9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9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1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0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8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9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9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1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5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9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10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11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9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1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5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25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29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21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21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9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29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10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10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29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8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video-intro_2026-10-16_17-26-38">
            <a:hlinkClick r:id="" action="ppaction://media"/>
            <a:extLst>
              <a:ext uri="{FF2B5EF4-FFF2-40B4-BE49-F238E27FC236}">
                <a16:creationId xmlns:a16="http://schemas.microsoft.com/office/drawing/2014/main" id="{E0AE4DE2-451E-0EE8-40E3-88EC0EF475F4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763" y="635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0000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D4E14A-36FF-CE49-0666-E548A864B2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Segnaposto immagine 6" descr="Immagine che contiene cerchio, Elementi grafici, arte, design&#10;&#10;Il contenuto generato dall'IA potrebbe non essere corretto.">
            <a:extLst>
              <a:ext uri="{FF2B5EF4-FFF2-40B4-BE49-F238E27FC236}">
                <a16:creationId xmlns:a16="http://schemas.microsoft.com/office/drawing/2014/main" id="{1940A503-0F41-D33B-2542-34E6CD692A93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3"/>
          <a:srcRect l="-26954" t="8597" r="-26954" b="8597"/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3" name="Titolo 2">
            <a:extLst>
              <a:ext uri="{FF2B5EF4-FFF2-40B4-BE49-F238E27FC236}">
                <a16:creationId xmlns:a16="http://schemas.microsoft.com/office/drawing/2014/main" id="{E8D50F54-2F45-A172-F3E5-897CB5AEA7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3101" y="3158950"/>
            <a:ext cx="3942674" cy="1302100"/>
          </a:xfrm>
        </p:spPr>
        <p:txBody>
          <a:bodyPr/>
          <a:lstStyle/>
          <a:p>
            <a:r>
              <a:rPr lang="it-IT"/>
              <a:t>L'AI al lavoro</a:t>
            </a:r>
          </a:p>
        </p:txBody>
      </p:sp>
      <p:sp>
        <p:nvSpPr>
          <p:cNvPr id="4" name="Sottotitolo 3">
            <a:extLst>
              <a:ext uri="{FF2B5EF4-FFF2-40B4-BE49-F238E27FC236}">
                <a16:creationId xmlns:a16="http://schemas.microsoft.com/office/drawing/2014/main" id="{60CF914A-8FF4-BE29-19FB-56D96FE1ED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6841" y="4749756"/>
            <a:ext cx="3948933" cy="876972"/>
          </a:xfrm>
        </p:spPr>
        <p:txBody>
          <a:bodyPr/>
          <a:lstStyle/>
          <a:p>
            <a:r>
              <a:rPr lang="it-IT" sz="2399"/>
              <a:t>Formazione AI per il Marketing</a:t>
            </a:r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50575388-77BE-363A-B803-76FB8A3B08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37798" y="3222812"/>
            <a:ext cx="1991187" cy="412376"/>
          </a:xfrm>
          <a:prstGeom prst="rect">
            <a:avLst/>
          </a:prstGeom>
        </p:spPr>
      </p:pic>
      <p:sp>
        <p:nvSpPr>
          <p:cNvPr id="16" name="Segnaposto piè di pagina 4">
            <a:extLst>
              <a:ext uri="{FF2B5EF4-FFF2-40B4-BE49-F238E27FC236}">
                <a16:creationId xmlns:a16="http://schemas.microsoft.com/office/drawing/2014/main" id="{A99B830A-5CDB-55B4-DC84-DF49451B98B7}"/>
              </a:ext>
            </a:extLst>
          </p:cNvPr>
          <p:cNvSpPr txBox="1">
            <a:spLocks/>
          </p:cNvSpPr>
          <p:nvPr/>
        </p:nvSpPr>
        <p:spPr>
          <a:xfrm>
            <a:off x="368795" y="2432649"/>
            <a:ext cx="2891989" cy="570592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it-IT"/>
            </a:defPPr>
            <a:lvl1pPr marL="0" algn="l" defTabSz="914400" rtl="0" eaLnBrk="1" latinLnBrk="0" hangingPunct="1">
              <a:defRPr sz="2000" b="0" i="0" kern="1200">
                <a:solidFill>
                  <a:schemeClr val="bg1"/>
                </a:solidFill>
                <a:latin typeface="Karla" panose="020B0004030503030003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1200"/>
              <a:t>Ottobre 2026</a:t>
            </a:r>
          </a:p>
          <a:p>
            <a:r>
              <a:rPr lang="it-IT" sz="1200"/>
              <a:t>Intro e setting</a:t>
            </a:r>
          </a:p>
        </p:txBody>
      </p:sp>
    </p:spTree>
    <p:extLst>
      <p:ext uri="{BB962C8B-B14F-4D97-AF65-F5344CB8AC3E}">
        <p14:creationId xmlns:p14="http://schemas.microsoft.com/office/powerpoint/2010/main" val="11987148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ADED681-84E5-AEB9-F436-72396F9B8E8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/>
              <a:t>Perché siamo</a:t>
            </a:r>
            <a:br>
              <a:rPr lang="it-IT"/>
            </a:br>
            <a:r>
              <a:rPr lang="it-IT"/>
              <a:t>qui oggi</a:t>
            </a: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9F09FC85-CEA7-237E-6BE2-7B9206D04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4E4368F-7A30-F387-08EE-7E7CBE9CC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6451D-1641-964E-B995-104A5CF7FFD9}" type="slidenum">
              <a:rPr lang="it-IT" smtClean="0"/>
              <a:pPr/>
              <a:t>3</a:t>
            </a:fld>
            <a:endParaRPr lang="it-IT" dirty="0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60D7638C-CC8E-08F3-B3C2-B1A51502FB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it-IT">
                <a:latin typeface="Karla"/>
              </a:rPr>
              <a:t>Nel marketing il tempo se ne va in due modi: creare contenuti e gestire operazioni ripetitive.</a:t>
            </a:r>
          </a:p>
          <a:p>
            <a:r>
              <a:rPr lang="it-IT">
                <a:latin typeface="Karla"/>
              </a:rPr>
              <a:t>L'AI può aiutare su entrambi i fronti, senza tradire il brand e senza diventare un altro lavoro da gestire.</a:t>
            </a:r>
          </a:p>
          <a:p>
            <a:r>
              <a:rPr lang="it-IT">
                <a:latin typeface="Karla"/>
              </a:rPr>
              <a:t>Obiettivi della giornata:</a:t>
            </a:r>
          </a:p>
          <a:p>
            <a:pPr marL="285750" indent="-285750">
              <a:buFont typeface="Arial"/>
              <a:buChar char="•"/>
            </a:pPr>
            <a:r>
              <a:rPr lang="it-IT">
                <a:latin typeface="Karla"/>
              </a:rPr>
              <a:t>capire quale AI usare per cosa</a:t>
            </a:r>
          </a:p>
          <a:p>
            <a:pPr marL="285750" indent="-285750">
              <a:buFont typeface="Arial"/>
              <a:buChar char="•"/>
            </a:pPr>
            <a:r>
              <a:rPr lang="it-IT">
                <a:latin typeface="Karla"/>
              </a:rPr>
              <a:t>conoscere Claude a fondo e impostarlo bene fin dal primo giorno</a:t>
            </a:r>
          </a:p>
          <a:p>
            <a:pPr marL="285750" indent="-285750">
              <a:buFont typeface="Arial"/>
              <a:buChar char="•"/>
            </a:pPr>
            <a:r>
              <a:rPr lang="it-IT">
                <a:latin typeface="Karla"/>
              </a:rPr>
              <a:t>imparare un metodo per automatizzare da soli i lavori ripetitivi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6D47EF5-7F82-9505-7D2B-E3131CCC95D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/>
              <a:t>Cosa vedremo</a:t>
            </a:r>
            <a:br>
              <a:rPr lang="it-IT"/>
            </a:br>
            <a:r>
              <a:rPr lang="it-IT"/>
              <a:t>oggi</a:t>
            </a: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62D1BC6C-5EAC-6542-91A5-5AECDCF2B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A673DE2-373C-4810-E2D9-AB4A00DE4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6451D-1641-964E-B995-104A5CF7FFD9}" type="slidenum">
              <a:rPr lang="it-IT" smtClean="0"/>
              <a:pPr/>
              <a:t>4</a:t>
            </a:fld>
            <a:endParaRPr lang="it-IT" dirty="0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B9C44978-D868-95C9-90D3-998C3AC4C6E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it-IT" sz="1529">
                <a:latin typeface="Karla"/>
              </a:rPr>
              <a:t>01  Il panorama: ChatGPT, Claude, Gemini, Perplexity, Leonardo AI</a:t>
            </a:r>
          </a:p>
          <a:p>
            <a:r>
              <a:rPr lang="it-IT" sz="1529">
                <a:latin typeface="Karla"/>
              </a:rPr>
              <a:t>02  Il prompt: come si parla a un'AI</a:t>
            </a:r>
          </a:p>
          <a:p>
            <a:r>
              <a:rPr lang="it-IT" sz="1529">
                <a:latin typeface="Karla"/>
              </a:rPr>
              <a:t>03  ChatGPT, Claude e Gemini a confronto</a:t>
            </a:r>
          </a:p>
          <a:p>
            <a:r>
              <a:rPr lang="it-IT" sz="1529">
                <a:latin typeface="Karla"/>
              </a:rPr>
              <a:t>04  Dentro Claude: superfici, modalità, area di lavoro, modelli e token</a:t>
            </a:r>
          </a:p>
          <a:p>
            <a:r>
              <a:rPr lang="it-IT" sz="1529">
                <a:latin typeface="Karla"/>
              </a:rPr>
              <a:t>05  Lavorare bene: progetti, cartella, artifact e file</a:t>
            </a:r>
          </a:p>
          <a:p>
            <a:r>
              <a:rPr lang="it-IT" sz="1529">
                <a:latin typeface="Karla"/>
              </a:rPr>
              <a:t>06  Skill e agenti: skill, agenti, connettori, pianificate, Code</a:t>
            </a:r>
          </a:p>
          <a:p>
            <a:r>
              <a:rPr lang="it-IT" sz="1529">
                <a:latin typeface="Karla"/>
              </a:rPr>
              <a:t>07  Il setup ideale</a:t>
            </a:r>
          </a:p>
          <a:p>
            <a:r>
              <a:rPr lang="it-IT" sz="1529">
                <a:latin typeface="Karla"/>
              </a:rPr>
              <a:t>08  Automatizzare il ripetitivo</a:t>
            </a:r>
          </a:p>
          <a:p>
            <a:r>
              <a:rPr lang="it-IT" sz="1529">
                <a:latin typeface="Karla"/>
              </a:rPr>
              <a:t>09  Fiducia e primo passo</a:t>
            </a:r>
          </a:p>
          <a:p>
            <a:r>
              <a:rPr lang="it-IT" sz="1529">
                <a:latin typeface="Karla"/>
              </a:rPr>
              <a:t>10  Un ufficio eventi con Claude</a:t>
            </a:r>
          </a:p>
          <a:p>
            <a:r>
              <a:rPr lang="it-IT" sz="1529">
                <a:latin typeface="Karla"/>
              </a:rPr>
              <a:t>11  Leonardo AI nel dettaglio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574C459-1E8A-002D-242B-9B6741E53DF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/>
              <a:t>L'AI potenzia</a:t>
            </a:r>
            <a:br>
              <a:rPr lang="it-IT"/>
            </a:br>
            <a:r>
              <a:rPr lang="it-IT"/>
              <a:t>chi la usa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3D26EBE8-14E6-C9A5-3762-3E2050849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A13DE717-F641-F685-A461-E1A3D0CBB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6451D-1641-964E-B995-104A5CF7FFD9}" type="slidenum">
              <a:rPr lang="it-IT" smtClean="0"/>
              <a:pPr/>
              <a:t>5</a:t>
            </a:fld>
            <a:endParaRPr lang="it-IT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tangolo 2">
            <a:extLst>
              <a:ext uri="{FF2B5EF4-FFF2-40B4-BE49-F238E27FC236}">
                <a16:creationId xmlns:a16="http://schemas.microsoft.com/office/drawing/2014/main" id="{F1C1CB56-4283-FDE5-69B6-03C379DE730D}"/>
              </a:ext>
            </a:extLst>
          </p:cNvPr>
          <p:cNvSpPr/>
          <p:nvPr/>
        </p:nvSpPr>
        <p:spPr>
          <a:xfrm>
            <a:off x="0" y="1662953"/>
            <a:ext cx="12192000" cy="353209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C52D1058-C56A-8891-A9DF-AB8158E3954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/>
              <a:t>Il panorama AI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A11C4E15-DDA8-85EE-18EB-919634828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FCC6785C-0674-6D8A-9339-DED2764C8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6451D-1641-964E-B995-104A5CF7FFD9}" type="slidenum">
              <a:rPr lang="it-IT" smtClean="0"/>
              <a:pPr/>
              <a:t>6</a:t>
            </a:fld>
            <a:endParaRPr lang="it-IT" dirty="0"/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C9460520-20F1-CFF9-73B3-8EA7BFE31C6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it-IT" sz="2519"/>
              <a:t>Sezione 01 · Cinque strumenti, cinque mestieri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F793BD9-74D4-443D-ADCB-E58599E2CD1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/>
              <a:t>Quanto corre</a:t>
            </a:r>
            <a:br>
              <a:rPr lang="it-IT"/>
            </a:br>
            <a:r>
              <a:rPr lang="it-IT"/>
              <a:t>il mondo AI</a:t>
            </a: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D30CE9DD-37E3-B2D7-45DD-D66DD31C9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C84CF9C-4371-9672-F423-35D96CFAD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6451D-1641-964E-B995-104A5CF7FFD9}" type="slidenum">
              <a:rPr lang="it-IT" smtClean="0"/>
              <a:pPr/>
              <a:t>7</a:t>
            </a:fld>
            <a:endParaRPr lang="it-IT" dirty="0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B41D3C8E-18B5-19A9-C672-37F093B9A05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it-IT" sz="1529">
                <a:latin typeface="Karla"/>
              </a:rPr>
              <a:t>Dalla prima formazione di marzo sono passati sette mesi. Nel frattempo:</a:t>
            </a:r>
          </a:p>
          <a:p>
            <a:pPr marL="285750" indent="-285750">
              <a:buFont typeface="Arial"/>
              <a:buChar char="•"/>
            </a:pPr>
            <a:r>
              <a:rPr lang="it-IT" sz="1529">
                <a:latin typeface="Karla"/>
              </a:rPr>
              <a:t>Claude è passato da Opus 4.6 a Opus 5.5 e Sonnet 5.5</a:t>
            </a:r>
          </a:p>
          <a:p>
            <a:pPr marL="285750" indent="-285750">
              <a:buFont typeface="Arial"/>
              <a:buChar char="•"/>
            </a:pPr>
            <a:r>
              <a:rPr lang="it-IT" sz="1529">
                <a:latin typeface="Karla"/>
              </a:rPr>
              <a:t>ChatGPT è passato alla famiglia GPT-6: Astra, Sol, Luna</a:t>
            </a:r>
          </a:p>
          <a:p>
            <a:pPr marL="285750" indent="-285750">
              <a:buFont typeface="Arial"/>
              <a:buChar char="•"/>
            </a:pPr>
            <a:r>
              <a:rPr lang="it-IT" sz="1529">
                <a:latin typeface="Karla"/>
              </a:rPr>
              <a:t>Gemini lavora con i modelli 3.x; Gemini 4 è annunciato</a:t>
            </a:r>
          </a:p>
          <a:p>
            <a:pPr marL="285750" indent="-285750">
              <a:buFont typeface="Arial"/>
              <a:buChar char="•"/>
            </a:pPr>
            <a:r>
              <a:rPr lang="it-IT" sz="1529">
                <a:latin typeface="Karla"/>
              </a:rPr>
              <a:t>è nato Claude Design (aprile), oggi dentro Claude</a:t>
            </a:r>
          </a:p>
          <a:p>
            <a:pPr marL="285750" indent="-285750">
              <a:buFont typeface="Arial"/>
              <a:buChar char="•"/>
            </a:pPr>
            <a:r>
              <a:rPr lang="it-IT" sz="1529">
                <a:latin typeface="Karla"/>
              </a:rPr>
              <a:t>nell'app Claude chat e Cowork non esistono più separati: una sola conversazione</a:t>
            </a:r>
          </a:p>
          <a:p>
            <a:pPr marL="285750" indent="-285750">
              <a:buFont typeface="Arial"/>
              <a:buChar char="•"/>
            </a:pPr>
            <a:r>
              <a:rPr lang="it-IT" sz="1529">
                <a:latin typeface="Karla"/>
              </a:rPr>
              <a:t>le attività pianificate girano in cloud, anche a PC spento</a:t>
            </a:r>
          </a:p>
          <a:p>
            <a:endParaRPr lang="it-IT" sz="1529">
              <a:latin typeface="Karla"/>
            </a:endParaRPr>
          </a:p>
          <a:p>
            <a:r>
              <a:rPr lang="it-IT" sz="2000" b="1">
                <a:latin typeface="Karla"/>
              </a:rPr>
              <a:t>Importante: impariamo il metodo, non i pulsanti. I pulsanti cambiano, il metodo resta.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D6D2C2E-63BE-BD1D-D3EC-EB9AD88E6D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6070" y="441325"/>
            <a:ext cx="5661980" cy="1976905"/>
          </a:xfrm>
        </p:spPr>
        <p:txBody>
          <a:bodyPr/>
          <a:lstStyle/>
          <a:p>
            <a:r>
              <a:rPr lang="it-IT"/>
              <a:t>Come ragiona</a:t>
            </a:r>
            <a:br>
              <a:rPr lang="it-IT"/>
            </a:br>
            <a:r>
              <a:rPr lang="it-IT"/>
              <a:t>un'AI</a:t>
            </a: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EB4573C2-5844-268A-A52E-80A5C4406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59395" y="6356350"/>
            <a:ext cx="1922987" cy="365125"/>
          </a:xfrm>
        </p:spPr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D91C807-1730-C2AC-4674-119E09F89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38555" y="6356350"/>
            <a:ext cx="723280" cy="365125"/>
          </a:xfrm>
        </p:spPr>
        <p:txBody>
          <a:bodyPr/>
          <a:lstStyle/>
          <a:p>
            <a:fld id="{13D6451D-1641-964E-B995-104A5CF7FFD9}" type="slidenum">
              <a:rPr lang="it-IT" smtClean="0"/>
              <a:pPr/>
              <a:t>8</a:t>
            </a:fld>
            <a:endParaRPr lang="it-IT" dirty="0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43BE69A5-5685-BC6E-944E-F2B75A38B70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03950" y="684843"/>
            <a:ext cx="5721350" cy="4849813"/>
          </a:xfrm>
        </p:spPr>
        <p:txBody>
          <a:bodyPr/>
          <a:lstStyle/>
          <a:p>
            <a:r>
              <a:rPr lang="it-IT">
                <a:latin typeface="Karla"/>
              </a:rPr>
              <a:t>Un'AI generativa non pensa e non sa: completa il testo nel modo più probabile, partendo da tutto ciò che ha letto.</a:t>
            </a:r>
          </a:p>
          <a:p>
            <a:r>
              <a:rPr lang="it-IT">
                <a:latin typeface="Karla"/>
              </a:rPr>
              <a:t>Conseguenze pratiche:</a:t>
            </a:r>
          </a:p>
          <a:p>
            <a:pPr marL="285750" indent="-285750">
              <a:buFont typeface="Arial"/>
              <a:buChar char="•"/>
            </a:pPr>
            <a:r>
              <a:rPr lang="it-IT">
                <a:latin typeface="Karla"/>
              </a:rPr>
              <a:t>dove mancano informazioni, le riempie con risposte generiche o inventate</a:t>
            </a:r>
          </a:p>
          <a:p>
            <a:pPr marL="285750" indent="-285750">
              <a:buFont typeface="Arial"/>
              <a:buChar char="•"/>
            </a:pPr>
            <a:r>
              <a:rPr lang="it-IT">
                <a:latin typeface="Karla"/>
              </a:rPr>
              <a:t>più contesto le dai, più il risultato è vostro e non di tutti</a:t>
            </a:r>
          </a:p>
          <a:p>
            <a:pPr marL="285750" indent="-285750">
              <a:buFont typeface="Arial"/>
              <a:buChar char="•"/>
            </a:pPr>
            <a:r>
              <a:rPr lang="it-IT">
                <a:latin typeface="Karla"/>
              </a:rPr>
              <a:t>va sempre riletta: è un collaboratore brillante, non un oracolo</a:t>
            </a:r>
          </a:p>
          <a:p>
            <a:r>
              <a:rPr lang="it-IT">
                <a:latin typeface="Karla"/>
              </a:rPr>
              <a:t>Le AI di testo e quelle di immagini funzionano con la stessa logica: il prompt guida tutto.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Segnaposto immagine 16" descr="Immagine che contiene arredo, interior design, interno, muro&#10;&#10;Il contenuto generato dall'IA potrebbe non essere corretto.">
            <a:extLst>
              <a:ext uri="{FF2B5EF4-FFF2-40B4-BE49-F238E27FC236}">
                <a16:creationId xmlns:a16="http://schemas.microsoft.com/office/drawing/2014/main" id="{A2009422-89A6-EEE3-8915-EC80353F714A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3"/>
          <a:srcRect l="53" r="53"/>
          <a:stretch>
            <a:fillRect/>
          </a:stretch>
        </p:blipFill>
        <p:spPr>
          <a:xfrm>
            <a:off x="0" y="1773238"/>
            <a:ext cx="11784013" cy="4319587"/>
          </a:xfrm>
        </p:spPr>
      </p:pic>
      <p:sp>
        <p:nvSpPr>
          <p:cNvPr id="12" name="Titolo 11">
            <a:extLst>
              <a:ext uri="{FF2B5EF4-FFF2-40B4-BE49-F238E27FC236}">
                <a16:creationId xmlns:a16="http://schemas.microsoft.com/office/drawing/2014/main" id="{C67F1C3F-C869-B3E5-976B-8ACF72C960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4384" y="441325"/>
            <a:ext cx="3682184" cy="839334"/>
          </a:xfrm>
        </p:spPr>
        <p:txBody>
          <a:bodyPr/>
          <a:lstStyle/>
          <a:p>
            <a:r>
              <a:rPr lang="it-IT"/>
              <a:t>Cinque mestieri</a:t>
            </a: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CED3D252-A3B8-5967-C08C-30A52050E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59395" y="6356350"/>
            <a:ext cx="1922987" cy="365125"/>
          </a:xfrm>
        </p:spPr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33F14E5-F6E6-228D-05C4-C12B4BA70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38555" y="6356350"/>
            <a:ext cx="723280" cy="365125"/>
          </a:xfrm>
        </p:spPr>
        <p:txBody>
          <a:bodyPr/>
          <a:lstStyle/>
          <a:p>
            <a:fld id="{13D6451D-1641-964E-B995-104A5CF7FFD9}" type="slidenum">
              <a:rPr lang="it-IT" smtClean="0"/>
              <a:pPr/>
              <a:t>9</a:t>
            </a:fld>
            <a:endParaRPr lang="it-IT" dirty="0"/>
          </a:p>
        </p:txBody>
      </p:sp>
      <p:sp>
        <p:nvSpPr>
          <p:cNvPr id="14" name="Segnaposto testo 13">
            <a:extLst>
              <a:ext uri="{FF2B5EF4-FFF2-40B4-BE49-F238E27FC236}">
                <a16:creationId xmlns:a16="http://schemas.microsoft.com/office/drawing/2014/main" id="{60DC93EE-17B2-3081-2D65-210FB2E6A8C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050232" y="590106"/>
            <a:ext cx="3825245" cy="906181"/>
          </a:xfrm>
        </p:spPr>
        <p:txBody>
          <a:bodyPr/>
          <a:lstStyle/>
          <a:p>
            <a:r>
              <a:rPr lang="it-IT">
                <a:latin typeface="Karla"/>
              </a:rPr>
              <a:t>Non esiste l'AI migliore: esiste quella giusta per il compito.</a:t>
            </a:r>
          </a:p>
        </p:txBody>
      </p:sp>
      <p:cxnSp>
        <p:nvCxnSpPr>
          <p:cNvPr id="23" name="Connettore 1 22">
            <a:extLst>
              <a:ext uri="{FF2B5EF4-FFF2-40B4-BE49-F238E27FC236}">
                <a16:creationId xmlns:a16="http://schemas.microsoft.com/office/drawing/2014/main" id="{B019C9E0-904B-93F1-F693-C4477C1EB3C6}"/>
              </a:ext>
            </a:extLst>
          </p:cNvPr>
          <p:cNvCxnSpPr>
            <a:cxnSpLocks/>
          </p:cNvCxnSpPr>
          <p:nvPr/>
        </p:nvCxnSpPr>
        <p:spPr>
          <a:xfrm>
            <a:off x="6203950" y="441325"/>
            <a:ext cx="5580063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Segnaposto immagine 9" descr="Immagine che contiene interno, interior design, muro, soffitto&#10;&#10;Il contenuto generato dall'IA potrebbe non essere corretto.">
            <a:extLst>
              <a:ext uri="{FF2B5EF4-FFF2-40B4-BE49-F238E27FC236}">
                <a16:creationId xmlns:a16="http://schemas.microsoft.com/office/drawing/2014/main" id="{0E30B22B-36A8-4A36-3F8E-BA9DE1BC07CB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3"/>
          <a:srcRect l="15" r="15"/>
          <a:stretch>
            <a:fillRect/>
          </a:stretch>
        </p:blipFill>
        <p:spPr>
          <a:xfrm>
            <a:off x="1" y="441324"/>
            <a:ext cx="5988050" cy="5651501"/>
          </a:xfrm>
        </p:spPr>
      </p:pic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51E6D9C1-6652-F14B-33AC-6E8FD9711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80DE77F-7D5E-A394-737F-5251C093A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6451D-1641-964E-B995-104A5CF7FFD9}" type="slidenum">
              <a:rPr lang="it-IT" smtClean="0"/>
              <a:pPr/>
              <a:t>10</a:t>
            </a:fld>
            <a:endParaRPr lang="it-IT" dirty="0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678C8310-1E7B-4250-0C1E-D3C48A7C40D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it-IT" sz="1709">
                <a:latin typeface="Karla"/>
              </a:rPr>
              <a:t>brainstorming di claim e idee</a:t>
            </a:r>
          </a:p>
          <a:p>
            <a:pPr marL="285750" indent="-285750">
              <a:buFont typeface="Arial"/>
              <a:buChar char="•"/>
            </a:pPr>
            <a:r>
              <a:rPr lang="it-IT" sz="1709">
                <a:latin typeface="Karla"/>
              </a:rPr>
              <a:t>prime bozze e varianti veloci</a:t>
            </a:r>
          </a:p>
          <a:p>
            <a:pPr marL="285750" indent="-285750">
              <a:buFont typeface="Arial"/>
              <a:buChar char="•"/>
            </a:pPr>
            <a:r>
              <a:rPr lang="it-IT" sz="1709">
                <a:latin typeface="Karla"/>
              </a:rPr>
              <a:t>immagini di concept al volo</a:t>
            </a:r>
          </a:p>
          <a:p>
            <a:pPr marL="285750" indent="-285750">
              <a:buFont typeface="Arial"/>
              <a:buChar char="•"/>
            </a:pPr>
            <a:r>
              <a:rPr lang="it-IT" sz="1709">
                <a:latin typeface="Karla"/>
              </a:rPr>
              <a:t>attenzione: verificare fatti e dati</a:t>
            </a:r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36C47D9A-E3B2-49D5-133D-34210BC413A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it-IT">
                <a:latin typeface="Karla"/>
              </a:rPr>
              <a:t>L'assistente AI più diffuso, di OpenAI. Modelli attuali: famiglia GPT-6. Forte su velocità, versatilità e immagini generate in chat.</a:t>
            </a:r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5C83EFD7-7A83-9EC9-4F8A-FCD1C0ED130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it-IT"/>
              <a:t>Per il marketing</a:t>
            </a:r>
          </a:p>
        </p:txBody>
      </p:sp>
      <p:sp>
        <p:nvSpPr>
          <p:cNvPr id="8" name="Segnaposto testo 7">
            <a:extLst>
              <a:ext uri="{FF2B5EF4-FFF2-40B4-BE49-F238E27FC236}">
                <a16:creationId xmlns:a16="http://schemas.microsoft.com/office/drawing/2014/main" id="{EFAA5162-FD8F-A9C2-DDDF-65637CD0418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it-IT"/>
              <a:t>Cos'è</a:t>
            </a:r>
          </a:p>
        </p:txBody>
      </p:sp>
      <p:cxnSp>
        <p:nvCxnSpPr>
          <p:cNvPr id="11" name="Connettore 1 10">
            <a:extLst>
              <a:ext uri="{FF2B5EF4-FFF2-40B4-BE49-F238E27FC236}">
                <a16:creationId xmlns:a16="http://schemas.microsoft.com/office/drawing/2014/main" id="{26E6A3F1-1138-C810-5BE0-89DFB5B6CD74}"/>
              </a:ext>
            </a:extLst>
          </p:cNvPr>
          <p:cNvCxnSpPr>
            <a:cxnSpLocks/>
          </p:cNvCxnSpPr>
          <p:nvPr/>
        </p:nvCxnSpPr>
        <p:spPr>
          <a:xfrm>
            <a:off x="6203950" y="441325"/>
            <a:ext cx="5580063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ttore 1 12">
            <a:extLst>
              <a:ext uri="{FF2B5EF4-FFF2-40B4-BE49-F238E27FC236}">
                <a16:creationId xmlns:a16="http://schemas.microsoft.com/office/drawing/2014/main" id="{707D02A4-951D-2269-B7D1-0FE03923480E}"/>
              </a:ext>
            </a:extLst>
          </p:cNvPr>
          <p:cNvCxnSpPr>
            <a:cxnSpLocks/>
          </p:cNvCxnSpPr>
          <p:nvPr/>
        </p:nvCxnSpPr>
        <p:spPr>
          <a:xfrm>
            <a:off x="6203950" y="3465096"/>
            <a:ext cx="5580063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Segnaposto immagine 9">
            <a:extLst>
              <a:ext uri="{FF2B5EF4-FFF2-40B4-BE49-F238E27FC236}">
                <a16:creationId xmlns:a16="http://schemas.microsoft.com/office/drawing/2014/main" id="{CAE37786-BBA6-42F4-2E26-A808E55CFBAA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3"/>
          <a:srcRect l="15" r="15"/>
          <a:stretch>
            <a:fillRect/>
          </a:stretch>
        </p:blipFill>
        <p:spPr>
          <a:xfrm>
            <a:off x="1" y="441324"/>
            <a:ext cx="5988050" cy="5651501"/>
          </a:xfrm>
        </p:spPr>
      </p:pic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D7740E89-EA43-DC5A-6D07-D89FF124C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48AD3930-78BC-BCE5-74E3-E2B34789F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6451D-1641-964E-B995-104A5CF7FFD9}" type="slidenum">
              <a:rPr lang="it-IT" smtClean="0"/>
              <a:pPr/>
              <a:t>11</a:t>
            </a:fld>
            <a:endParaRPr lang="it-IT" dirty="0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590800ED-8945-D047-3878-FEBADA7FB7B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it-IT" sz="1709">
                <a:latin typeface="Karla"/>
              </a:rPr>
              <a:t>copy, comunicati, schede on-brand</a:t>
            </a:r>
          </a:p>
          <a:p>
            <a:pPr marL="285750" indent="-285750">
              <a:buFont typeface="Arial"/>
              <a:buChar char="•"/>
            </a:pPr>
            <a:r>
              <a:rPr lang="it-IT" sz="1709">
                <a:latin typeface="Karla"/>
              </a:rPr>
              <a:t>lavora su file e strumenti</a:t>
            </a:r>
          </a:p>
          <a:p>
            <a:pPr marL="285750" indent="-285750">
              <a:buFont typeface="Arial"/>
              <a:buChar char="•"/>
            </a:pPr>
            <a:r>
              <a:rPr lang="it-IT" sz="1709">
                <a:latin typeface="Karla"/>
              </a:rPr>
              <a:t>crea documenti, slide e grafiche</a:t>
            </a:r>
          </a:p>
          <a:p>
            <a:pPr marL="285750" indent="-285750">
              <a:buFont typeface="Arial"/>
              <a:buChar char="•"/>
            </a:pPr>
            <a:r>
              <a:rPr lang="it-IT" sz="1709">
                <a:latin typeface="Karla"/>
              </a:rPr>
              <a:t>automatizza lavori ripetitivi</a:t>
            </a:r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9ABFC639-551E-1750-F630-7AB63B013F1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it-IT">
                <a:latin typeface="Karla"/>
              </a:rPr>
              <a:t>L'assistente AI di Anthropic. Modelli attuali: Opus 5.5 e Sonnet 5.5. Forte su ragionamento, scrittura curata e lavoro su documenti e cartelle.</a:t>
            </a:r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8ADFBBC1-E015-5FC2-6F1C-8BC9D9FE217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it-IT"/>
              <a:t>Per il marketing</a:t>
            </a:r>
          </a:p>
        </p:txBody>
      </p:sp>
      <p:sp>
        <p:nvSpPr>
          <p:cNvPr id="8" name="Segnaposto testo 7">
            <a:extLst>
              <a:ext uri="{FF2B5EF4-FFF2-40B4-BE49-F238E27FC236}">
                <a16:creationId xmlns:a16="http://schemas.microsoft.com/office/drawing/2014/main" id="{045F09C8-7A0B-2D82-048C-89CC08258D2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it-IT"/>
              <a:t>Cos'è</a:t>
            </a:r>
          </a:p>
        </p:txBody>
      </p:sp>
      <p:cxnSp>
        <p:nvCxnSpPr>
          <p:cNvPr id="11" name="Connettore 1 10">
            <a:extLst>
              <a:ext uri="{FF2B5EF4-FFF2-40B4-BE49-F238E27FC236}">
                <a16:creationId xmlns:a16="http://schemas.microsoft.com/office/drawing/2014/main" id="{947085F4-0B86-8C4A-8E9A-B06A870BD802}"/>
              </a:ext>
            </a:extLst>
          </p:cNvPr>
          <p:cNvCxnSpPr>
            <a:cxnSpLocks/>
          </p:cNvCxnSpPr>
          <p:nvPr/>
        </p:nvCxnSpPr>
        <p:spPr>
          <a:xfrm>
            <a:off x="6203950" y="441325"/>
            <a:ext cx="5580063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ttore 1 12">
            <a:extLst>
              <a:ext uri="{FF2B5EF4-FFF2-40B4-BE49-F238E27FC236}">
                <a16:creationId xmlns:a16="http://schemas.microsoft.com/office/drawing/2014/main" id="{20AD8D09-B887-384E-AF26-4F84A3FEFB90}"/>
              </a:ext>
            </a:extLst>
          </p:cNvPr>
          <p:cNvCxnSpPr>
            <a:cxnSpLocks/>
          </p:cNvCxnSpPr>
          <p:nvPr/>
        </p:nvCxnSpPr>
        <p:spPr>
          <a:xfrm>
            <a:off x="6203950" y="3429000"/>
            <a:ext cx="5580063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ttore 1 11">
            <a:extLst>
              <a:ext uri="{FF2B5EF4-FFF2-40B4-BE49-F238E27FC236}">
                <a16:creationId xmlns:a16="http://schemas.microsoft.com/office/drawing/2014/main" id="{512EB736-D425-92EA-963D-D08F6E3906AE}"/>
              </a:ext>
            </a:extLst>
          </p:cNvPr>
          <p:cNvCxnSpPr>
            <a:cxnSpLocks/>
          </p:cNvCxnSpPr>
          <p:nvPr/>
        </p:nvCxnSpPr>
        <p:spPr>
          <a:xfrm>
            <a:off x="6199588" y="454382"/>
            <a:ext cx="5580063" cy="0"/>
          </a:xfrm>
          <a:prstGeom prst="line">
            <a:avLst/>
          </a:prstGeom>
          <a:ln w="15875"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ttore 1 13">
            <a:extLst>
              <a:ext uri="{FF2B5EF4-FFF2-40B4-BE49-F238E27FC236}">
                <a16:creationId xmlns:a16="http://schemas.microsoft.com/office/drawing/2014/main" id="{6C74E27F-FB86-CCFC-B304-F01F71AB7A24}"/>
              </a:ext>
            </a:extLst>
          </p:cNvPr>
          <p:cNvCxnSpPr>
            <a:cxnSpLocks/>
          </p:cNvCxnSpPr>
          <p:nvPr/>
        </p:nvCxnSpPr>
        <p:spPr>
          <a:xfrm>
            <a:off x="6199588" y="3478153"/>
            <a:ext cx="5580063" cy="0"/>
          </a:xfrm>
          <a:prstGeom prst="line">
            <a:avLst/>
          </a:prstGeom>
          <a:ln w="15875"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Segnaposto immagine 9" descr="Immagine che contiene interno, interior design, muro, soffitto&#10;&#10;Il contenuto generato dall'IA potrebbe non essere corretto.">
            <a:extLst>
              <a:ext uri="{FF2B5EF4-FFF2-40B4-BE49-F238E27FC236}">
                <a16:creationId xmlns:a16="http://schemas.microsoft.com/office/drawing/2014/main" id="{0E30B22B-36A8-4A36-3F8E-BA9DE1BC07CB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3"/>
          <a:srcRect l="15" r="15"/>
          <a:stretch>
            <a:fillRect/>
          </a:stretch>
        </p:blipFill>
        <p:spPr>
          <a:xfrm>
            <a:off x="1" y="441324"/>
            <a:ext cx="5988050" cy="5651501"/>
          </a:xfrm>
        </p:spPr>
      </p:pic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51E6D9C1-6652-F14B-33AC-6E8FD9711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80DE77F-7D5E-A394-737F-5251C093A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6451D-1641-964E-B995-104A5CF7FFD9}" type="slidenum">
              <a:rPr lang="it-IT" smtClean="0"/>
              <a:pPr/>
              <a:t>12</a:t>
            </a:fld>
            <a:endParaRPr lang="it-IT" dirty="0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678C8310-1E7B-4250-0C1E-D3C48A7C40D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it-IT" sz="1620">
                <a:latin typeface="Karla"/>
              </a:rPr>
              <a:t>riassumere thread di mail lunghi</a:t>
            </a:r>
          </a:p>
          <a:p>
            <a:pPr marL="285750" indent="-285750">
              <a:buFont typeface="Arial"/>
              <a:buChar char="•"/>
            </a:pPr>
            <a:r>
              <a:rPr lang="it-IT" sz="1620">
                <a:latin typeface="Karla"/>
              </a:rPr>
              <a:t>cercare file e informazioni in Drive</a:t>
            </a:r>
          </a:p>
          <a:p>
            <a:pPr marL="285750" indent="-285750">
              <a:buFont typeface="Arial"/>
              <a:buChar char="•"/>
            </a:pPr>
            <a:r>
              <a:rPr lang="it-IT" sz="1620">
                <a:latin typeface="Karla"/>
              </a:rPr>
              <a:t>NotebookLM su brand book e cataloghi</a:t>
            </a:r>
          </a:p>
          <a:p>
            <a:pPr marL="285750" indent="-285750">
              <a:buFont typeface="Arial"/>
              <a:buChar char="•"/>
            </a:pPr>
            <a:r>
              <a:rPr lang="it-IT" sz="1620">
                <a:latin typeface="Karla"/>
              </a:rPr>
              <a:t>immagini (Nano Banana) e video (Veo)</a:t>
            </a:r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36C47D9A-E3B2-49D5-133D-34210BC413A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it-IT">
                <a:latin typeface="Karla"/>
              </a:rPr>
              <a:t>L'assistente AI di Google, già presente in ogni account Gmail. Modelli 3.x Flash e Pro. Vive dentro Gmail, Drive, Documenti, Fogli e Meet.</a:t>
            </a:r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5C83EFD7-7A83-9EC9-4F8A-FCD1C0ED130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it-IT"/>
              <a:t>Per il marketing</a:t>
            </a:r>
          </a:p>
        </p:txBody>
      </p:sp>
      <p:sp>
        <p:nvSpPr>
          <p:cNvPr id="8" name="Segnaposto testo 7">
            <a:extLst>
              <a:ext uri="{FF2B5EF4-FFF2-40B4-BE49-F238E27FC236}">
                <a16:creationId xmlns:a16="http://schemas.microsoft.com/office/drawing/2014/main" id="{EFAA5162-FD8F-A9C2-DDDF-65637CD0418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it-IT"/>
              <a:t>Cos'è</a:t>
            </a:r>
          </a:p>
        </p:txBody>
      </p:sp>
      <p:cxnSp>
        <p:nvCxnSpPr>
          <p:cNvPr id="11" name="Connettore 1 10">
            <a:extLst>
              <a:ext uri="{FF2B5EF4-FFF2-40B4-BE49-F238E27FC236}">
                <a16:creationId xmlns:a16="http://schemas.microsoft.com/office/drawing/2014/main" id="{26E6A3F1-1138-C810-5BE0-89DFB5B6CD74}"/>
              </a:ext>
            </a:extLst>
          </p:cNvPr>
          <p:cNvCxnSpPr>
            <a:cxnSpLocks/>
          </p:cNvCxnSpPr>
          <p:nvPr/>
        </p:nvCxnSpPr>
        <p:spPr>
          <a:xfrm>
            <a:off x="6203950" y="441325"/>
            <a:ext cx="5580063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ttore 1 12">
            <a:extLst>
              <a:ext uri="{FF2B5EF4-FFF2-40B4-BE49-F238E27FC236}">
                <a16:creationId xmlns:a16="http://schemas.microsoft.com/office/drawing/2014/main" id="{707D02A4-951D-2269-B7D1-0FE03923480E}"/>
              </a:ext>
            </a:extLst>
          </p:cNvPr>
          <p:cNvCxnSpPr>
            <a:cxnSpLocks/>
          </p:cNvCxnSpPr>
          <p:nvPr/>
        </p:nvCxnSpPr>
        <p:spPr>
          <a:xfrm>
            <a:off x="6203950" y="3465096"/>
            <a:ext cx="5580063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Segnaposto immagine 9">
            <a:extLst>
              <a:ext uri="{FF2B5EF4-FFF2-40B4-BE49-F238E27FC236}">
                <a16:creationId xmlns:a16="http://schemas.microsoft.com/office/drawing/2014/main" id="{CAE37786-BBA6-42F4-2E26-A808E55CFBAA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3"/>
          <a:srcRect l="15" r="15"/>
          <a:stretch>
            <a:fillRect/>
          </a:stretch>
        </p:blipFill>
        <p:spPr>
          <a:xfrm>
            <a:off x="1" y="441324"/>
            <a:ext cx="5988050" cy="5651501"/>
          </a:xfrm>
        </p:spPr>
      </p:pic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D7740E89-EA43-DC5A-6D07-D89FF124C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48AD3930-78BC-BCE5-74E3-E2B34789F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6451D-1641-964E-B995-104A5CF7FFD9}" type="slidenum">
              <a:rPr lang="it-IT" smtClean="0"/>
              <a:pPr/>
              <a:t>13</a:t>
            </a:fld>
            <a:endParaRPr lang="it-IT" dirty="0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590800ED-8945-D047-3878-FEBADA7FB7B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it-IT">
                <a:latin typeface="Karla"/>
              </a:rPr>
              <a:t>trend di settore e design</a:t>
            </a:r>
          </a:p>
          <a:p>
            <a:pPr marL="285750" indent="-285750">
              <a:buFont typeface="Arial"/>
              <a:buChar char="•"/>
            </a:pPr>
            <a:r>
              <a:rPr lang="it-IT">
                <a:latin typeface="Karla"/>
              </a:rPr>
              <a:t>monitoraggio competitor</a:t>
            </a:r>
          </a:p>
          <a:p>
            <a:pPr marL="285750" indent="-285750">
              <a:buFont typeface="Arial"/>
              <a:buChar char="•"/>
            </a:pPr>
            <a:r>
              <a:rPr lang="it-IT">
                <a:latin typeface="Karla"/>
              </a:rPr>
              <a:t>dati di mercato con fonte</a:t>
            </a:r>
          </a:p>
          <a:p>
            <a:pPr marL="285750" indent="-285750">
              <a:buFont typeface="Arial"/>
              <a:buChar char="•"/>
            </a:pPr>
            <a:r>
              <a:rPr lang="it-IT">
                <a:latin typeface="Karla"/>
              </a:rPr>
              <a:t>preparazione a fiere ed eventi</a:t>
            </a:r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9ABFC639-551E-1750-F630-7AB63B013F1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it-IT">
                <a:latin typeface="Karla"/>
              </a:rPr>
              <a:t>Un motore di risposta: cerca sul web e risponde citando le fonti, cliccabili. Ha anche Deep Research e il browser AI Comet.</a:t>
            </a:r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8ADFBBC1-E015-5FC2-6F1C-8BC9D9FE217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it-IT"/>
              <a:t>Per il marketing</a:t>
            </a:r>
          </a:p>
        </p:txBody>
      </p:sp>
      <p:sp>
        <p:nvSpPr>
          <p:cNvPr id="8" name="Segnaposto testo 7">
            <a:extLst>
              <a:ext uri="{FF2B5EF4-FFF2-40B4-BE49-F238E27FC236}">
                <a16:creationId xmlns:a16="http://schemas.microsoft.com/office/drawing/2014/main" id="{045F09C8-7A0B-2D82-048C-89CC08258D2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it-IT"/>
              <a:t>Cos'è</a:t>
            </a:r>
          </a:p>
        </p:txBody>
      </p:sp>
      <p:cxnSp>
        <p:nvCxnSpPr>
          <p:cNvPr id="11" name="Connettore 1 10">
            <a:extLst>
              <a:ext uri="{FF2B5EF4-FFF2-40B4-BE49-F238E27FC236}">
                <a16:creationId xmlns:a16="http://schemas.microsoft.com/office/drawing/2014/main" id="{947085F4-0B86-8C4A-8E9A-B06A870BD802}"/>
              </a:ext>
            </a:extLst>
          </p:cNvPr>
          <p:cNvCxnSpPr>
            <a:cxnSpLocks/>
          </p:cNvCxnSpPr>
          <p:nvPr/>
        </p:nvCxnSpPr>
        <p:spPr>
          <a:xfrm>
            <a:off x="6203950" y="441325"/>
            <a:ext cx="5580063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ttore 1 12">
            <a:extLst>
              <a:ext uri="{FF2B5EF4-FFF2-40B4-BE49-F238E27FC236}">
                <a16:creationId xmlns:a16="http://schemas.microsoft.com/office/drawing/2014/main" id="{20AD8D09-B887-384E-AF26-4F84A3FEFB90}"/>
              </a:ext>
            </a:extLst>
          </p:cNvPr>
          <p:cNvCxnSpPr>
            <a:cxnSpLocks/>
          </p:cNvCxnSpPr>
          <p:nvPr/>
        </p:nvCxnSpPr>
        <p:spPr>
          <a:xfrm>
            <a:off x="6203950" y="3429000"/>
            <a:ext cx="5580063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ttore 1 11">
            <a:extLst>
              <a:ext uri="{FF2B5EF4-FFF2-40B4-BE49-F238E27FC236}">
                <a16:creationId xmlns:a16="http://schemas.microsoft.com/office/drawing/2014/main" id="{512EB736-D425-92EA-963D-D08F6E3906AE}"/>
              </a:ext>
            </a:extLst>
          </p:cNvPr>
          <p:cNvCxnSpPr>
            <a:cxnSpLocks/>
          </p:cNvCxnSpPr>
          <p:nvPr/>
        </p:nvCxnSpPr>
        <p:spPr>
          <a:xfrm>
            <a:off x="6199588" y="454382"/>
            <a:ext cx="5580063" cy="0"/>
          </a:xfrm>
          <a:prstGeom prst="line">
            <a:avLst/>
          </a:prstGeom>
          <a:ln w="15875"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ttore 1 13">
            <a:extLst>
              <a:ext uri="{FF2B5EF4-FFF2-40B4-BE49-F238E27FC236}">
                <a16:creationId xmlns:a16="http://schemas.microsoft.com/office/drawing/2014/main" id="{6C74E27F-FB86-CCFC-B304-F01F71AB7A24}"/>
              </a:ext>
            </a:extLst>
          </p:cNvPr>
          <p:cNvCxnSpPr>
            <a:cxnSpLocks/>
          </p:cNvCxnSpPr>
          <p:nvPr/>
        </p:nvCxnSpPr>
        <p:spPr>
          <a:xfrm>
            <a:off x="6199588" y="3478153"/>
            <a:ext cx="5580063" cy="0"/>
          </a:xfrm>
          <a:prstGeom prst="line">
            <a:avLst/>
          </a:prstGeom>
          <a:ln w="15875"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Segnaposto immagine 9" descr="Immagine che contiene interno, interior design, muro, soffitto&#10;&#10;Il contenuto generato dall'IA potrebbe non essere corretto.">
            <a:extLst>
              <a:ext uri="{FF2B5EF4-FFF2-40B4-BE49-F238E27FC236}">
                <a16:creationId xmlns:a16="http://schemas.microsoft.com/office/drawing/2014/main" id="{0E30B22B-36A8-4A36-3F8E-BA9DE1BC07CB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3"/>
          <a:srcRect l="15" r="15"/>
          <a:stretch>
            <a:fillRect/>
          </a:stretch>
        </p:blipFill>
        <p:spPr>
          <a:xfrm>
            <a:off x="1" y="441324"/>
            <a:ext cx="5988050" cy="5651501"/>
          </a:xfrm>
        </p:spPr>
      </p:pic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51E6D9C1-6652-F14B-33AC-6E8FD9711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80DE77F-7D5E-A394-737F-5251C093A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6451D-1641-964E-B995-104A5CF7FFD9}" type="slidenum">
              <a:rPr lang="it-IT" smtClean="0"/>
              <a:pPr/>
              <a:t>14</a:t>
            </a:fld>
            <a:endParaRPr lang="it-IT" dirty="0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678C8310-1E7B-4250-0C1E-D3C48A7C40D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it-IT">
                <a:latin typeface="Karla"/>
              </a:rPr>
              <a:t>moodboard e concept di ambientazione</a:t>
            </a:r>
          </a:p>
          <a:p>
            <a:pPr marL="285750" indent="-285750">
              <a:buFont typeface="Arial"/>
              <a:buChar char="•"/>
            </a:pPr>
            <a:r>
              <a:rPr lang="it-IT">
                <a:latin typeface="Karla"/>
              </a:rPr>
              <a:t>visual social e teaser video</a:t>
            </a:r>
          </a:p>
          <a:p>
            <a:pPr marL="285750" indent="-285750">
              <a:buFont typeface="Arial"/>
              <a:buChar char="•"/>
            </a:pPr>
            <a:r>
              <a:rPr lang="it-IT">
                <a:latin typeface="Karla"/>
              </a:rPr>
              <a:t>approfondimento nella sezione 11</a:t>
            </a:r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36C47D9A-E3B2-49D5-133D-34210BC413A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it-IT">
                <a:latin typeface="Karla"/>
              </a:rPr>
              <a:t>Una piattaforma per generare immagini e video con molti modelli diversi in un solo posto. Fa parte di Canva.</a:t>
            </a:r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5C83EFD7-7A83-9EC9-4F8A-FCD1C0ED130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it-IT"/>
              <a:t>Per il marketing</a:t>
            </a:r>
          </a:p>
        </p:txBody>
      </p:sp>
      <p:sp>
        <p:nvSpPr>
          <p:cNvPr id="8" name="Segnaposto testo 7">
            <a:extLst>
              <a:ext uri="{FF2B5EF4-FFF2-40B4-BE49-F238E27FC236}">
                <a16:creationId xmlns:a16="http://schemas.microsoft.com/office/drawing/2014/main" id="{EFAA5162-FD8F-A9C2-DDDF-65637CD0418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it-IT"/>
              <a:t>Cos'è</a:t>
            </a:r>
          </a:p>
        </p:txBody>
      </p:sp>
      <p:cxnSp>
        <p:nvCxnSpPr>
          <p:cNvPr id="11" name="Connettore 1 10">
            <a:extLst>
              <a:ext uri="{FF2B5EF4-FFF2-40B4-BE49-F238E27FC236}">
                <a16:creationId xmlns:a16="http://schemas.microsoft.com/office/drawing/2014/main" id="{26E6A3F1-1138-C810-5BE0-89DFB5B6CD74}"/>
              </a:ext>
            </a:extLst>
          </p:cNvPr>
          <p:cNvCxnSpPr>
            <a:cxnSpLocks/>
          </p:cNvCxnSpPr>
          <p:nvPr/>
        </p:nvCxnSpPr>
        <p:spPr>
          <a:xfrm>
            <a:off x="6203950" y="441325"/>
            <a:ext cx="5580063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ttore 1 12">
            <a:extLst>
              <a:ext uri="{FF2B5EF4-FFF2-40B4-BE49-F238E27FC236}">
                <a16:creationId xmlns:a16="http://schemas.microsoft.com/office/drawing/2014/main" id="{707D02A4-951D-2269-B7D1-0FE03923480E}"/>
              </a:ext>
            </a:extLst>
          </p:cNvPr>
          <p:cNvCxnSpPr>
            <a:cxnSpLocks/>
          </p:cNvCxnSpPr>
          <p:nvPr/>
        </p:nvCxnSpPr>
        <p:spPr>
          <a:xfrm>
            <a:off x="6203950" y="3465096"/>
            <a:ext cx="5580063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Segnaposto immagine 16" descr="Immagine che contiene arredo, interior design, interno, muro&#10;&#10;Il contenuto generato dall'IA potrebbe non essere corretto.">
            <a:extLst>
              <a:ext uri="{FF2B5EF4-FFF2-40B4-BE49-F238E27FC236}">
                <a16:creationId xmlns:a16="http://schemas.microsoft.com/office/drawing/2014/main" id="{A2009422-89A6-EEE3-8915-EC80353F714A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3"/>
          <a:srcRect l="53" r="53"/>
          <a:stretch>
            <a:fillRect/>
          </a:stretch>
        </p:blipFill>
        <p:spPr>
          <a:xfrm>
            <a:off x="0" y="1773238"/>
            <a:ext cx="11784013" cy="4319587"/>
          </a:xfrm>
        </p:spPr>
      </p:pic>
      <p:sp>
        <p:nvSpPr>
          <p:cNvPr id="12" name="Titolo 11">
            <a:extLst>
              <a:ext uri="{FF2B5EF4-FFF2-40B4-BE49-F238E27FC236}">
                <a16:creationId xmlns:a16="http://schemas.microsoft.com/office/drawing/2014/main" id="{C67F1C3F-C869-B3E5-976B-8ACF72C960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4384" y="441325"/>
            <a:ext cx="3682184" cy="839334"/>
          </a:xfrm>
        </p:spPr>
        <p:txBody>
          <a:bodyPr/>
          <a:lstStyle/>
          <a:p>
            <a:r>
              <a:rPr lang="it-IT"/>
              <a:t>Quale AI per cosa</a:t>
            </a: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CED3D252-A3B8-5967-C08C-30A52050E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59395" y="6356350"/>
            <a:ext cx="1922987" cy="365125"/>
          </a:xfrm>
        </p:spPr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33F14E5-F6E6-228D-05C4-C12B4BA70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38555" y="6356350"/>
            <a:ext cx="723280" cy="365125"/>
          </a:xfrm>
        </p:spPr>
        <p:txBody>
          <a:bodyPr/>
          <a:lstStyle/>
          <a:p>
            <a:fld id="{13D6451D-1641-964E-B995-104A5CF7FFD9}" type="slidenum">
              <a:rPr lang="it-IT" smtClean="0"/>
              <a:pPr/>
              <a:t>15</a:t>
            </a:fld>
            <a:endParaRPr lang="it-IT" dirty="0"/>
          </a:p>
        </p:txBody>
      </p:sp>
      <p:sp>
        <p:nvSpPr>
          <p:cNvPr id="14" name="Segnaposto testo 13">
            <a:extLst>
              <a:ext uri="{FF2B5EF4-FFF2-40B4-BE49-F238E27FC236}">
                <a16:creationId xmlns:a16="http://schemas.microsoft.com/office/drawing/2014/main" id="{60DC93EE-17B2-3081-2D65-210FB2E6A8C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050232" y="590106"/>
            <a:ext cx="3825245" cy="906181"/>
          </a:xfrm>
        </p:spPr>
        <p:txBody>
          <a:bodyPr/>
          <a:lstStyle/>
          <a:p>
            <a:r>
              <a:rPr lang="it-IT">
                <a:latin typeface="Karla"/>
              </a:rPr>
              <a:t>Si usano insieme: ognuna nel suo punto di forza.</a:t>
            </a:r>
          </a:p>
        </p:txBody>
      </p:sp>
      <p:cxnSp>
        <p:nvCxnSpPr>
          <p:cNvPr id="23" name="Connettore 1 22">
            <a:extLst>
              <a:ext uri="{FF2B5EF4-FFF2-40B4-BE49-F238E27FC236}">
                <a16:creationId xmlns:a16="http://schemas.microsoft.com/office/drawing/2014/main" id="{B019C9E0-904B-93F1-F693-C4477C1EB3C6}"/>
              </a:ext>
            </a:extLst>
          </p:cNvPr>
          <p:cNvCxnSpPr>
            <a:cxnSpLocks/>
          </p:cNvCxnSpPr>
          <p:nvPr/>
        </p:nvCxnSpPr>
        <p:spPr>
          <a:xfrm>
            <a:off x="6203950" y="441325"/>
            <a:ext cx="5580063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tangolo 2">
            <a:extLst>
              <a:ext uri="{FF2B5EF4-FFF2-40B4-BE49-F238E27FC236}">
                <a16:creationId xmlns:a16="http://schemas.microsoft.com/office/drawing/2014/main" id="{FE3F8970-ADB9-FC80-EE5C-032B8DDA03C8}"/>
              </a:ext>
            </a:extLst>
          </p:cNvPr>
          <p:cNvSpPr/>
          <p:nvPr/>
        </p:nvSpPr>
        <p:spPr>
          <a:xfrm>
            <a:off x="0" y="3442446"/>
            <a:ext cx="12192000" cy="341555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F658AAB5-4DA6-E1F8-E32F-066FF90705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3978" y="4115920"/>
            <a:ext cx="5608587" cy="687414"/>
          </a:xfrm>
        </p:spPr>
        <p:txBody>
          <a:bodyPr/>
          <a:lstStyle/>
          <a:p>
            <a:r>
              <a:rPr lang="it-IT"/>
              <a:t>Il prompt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1026BD36-5398-6256-97FF-323A74260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59395" y="6356350"/>
            <a:ext cx="1922987" cy="365125"/>
          </a:xfrm>
        </p:spPr>
        <p:txBody>
          <a:bodyPr/>
          <a:lstStyle/>
          <a:p>
            <a:endParaRPr lang="it-IT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88B0C64A-590C-FCF6-0BA0-546ED8029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38555" y="6356350"/>
            <a:ext cx="723280" cy="365125"/>
          </a:xfrm>
        </p:spPr>
        <p:txBody>
          <a:bodyPr/>
          <a:lstStyle/>
          <a:p>
            <a:fld id="{13D6451D-1641-964E-B995-104A5CF7FFD9}" type="slidenum">
              <a:rPr lang="it-IT" smtClean="0"/>
              <a:pPr/>
              <a:t>16</a:t>
            </a:fld>
            <a:endParaRPr lang="it-IT" dirty="0"/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C6FAFAA2-E607-9ED6-0BD6-A042B53336A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49604" y="4869610"/>
            <a:ext cx="5638820" cy="931862"/>
          </a:xfrm>
        </p:spPr>
        <p:txBody>
          <a:bodyPr/>
          <a:lstStyle/>
          <a:p>
            <a:r>
              <a:rPr lang="it-IT" sz="2519"/>
              <a:t>Sezione 02 · Come si parla a un'AI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7D589769-AD7F-BB90-79EE-7A3DFE1D75E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787" y="6333330"/>
            <a:ext cx="1991187" cy="41237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Segnaposto immagine 8">
            <a:extLst>
              <a:ext uri="{FF2B5EF4-FFF2-40B4-BE49-F238E27FC236}">
                <a16:creationId xmlns:a16="http://schemas.microsoft.com/office/drawing/2014/main" id="{D490F890-9535-1D19-A962-590048E02653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3"/>
          <a:srcRect t="22" b="22"/>
          <a:stretch/>
        </p:blipFill>
        <p:spPr/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52FCED8D-8495-0BAE-2528-4DB7E1F63B2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/>
              <a:t>Prima e dopo</a:t>
            </a: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04967EC0-FBF8-AD8E-C14B-6258F784C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F4C06DC-F34A-E75A-E4AC-D01C254BB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6451D-1641-964E-B995-104A5CF7FFD9}" type="slidenum">
              <a:rPr lang="it-IT" smtClean="0"/>
              <a:pPr/>
              <a:t>17</a:t>
            </a:fld>
            <a:endParaRPr lang="it-IT" dirty="0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4E0E7862-74EF-9DCF-EB43-CE802E12B08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it-IT" sz="1620">
                <a:latin typeface="Karla"/>
              </a:rPr>
              <a:t>PROMPT COMPLETO</a:t>
            </a:r>
          </a:p>
          <a:p>
            <a:r>
              <a:rPr lang="it-IT" sz="1620">
                <a:latin typeface="Karla"/>
              </a:rPr>
              <a:t>«Sei il social media manager di un brand di cucine di alta gamma. Scrivi 3 varianti di caption per il lancio di un modello, pubblico architetti e famiglie. Tono elegante, max 300 caratteri, 3 hashtag.»</a:t>
            </a:r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005F6C86-3C5D-801C-04E9-9455A529212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it-IT">
                <a:latin typeface="Karla"/>
              </a:rPr>
              <a:t>PROMPT VAGO</a:t>
            </a:r>
          </a:p>
          <a:p>
            <a:r>
              <a:rPr lang="it-IT">
                <a:latin typeface="Karla"/>
              </a:rPr>
              <a:t>«Scrivi un post Instagram per la nuova cucina.»</a:t>
            </a:r>
          </a:p>
          <a:p>
            <a:r>
              <a:rPr lang="it-IT">
                <a:latin typeface="Karla"/>
              </a:rPr>
              <a:t>Risultato: generico, adatto a qualsiasi marchio.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82084B6-88DB-9582-3110-FC43DB65D6C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/>
              <a:t>Tre trucchi</a:t>
            </a:r>
            <a:br>
              <a:rPr lang="it-IT"/>
            </a:br>
            <a:r>
              <a:rPr lang="it-IT"/>
              <a:t>che funzionano</a:t>
            </a: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48B3B4FE-A5AE-15B5-039E-6B12456D4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9327E34A-D472-0C69-68BB-722F741F8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6451D-1641-964E-B995-104A5CF7FFD9}" type="slidenum">
              <a:rPr lang="it-IT" smtClean="0"/>
              <a:pPr/>
              <a:t>18</a:t>
            </a:fld>
            <a:endParaRPr lang="it-IT" dirty="0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BC36876A-8A9D-A20E-B94E-9472D4FFFC6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it-IT">
                <a:latin typeface="Karla"/>
              </a:rPr>
              <a:t>1. Dai un ruolo: «Sei il copywriter del nostro brand». Cambia registro e profondità.</a:t>
            </a:r>
          </a:p>
          <a:p>
            <a:r>
              <a:rPr lang="it-IT">
                <a:latin typeface="Karla"/>
              </a:rPr>
              <a:t>2. Mostra esempi: incolla 2 o 3 testi approvati e chiedi lo stesso stile.</a:t>
            </a:r>
          </a:p>
          <a:p>
            <a:r>
              <a:rPr lang="it-IT">
                <a:latin typeface="Karla"/>
              </a:rPr>
              <a:t>3. Itera nella stessa chat: «più breve», «meno aggettivi», «aggiungi una call to action».</a:t>
            </a:r>
          </a:p>
          <a:p>
            <a:r>
              <a:rPr lang="it-IT">
                <a:latin typeface="Karla"/>
              </a:rPr>
              <a:t>Bonus: chiedi all'AI di farti domande prima di rispondere. «Prima di scrivere, chiedimi cosa ti serve sapere.»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Segnaposto immagine 16" descr="Immagine che contiene arredo, interior design, interno, muro&#10;&#10;Il contenuto generato dall'IA potrebbe non essere corretto.">
            <a:extLst>
              <a:ext uri="{FF2B5EF4-FFF2-40B4-BE49-F238E27FC236}">
                <a16:creationId xmlns:a16="http://schemas.microsoft.com/office/drawing/2014/main" id="{A2009422-89A6-EEE3-8915-EC80353F714A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3"/>
          <a:srcRect l="53" r="53"/>
          <a:stretch>
            <a:fillRect/>
          </a:stretch>
        </p:blipFill>
        <p:spPr>
          <a:xfrm>
            <a:off x="0" y="1773238"/>
            <a:ext cx="11784013" cy="4319587"/>
          </a:xfrm>
        </p:spPr>
      </p:pic>
      <p:sp>
        <p:nvSpPr>
          <p:cNvPr id="12" name="Titolo 11">
            <a:extLst>
              <a:ext uri="{FF2B5EF4-FFF2-40B4-BE49-F238E27FC236}">
                <a16:creationId xmlns:a16="http://schemas.microsoft.com/office/drawing/2014/main" id="{C67F1C3F-C869-B3E5-976B-8ACF72C960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4384" y="441325"/>
            <a:ext cx="3682184" cy="839334"/>
          </a:xfrm>
        </p:spPr>
        <p:txBody>
          <a:bodyPr/>
          <a:lstStyle/>
          <a:p>
            <a:r>
              <a:rPr lang="it-IT"/>
              <a:t>Pipeline: 3 trend 2027</a:t>
            </a: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CED3D252-A3B8-5967-C08C-30A52050E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59395" y="6356350"/>
            <a:ext cx="1922987" cy="365125"/>
          </a:xfrm>
        </p:spPr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33F14E5-F6E6-228D-05C4-C12B4BA70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38555" y="6356350"/>
            <a:ext cx="723280" cy="365125"/>
          </a:xfrm>
        </p:spPr>
        <p:txBody>
          <a:bodyPr/>
          <a:lstStyle/>
          <a:p>
            <a:fld id="{13D6451D-1641-964E-B995-104A5CF7FFD9}" type="slidenum">
              <a:rPr lang="it-IT" smtClean="0"/>
              <a:pPr/>
              <a:t>19</a:t>
            </a:fld>
            <a:endParaRPr lang="it-IT" dirty="0"/>
          </a:p>
        </p:txBody>
      </p:sp>
      <p:sp>
        <p:nvSpPr>
          <p:cNvPr id="14" name="Segnaposto testo 13">
            <a:extLst>
              <a:ext uri="{FF2B5EF4-FFF2-40B4-BE49-F238E27FC236}">
                <a16:creationId xmlns:a16="http://schemas.microsoft.com/office/drawing/2014/main" id="{60DC93EE-17B2-3081-2D65-210FB2E6A8C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050232" y="590106"/>
            <a:ext cx="3825245" cy="906181"/>
          </a:xfrm>
        </p:spPr>
        <p:txBody>
          <a:bodyPr/>
          <a:lstStyle/>
          <a:p>
            <a:r>
              <a:rPr lang="it-IT">
                <a:latin typeface="Karla"/>
              </a:rPr>
              <a:t>Percorso consigliato: tre tendenze 2027 nel living, un post per ciascuna.</a:t>
            </a:r>
          </a:p>
        </p:txBody>
      </p:sp>
      <p:cxnSp>
        <p:nvCxnSpPr>
          <p:cNvPr id="23" name="Connettore 1 22">
            <a:extLst>
              <a:ext uri="{FF2B5EF4-FFF2-40B4-BE49-F238E27FC236}">
                <a16:creationId xmlns:a16="http://schemas.microsoft.com/office/drawing/2014/main" id="{B019C9E0-904B-93F1-F693-C4477C1EB3C6}"/>
              </a:ext>
            </a:extLst>
          </p:cNvPr>
          <p:cNvCxnSpPr>
            <a:cxnSpLocks/>
          </p:cNvCxnSpPr>
          <p:nvPr/>
        </p:nvCxnSpPr>
        <p:spPr>
          <a:xfrm>
            <a:off x="6203950" y="441325"/>
            <a:ext cx="5580063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D6D2C2E-63BE-BD1D-D3EC-EB9AD88E6D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6070" y="441325"/>
            <a:ext cx="5661980" cy="1976905"/>
          </a:xfrm>
        </p:spPr>
        <p:txBody>
          <a:bodyPr/>
          <a:lstStyle/>
          <a:p>
            <a:r>
              <a:rPr lang="it-IT"/>
              <a:t>I prompt della</a:t>
            </a:r>
            <a:br>
              <a:rPr lang="it-IT"/>
            </a:br>
            <a:r>
              <a:rPr lang="it-IT"/>
              <a:t>pipeline</a:t>
            </a: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EB4573C2-5844-268A-A52E-80A5C4406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59395" y="6356350"/>
            <a:ext cx="1922987" cy="365125"/>
          </a:xfrm>
        </p:spPr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D91C807-1730-C2AC-4674-119E09F89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38555" y="6356350"/>
            <a:ext cx="723280" cy="365125"/>
          </a:xfrm>
        </p:spPr>
        <p:txBody>
          <a:bodyPr/>
          <a:lstStyle/>
          <a:p>
            <a:fld id="{13D6451D-1641-964E-B995-104A5CF7FFD9}" type="slidenum">
              <a:rPr lang="it-IT" smtClean="0"/>
              <a:pPr/>
              <a:t>20</a:t>
            </a:fld>
            <a:endParaRPr lang="it-IT" dirty="0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43BE69A5-5685-BC6E-944E-F2B75A38B70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03950" y="684843"/>
            <a:ext cx="5721350" cy="4849813"/>
          </a:xfrm>
        </p:spPr>
        <p:txBody>
          <a:bodyPr/>
          <a:lstStyle/>
          <a:p>
            <a:r>
              <a:rPr lang="it-IT">
                <a:latin typeface="Karla"/>
              </a:rPr>
              <a:t>1. Perplexity: «Quali sono le tendenze 2027 nell'arredo living? Tre tendenze con fonti di settore, per ognuna materiali, colori e un esempio.»</a:t>
            </a:r>
          </a:p>
          <a:p>
            <a:r>
              <a:rPr lang="it-IT">
                <a:latin typeface="Karla"/>
              </a:rPr>
              <a:t>2. Tu: apri le fonti, scarta ciò che non è solido.</a:t>
            </a:r>
          </a:p>
          <a:p>
            <a:r>
              <a:rPr lang="it-IT">
                <a:latin typeface="Karla"/>
              </a:rPr>
              <a:t>3. Claude, nel progetto del brand: «Per ognuna di queste 3 tendenze proponi un'idea di post Instagram con caption nel nostro tono di voce.»</a:t>
            </a:r>
          </a:p>
          <a:p>
            <a:r>
              <a:rPr lang="it-IT">
                <a:latin typeface="Karla"/>
              </a:rPr>
              <a:t>4. Leonardo AI: un prompt immagine per tendenza (vedi sezione 11).</a:t>
            </a:r>
          </a:p>
          <a:p>
            <a:r>
              <a:rPr lang="it-IT">
                <a:latin typeface="Karla"/>
              </a:rPr>
              <a:t>5. Claude Design: «Impagina i 3 post in formato 4:5 con i colori del brand.»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tangolo 2">
            <a:extLst>
              <a:ext uri="{FF2B5EF4-FFF2-40B4-BE49-F238E27FC236}">
                <a16:creationId xmlns:a16="http://schemas.microsoft.com/office/drawing/2014/main" id="{F1C1CB56-4283-FDE5-69B6-03C379DE730D}"/>
              </a:ext>
            </a:extLst>
          </p:cNvPr>
          <p:cNvSpPr/>
          <p:nvPr/>
        </p:nvSpPr>
        <p:spPr>
          <a:xfrm>
            <a:off x="0" y="1662953"/>
            <a:ext cx="12192000" cy="353209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C52D1058-C56A-8891-A9DF-AB8158E3954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/>
              <a:t>Tre a confronto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A11C4E15-DDA8-85EE-18EB-919634828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FCC6785C-0674-6D8A-9339-DED2764C8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6451D-1641-964E-B995-104A5CF7FFD9}" type="slidenum">
              <a:rPr lang="it-IT" smtClean="0"/>
              <a:pPr/>
              <a:t>21</a:t>
            </a:fld>
            <a:endParaRPr lang="it-IT" dirty="0"/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C9460520-20F1-CFF9-73B3-8EA7BFE31C6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it-IT" sz="2519"/>
              <a:t>Sezione 03 · ChatGPT, Claude e Gemini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6D47EF5-7F82-9505-7D2B-E3131CCC95D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/>
              <a:t>Cosa hanno</a:t>
            </a:r>
            <a:br>
              <a:rPr lang="it-IT"/>
            </a:br>
            <a:r>
              <a:rPr lang="it-IT"/>
              <a:t>in comune</a:t>
            </a: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62D1BC6C-5EAC-6542-91A5-5AECDCF2B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A673DE2-373C-4810-E2D9-AB4A00DE4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6451D-1641-964E-B995-104A5CF7FFD9}" type="slidenum">
              <a:rPr lang="it-IT" smtClean="0"/>
              <a:pPr/>
              <a:t>22</a:t>
            </a:fld>
            <a:endParaRPr lang="it-IT" dirty="0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B9C44978-D868-95C9-90D3-998C3AC4C6E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it-IT">
                <a:latin typeface="Karla"/>
              </a:rPr>
              <a:t>Oggi ChatGPT, Claude e Gemini si assomigliano più di quanto sembri:</a:t>
            </a:r>
          </a:p>
          <a:p>
            <a:pPr marL="285750" indent="-285750">
              <a:buFont typeface="Arial"/>
              <a:buChar char="•"/>
            </a:pPr>
            <a:r>
              <a:rPr lang="it-IT">
                <a:latin typeface="Karla"/>
              </a:rPr>
              <a:t>chat con ricerca sul web e caricamento file</a:t>
            </a:r>
          </a:p>
          <a:p>
            <a:pPr marL="285750" indent="-285750">
              <a:buFont typeface="Arial"/>
              <a:buChar char="•"/>
            </a:pPr>
            <a:r>
              <a:rPr lang="it-IT">
                <a:latin typeface="Karla"/>
              </a:rPr>
              <a:t>progetti o spazi con istruzioni e documenti</a:t>
            </a:r>
          </a:p>
          <a:p>
            <a:pPr marL="285750" indent="-285750">
              <a:buFont typeface="Arial"/>
              <a:buChar char="•"/>
            </a:pPr>
            <a:r>
              <a:rPr lang="it-IT">
                <a:latin typeface="Karla"/>
              </a:rPr>
              <a:t>memoria delle conversazioni</a:t>
            </a:r>
          </a:p>
          <a:p>
            <a:pPr marL="285750" indent="-285750">
              <a:buFont typeface="Arial"/>
              <a:buChar char="•"/>
            </a:pPr>
            <a:r>
              <a:rPr lang="it-IT">
                <a:latin typeface="Karla"/>
              </a:rPr>
              <a:t>connessione ad app esterne (mail, calendario, drive)</a:t>
            </a:r>
          </a:p>
          <a:p>
            <a:pPr marL="285750" indent="-285750">
              <a:buFont typeface="Arial"/>
              <a:buChar char="•"/>
            </a:pPr>
            <a:r>
              <a:rPr lang="it-IT">
                <a:latin typeface="Karla"/>
              </a:rPr>
              <a:t>agenti che svolgono compiti in più passaggi</a:t>
            </a:r>
          </a:p>
          <a:p>
            <a:pPr marL="285750" indent="-285750">
              <a:buFont typeface="Arial"/>
              <a:buChar char="•"/>
            </a:pPr>
            <a:r>
              <a:rPr lang="it-IT">
                <a:latin typeface="Karla"/>
              </a:rPr>
              <a:t>piano individuale a circa 20 dollari al mese</a:t>
            </a:r>
          </a:p>
          <a:p>
            <a:r>
              <a:rPr lang="it-IT">
                <a:latin typeface="Karla"/>
              </a:rPr>
              <a:t>La differenza sta nel carattere e in come lavorano con te.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Segnaposto immagine 8">
            <a:extLst>
              <a:ext uri="{FF2B5EF4-FFF2-40B4-BE49-F238E27FC236}">
                <a16:creationId xmlns:a16="http://schemas.microsoft.com/office/drawing/2014/main" id="{A12B5639-49C3-6C26-0924-928DA7BFD00C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3"/>
          <a:srcRect t="20" b="20"/>
          <a:stretch/>
        </p:blipFill>
        <p:spPr>
          <a:xfrm>
            <a:off x="-1" y="441325"/>
            <a:ext cx="7876903" cy="5651499"/>
          </a:xfr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1D5DC4FF-FFB6-C57F-B0E5-4318214EE4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64533" y="415199"/>
            <a:ext cx="3682184" cy="839334"/>
          </a:xfrm>
        </p:spPr>
        <p:txBody>
          <a:bodyPr/>
          <a:lstStyle/>
          <a:p>
            <a:r>
              <a:rPr lang="it-IT"/>
              <a:t>Il confronto</a:t>
            </a: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4670410F-3B65-AB9C-CC0C-3C0901C4F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59395" y="6356350"/>
            <a:ext cx="1922987" cy="365125"/>
          </a:xfrm>
        </p:spPr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F0158C3-5C5A-B6DD-0789-921BAFF0F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38555" y="6356350"/>
            <a:ext cx="723280" cy="365125"/>
          </a:xfrm>
        </p:spPr>
        <p:txBody>
          <a:bodyPr/>
          <a:lstStyle/>
          <a:p>
            <a:fld id="{13D6451D-1641-964E-B995-104A5CF7FFD9}" type="slidenum">
              <a:rPr lang="it-IT" smtClean="0"/>
              <a:pPr/>
              <a:t>23</a:t>
            </a:fld>
            <a:endParaRPr lang="it-IT" dirty="0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417462D0-F733-FF6E-518E-4B63287CB29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050232" y="1736475"/>
            <a:ext cx="3825245" cy="2357734"/>
          </a:xfrm>
        </p:spPr>
        <p:txBody>
          <a:bodyPr/>
          <a:lstStyle/>
          <a:p>
            <a:r>
              <a:rPr lang="it-IT" sz="1709">
                <a:latin typeface="Karla"/>
              </a:rPr>
              <a:t>ChatGPT corre e genera immagini.</a:t>
            </a:r>
          </a:p>
          <a:p>
            <a:r>
              <a:rPr lang="it-IT" sz="1709">
                <a:latin typeface="Karla"/>
              </a:rPr>
              <a:t>Claude ragiona, scrive con cura e lavora dentro file e strumenti.</a:t>
            </a:r>
          </a:p>
          <a:p>
            <a:r>
              <a:rPr lang="it-IT" sz="1709">
                <a:latin typeface="Karla"/>
              </a:rPr>
              <a:t>Gemini è già dentro Gmail e Drive.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6D47EF5-7F82-9505-7D2B-E3131CCC95D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/>
              <a:t>Quando uso</a:t>
            </a:r>
            <a:br>
              <a:rPr lang="it-IT"/>
            </a:br>
            <a:r>
              <a:rPr lang="it-IT"/>
              <a:t>cosa</a:t>
            </a: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62D1BC6C-5EAC-6542-91A5-5AECDCF2B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A673DE2-373C-4810-E2D9-AB4A00DE4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6451D-1641-964E-B995-104A5CF7FFD9}" type="slidenum">
              <a:rPr lang="it-IT" smtClean="0"/>
              <a:pPr/>
              <a:t>24</a:t>
            </a:fld>
            <a:endParaRPr lang="it-IT" dirty="0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B9C44978-D868-95C9-90D3-998C3AC4C6E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it-IT">
                <a:latin typeface="Karla"/>
              </a:rPr>
              <a:t>ChatGPT quando serve velocità, un'immagine al volo o un'app del suo ecosistema.</a:t>
            </a:r>
          </a:p>
          <a:p>
            <a:r>
              <a:rPr lang="it-IT">
                <a:latin typeface="Karla"/>
              </a:rPr>
              <a:t>Gemini quando il lavoro è dentro Gmail, Drive o Documenti Google.</a:t>
            </a:r>
          </a:p>
          <a:p>
            <a:r>
              <a:rPr lang="it-IT">
                <a:latin typeface="Karla"/>
              </a:rPr>
              <a:t>Claude quando il testo deve essere curato e on-brand, quando lavori su documenti lunghi o vuoi che l'AI agisca su cartelle e strumenti.</a:t>
            </a:r>
          </a:p>
          <a:p>
            <a:r>
              <a:rPr lang="it-IT">
                <a:latin typeface="Karla"/>
              </a:rPr>
              <a:t>Nel dubbio: prova la stessa richiesta su due strumenti e confronta.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A81D45F-1ED3-2F8E-40A5-68FE7D57A0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3978" y="4115919"/>
            <a:ext cx="7939410" cy="1976905"/>
          </a:xfrm>
        </p:spPr>
        <p:txBody>
          <a:bodyPr/>
          <a:lstStyle/>
          <a:p>
            <a:r>
              <a:rPr lang="it-IT" sz="5949"/>
              <a:t>Il metodo conta</a:t>
            </a:r>
            <a:br>
              <a:rPr lang="it-IT" sz="5949"/>
            </a:br>
            <a:r>
              <a:rPr lang="it-IT" sz="5949"/>
              <a:t>più dello strumento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8FF8FCF6-42BE-35B4-3961-7DB8446978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59395" y="6356350"/>
            <a:ext cx="1922987" cy="365125"/>
          </a:xfrm>
        </p:spPr>
        <p:txBody>
          <a:bodyPr/>
          <a:lstStyle/>
          <a:p>
            <a:endParaRPr lang="it-IT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ED49A683-4143-57CB-9B86-419BC8D2D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38555" y="6356350"/>
            <a:ext cx="723280" cy="365125"/>
          </a:xfrm>
        </p:spPr>
        <p:txBody>
          <a:bodyPr/>
          <a:lstStyle/>
          <a:p>
            <a:fld id="{13D6451D-1641-964E-B995-104A5CF7FFD9}" type="slidenum">
              <a:rPr lang="it-IT" smtClean="0"/>
              <a:pPr/>
              <a:t>25</a:t>
            </a:fld>
            <a:endParaRPr lang="it-IT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tangolo 2">
            <a:extLst>
              <a:ext uri="{FF2B5EF4-FFF2-40B4-BE49-F238E27FC236}">
                <a16:creationId xmlns:a16="http://schemas.microsoft.com/office/drawing/2014/main" id="{FE3F8970-ADB9-FC80-EE5C-032B8DDA03C8}"/>
              </a:ext>
            </a:extLst>
          </p:cNvPr>
          <p:cNvSpPr/>
          <p:nvPr/>
        </p:nvSpPr>
        <p:spPr>
          <a:xfrm>
            <a:off x="0" y="3442446"/>
            <a:ext cx="12192000" cy="341555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F658AAB5-4DA6-E1F8-E32F-066FF90705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3978" y="4115920"/>
            <a:ext cx="5608587" cy="687414"/>
          </a:xfrm>
        </p:spPr>
        <p:txBody>
          <a:bodyPr/>
          <a:lstStyle/>
          <a:p>
            <a:r>
              <a:rPr lang="it-IT"/>
              <a:t>Dentro Claude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1026BD36-5398-6256-97FF-323A74260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59395" y="6356350"/>
            <a:ext cx="1922987" cy="365125"/>
          </a:xfrm>
        </p:spPr>
        <p:txBody>
          <a:bodyPr/>
          <a:lstStyle/>
          <a:p>
            <a:endParaRPr lang="it-IT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88B0C64A-590C-FCF6-0BA0-546ED8029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38555" y="6356350"/>
            <a:ext cx="723280" cy="365125"/>
          </a:xfrm>
        </p:spPr>
        <p:txBody>
          <a:bodyPr/>
          <a:lstStyle/>
          <a:p>
            <a:fld id="{13D6451D-1641-964E-B995-104A5CF7FFD9}" type="slidenum">
              <a:rPr lang="it-IT" smtClean="0"/>
              <a:pPr/>
              <a:t>26</a:t>
            </a:fld>
            <a:endParaRPr lang="it-IT" dirty="0"/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C6FAFAA2-E607-9ED6-0BD6-A042B53336A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49604" y="4869610"/>
            <a:ext cx="5638820" cy="931862"/>
          </a:xfrm>
        </p:spPr>
        <p:txBody>
          <a:bodyPr/>
          <a:lstStyle/>
          <a:p>
            <a:r>
              <a:rPr lang="it-IT" sz="2379"/>
              <a:t>Sezione 04 · Superfici, modalità, area di lavoro, modelli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7D589769-AD7F-BB90-79EE-7A3DFE1D75E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787" y="6333330"/>
            <a:ext cx="1991187" cy="412376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Segnaposto immagine 16" descr="Immagine che contiene arredo, interior design, interno, muro&#10;&#10;Il contenuto generato dall'IA potrebbe non essere corretto.">
            <a:extLst>
              <a:ext uri="{FF2B5EF4-FFF2-40B4-BE49-F238E27FC236}">
                <a16:creationId xmlns:a16="http://schemas.microsoft.com/office/drawing/2014/main" id="{A2009422-89A6-EEE3-8915-EC80353F714A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3"/>
          <a:srcRect l="53" r="53"/>
          <a:stretch>
            <a:fillRect/>
          </a:stretch>
        </p:blipFill>
        <p:spPr>
          <a:xfrm>
            <a:off x="0" y="1773238"/>
            <a:ext cx="11784013" cy="4319587"/>
          </a:xfrm>
        </p:spPr>
      </p:pic>
      <p:sp>
        <p:nvSpPr>
          <p:cNvPr id="12" name="Titolo 11">
            <a:extLst>
              <a:ext uri="{FF2B5EF4-FFF2-40B4-BE49-F238E27FC236}">
                <a16:creationId xmlns:a16="http://schemas.microsoft.com/office/drawing/2014/main" id="{C67F1C3F-C869-B3E5-976B-8ACF72C960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4384" y="441325"/>
            <a:ext cx="3682184" cy="839334"/>
          </a:xfrm>
        </p:spPr>
        <p:txBody>
          <a:bodyPr/>
          <a:lstStyle/>
          <a:p>
            <a:r>
              <a:rPr lang="it-IT"/>
              <a:t>La mappa di Claude</a:t>
            </a: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CED3D252-A3B8-5967-C08C-30A52050E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59395" y="6356350"/>
            <a:ext cx="1922987" cy="365125"/>
          </a:xfrm>
        </p:spPr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33F14E5-F6E6-228D-05C4-C12B4BA70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38555" y="6356350"/>
            <a:ext cx="723280" cy="365125"/>
          </a:xfrm>
        </p:spPr>
        <p:txBody>
          <a:bodyPr/>
          <a:lstStyle/>
          <a:p>
            <a:fld id="{13D6451D-1641-964E-B995-104A5CF7FFD9}" type="slidenum">
              <a:rPr lang="it-IT" smtClean="0"/>
              <a:pPr/>
              <a:t>27</a:t>
            </a:fld>
            <a:endParaRPr lang="it-IT" dirty="0"/>
          </a:p>
        </p:txBody>
      </p:sp>
      <p:sp>
        <p:nvSpPr>
          <p:cNvPr id="14" name="Segnaposto testo 13">
            <a:extLst>
              <a:ext uri="{FF2B5EF4-FFF2-40B4-BE49-F238E27FC236}">
                <a16:creationId xmlns:a16="http://schemas.microsoft.com/office/drawing/2014/main" id="{60DC93EE-17B2-3081-2D65-210FB2E6A8C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050232" y="590106"/>
            <a:ext cx="3825245" cy="906181"/>
          </a:xfrm>
        </p:spPr>
        <p:txBody>
          <a:bodyPr/>
          <a:lstStyle/>
          <a:p>
            <a:r>
              <a:rPr lang="it-IT">
                <a:latin typeface="Karla"/>
              </a:rPr>
              <a:t>Otto mattoni. Si parte da chat e progetti, il resto si aggiunge quando serve.</a:t>
            </a:r>
          </a:p>
        </p:txBody>
      </p:sp>
      <p:cxnSp>
        <p:nvCxnSpPr>
          <p:cNvPr id="23" name="Connettore 1 22">
            <a:extLst>
              <a:ext uri="{FF2B5EF4-FFF2-40B4-BE49-F238E27FC236}">
                <a16:creationId xmlns:a16="http://schemas.microsoft.com/office/drawing/2014/main" id="{B019C9E0-904B-93F1-F693-C4477C1EB3C6}"/>
              </a:ext>
            </a:extLst>
          </p:cNvPr>
          <p:cNvCxnSpPr>
            <a:cxnSpLocks/>
          </p:cNvCxnSpPr>
          <p:nvPr/>
        </p:nvCxnSpPr>
        <p:spPr>
          <a:xfrm>
            <a:off x="6203950" y="441325"/>
            <a:ext cx="5580063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F793BD9-74D4-443D-ADCB-E58599E2CD1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/>
              <a:t>Dove si usa</a:t>
            </a:r>
            <a:br>
              <a:rPr lang="it-IT"/>
            </a:br>
            <a:r>
              <a:rPr lang="it-IT"/>
              <a:t>Claude</a:t>
            </a: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D30CE9DD-37E3-B2D7-45DD-D66DD31C9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C84CF9C-4371-9672-F423-35D96CFAD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6451D-1641-964E-B995-104A5CF7FFD9}" type="slidenum">
              <a:rPr lang="it-IT" smtClean="0"/>
              <a:pPr/>
              <a:t>28</a:t>
            </a:fld>
            <a:endParaRPr lang="it-IT" dirty="0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B41D3C8E-18B5-19A9-C672-37F093B9A05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it-IT" sz="1620">
                <a:latin typeface="Karla"/>
              </a:rPr>
              <a:t>Lo stesso Claude, in più posti:</a:t>
            </a:r>
          </a:p>
          <a:p>
            <a:pPr marL="285750" indent="-285750">
              <a:buFont typeface="Arial"/>
              <a:buChar char="•"/>
            </a:pPr>
            <a:r>
              <a:rPr lang="it-IT" sz="1620">
                <a:latin typeface="Karla"/>
              </a:rPr>
              <a:t>App desktop (Mac e Windows): la versione completa, consigliata</a:t>
            </a:r>
          </a:p>
          <a:p>
            <a:pPr marL="285750" indent="-285750">
              <a:buFont typeface="Arial"/>
              <a:buChar char="•"/>
            </a:pPr>
            <a:r>
              <a:rPr lang="it-IT" sz="1620">
                <a:latin typeface="Karla"/>
              </a:rPr>
              <a:t>Browser, su claude.ai: comodo da qualsiasi computer</a:t>
            </a:r>
          </a:p>
          <a:p>
            <a:pPr marL="285750" indent="-285750">
              <a:buFont typeface="Arial"/>
              <a:buChar char="•"/>
            </a:pPr>
            <a:r>
              <a:rPr lang="it-IT" sz="1620">
                <a:latin typeface="Karla"/>
              </a:rPr>
              <a:t>App mobile: per chattare, dettare e seguire le attività in corso</a:t>
            </a:r>
          </a:p>
          <a:p>
            <a:pPr marL="285750" indent="-285750">
              <a:buFont typeface="Arial"/>
              <a:buChar char="•"/>
            </a:pPr>
            <a:r>
              <a:rPr lang="it-IT" sz="1620">
                <a:latin typeface="Karla"/>
              </a:rPr>
              <a:t>Claude in Chrome: un'estensione che naviga e agisce sui siti</a:t>
            </a:r>
          </a:p>
          <a:p>
            <a:pPr marL="285750" indent="-285750">
              <a:buFont typeface="Arial"/>
              <a:buChar char="•"/>
            </a:pPr>
            <a:r>
              <a:rPr lang="it-IT" sz="1620">
                <a:latin typeface="Karla"/>
              </a:rPr>
              <a:t>Claude in Excel e PowerPoint: lavora dentro i file Office</a:t>
            </a:r>
          </a:p>
          <a:p>
            <a:pPr marL="285750" indent="-285750">
              <a:buFont typeface="Arial"/>
              <a:buChar char="•"/>
            </a:pPr>
            <a:r>
              <a:rPr lang="it-IT" sz="1620">
                <a:latin typeface="Karla"/>
              </a:rPr>
              <a:t>Claude per Google Workspace (beta): in Documenti, Fogli e Presentazioni</a:t>
            </a:r>
          </a:p>
          <a:p>
            <a:r>
              <a:rPr lang="it-IT" sz="1620">
                <a:latin typeface="Karla"/>
              </a:rPr>
              <a:t>Account, progetti, artifact e attività pianificate sono gli stessi ovunque.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Segnaposto immagine 8">
            <a:extLst>
              <a:ext uri="{FF2B5EF4-FFF2-40B4-BE49-F238E27FC236}">
                <a16:creationId xmlns:a16="http://schemas.microsoft.com/office/drawing/2014/main" id="{A12B5639-49C3-6C26-0924-928DA7BFD00C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3"/>
          <a:srcRect t="20" b="20"/>
          <a:stretch/>
        </p:blipFill>
        <p:spPr>
          <a:xfrm>
            <a:off x="-1" y="441325"/>
            <a:ext cx="7876903" cy="5651499"/>
          </a:xfr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1D5DC4FF-FFB6-C57F-B0E5-4318214EE4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64533" y="415199"/>
            <a:ext cx="3682184" cy="839334"/>
          </a:xfrm>
        </p:spPr>
        <p:txBody>
          <a:bodyPr/>
          <a:lstStyle/>
          <a:p>
            <a:r>
              <a:rPr lang="it-IT"/>
              <a:t>Desktop o browser?</a:t>
            </a: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4670410F-3B65-AB9C-CC0C-3C0901C4F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59395" y="6356350"/>
            <a:ext cx="1922987" cy="365125"/>
          </a:xfrm>
        </p:spPr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F0158C3-5C5A-B6DD-0789-921BAFF0F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38555" y="6356350"/>
            <a:ext cx="723280" cy="365125"/>
          </a:xfrm>
        </p:spPr>
        <p:txBody>
          <a:bodyPr/>
          <a:lstStyle/>
          <a:p>
            <a:fld id="{13D6451D-1641-964E-B995-104A5CF7FFD9}" type="slidenum">
              <a:rPr lang="it-IT" smtClean="0"/>
              <a:pPr/>
              <a:t>29</a:t>
            </a:fld>
            <a:endParaRPr lang="it-IT" dirty="0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417462D0-F733-FF6E-518E-4B63287CB29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050232" y="1736475"/>
            <a:ext cx="3825245" cy="2357734"/>
          </a:xfrm>
        </p:spPr>
        <p:txBody>
          <a:bodyPr/>
          <a:lstStyle/>
          <a:p>
            <a:r>
              <a:rPr lang="it-IT">
                <a:latin typeface="Karla"/>
              </a:rPr>
              <a:t>L'app desktop è la porta verso il tuo computer: cartelle, browser integrato e computer use funzionano solo mentre è aperta, anche se lavori dal browser o dal telefono.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Segnaposto immagine 16" descr="Immagine che contiene arredo, interior design, interno, muro&#10;&#10;Il contenuto generato dall'IA potrebbe non essere corretto.">
            <a:extLst>
              <a:ext uri="{FF2B5EF4-FFF2-40B4-BE49-F238E27FC236}">
                <a16:creationId xmlns:a16="http://schemas.microsoft.com/office/drawing/2014/main" id="{A2009422-89A6-EEE3-8915-EC80353F714A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3"/>
          <a:srcRect l="53" r="53"/>
          <a:stretch>
            <a:fillRect/>
          </a:stretch>
        </p:blipFill>
        <p:spPr>
          <a:xfrm>
            <a:off x="0" y="1773238"/>
            <a:ext cx="11784013" cy="4319587"/>
          </a:xfrm>
        </p:spPr>
      </p:pic>
      <p:sp>
        <p:nvSpPr>
          <p:cNvPr id="12" name="Titolo 11">
            <a:extLst>
              <a:ext uri="{FF2B5EF4-FFF2-40B4-BE49-F238E27FC236}">
                <a16:creationId xmlns:a16="http://schemas.microsoft.com/office/drawing/2014/main" id="{C67F1C3F-C869-B3E5-976B-8ACF72C960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4384" y="441325"/>
            <a:ext cx="3682184" cy="839334"/>
          </a:xfrm>
        </p:spPr>
        <p:txBody>
          <a:bodyPr/>
          <a:lstStyle/>
          <a:p>
            <a:r>
              <a:rPr lang="it-IT"/>
              <a:t>Una sola conversazione</a:t>
            </a: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CED3D252-A3B8-5967-C08C-30A52050E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59395" y="6356350"/>
            <a:ext cx="1922987" cy="365125"/>
          </a:xfrm>
        </p:spPr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33F14E5-F6E6-228D-05C4-C12B4BA70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38555" y="6356350"/>
            <a:ext cx="723280" cy="365125"/>
          </a:xfrm>
        </p:spPr>
        <p:txBody>
          <a:bodyPr/>
          <a:lstStyle/>
          <a:p>
            <a:fld id="{13D6451D-1641-964E-B995-104A5CF7FFD9}" type="slidenum">
              <a:rPr lang="it-IT" smtClean="0"/>
              <a:pPr/>
              <a:t>30</a:t>
            </a:fld>
            <a:endParaRPr lang="it-IT" dirty="0"/>
          </a:p>
        </p:txBody>
      </p:sp>
      <p:sp>
        <p:nvSpPr>
          <p:cNvPr id="14" name="Segnaposto testo 13">
            <a:extLst>
              <a:ext uri="{FF2B5EF4-FFF2-40B4-BE49-F238E27FC236}">
                <a16:creationId xmlns:a16="http://schemas.microsoft.com/office/drawing/2014/main" id="{60DC93EE-17B2-3081-2D65-210FB2E6A8C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050232" y="590106"/>
            <a:ext cx="3825245" cy="906181"/>
          </a:xfrm>
        </p:spPr>
        <p:txBody>
          <a:bodyPr/>
          <a:lstStyle/>
          <a:p>
            <a:r>
              <a:rPr lang="it-IT">
                <a:latin typeface="Karla"/>
              </a:rPr>
              <a:t>Con l'ultimo aggiornamento non si sceglie più tra Chat e Cowork: Claude capisce da solo cosa serve.</a:t>
            </a:r>
          </a:p>
        </p:txBody>
      </p:sp>
      <p:cxnSp>
        <p:nvCxnSpPr>
          <p:cNvPr id="23" name="Connettore 1 22">
            <a:extLst>
              <a:ext uri="{FF2B5EF4-FFF2-40B4-BE49-F238E27FC236}">
                <a16:creationId xmlns:a16="http://schemas.microsoft.com/office/drawing/2014/main" id="{B019C9E0-904B-93F1-F693-C4477C1EB3C6}"/>
              </a:ext>
            </a:extLst>
          </p:cNvPr>
          <p:cNvCxnSpPr>
            <a:cxnSpLocks/>
          </p:cNvCxnSpPr>
          <p:nvPr/>
        </p:nvCxnSpPr>
        <p:spPr>
          <a:xfrm>
            <a:off x="6203950" y="441325"/>
            <a:ext cx="5580063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ADED681-84E5-AEB9-F436-72396F9B8E8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/>
              <a:t>Cosa è</a:t>
            </a:r>
            <a:br>
              <a:rPr lang="it-IT"/>
            </a:br>
            <a:r>
              <a:rPr lang="it-IT"/>
              <a:t>cambiato</a:t>
            </a: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9F09FC85-CEA7-237E-6BE2-7B9206D04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4E4368F-7A30-F387-08EE-7E7CBE9CC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6451D-1641-964E-B995-104A5CF7FFD9}" type="slidenum">
              <a:rPr lang="it-IT" smtClean="0"/>
              <a:pPr/>
              <a:t>31</a:t>
            </a:fld>
            <a:endParaRPr lang="it-IT" dirty="0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60D7638C-CC8E-08F3-B3C2-B1A51502FB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it-IT">
                <a:latin typeface="Karla"/>
              </a:rPr>
              <a:t>Sparisce la scelta tra Chat e Cowork: si scrive e basta.</a:t>
            </a:r>
          </a:p>
          <a:p>
            <a:pPr marL="285750" indent="-285750">
              <a:buFont typeface="Arial"/>
              <a:buChar char="•"/>
            </a:pPr>
            <a:r>
              <a:rPr lang="it-IT">
                <a:latin typeface="Karla"/>
              </a:rPr>
              <a:t>Claude risponde a una domanda veloce o avvia un lavoro (ricerche, report, fogli, presentazioni) nella stessa conversazione.</a:t>
            </a:r>
          </a:p>
          <a:p>
            <a:pPr marL="285750" indent="-285750">
              <a:buFont typeface="Arial"/>
              <a:buChar char="•"/>
            </a:pPr>
            <a:r>
              <a:rPr lang="it-IT">
                <a:latin typeface="Karla"/>
              </a:rPr>
              <a:t>Recenti raccoglie insieme chat e attività.</a:t>
            </a:r>
          </a:p>
          <a:p>
            <a:pPr marL="285750" indent="-285750">
              <a:buFont typeface="Arial"/>
              <a:buChar char="•"/>
            </a:pPr>
            <a:r>
              <a:rPr lang="it-IT">
                <a:latin typeface="Karla"/>
              </a:rPr>
              <a:t>Niente interruttore della ricerca web: Claude cerca quando serve.</a:t>
            </a:r>
          </a:p>
          <a:p>
            <a:pPr marL="285750" indent="-285750">
              <a:buFont typeface="Arial"/>
              <a:buChar char="•"/>
            </a:pPr>
            <a:r>
              <a:rPr lang="it-IT">
                <a:latin typeface="Karla"/>
              </a:rPr>
              <a:t>Ricerca approfondita: /deep-research oppure + &gt; Research.</a:t>
            </a:r>
          </a:p>
          <a:p>
            <a:pPr marL="285750" indent="-285750">
              <a:buFont typeface="Arial"/>
              <a:buChar char="•"/>
            </a:pPr>
            <a:r>
              <a:rPr lang="it-IT">
                <a:latin typeface="Karla"/>
              </a:rPr>
              <a:t>I progetti funzionano in ogni conversazione.</a:t>
            </a:r>
          </a:p>
          <a:p>
            <a:pPr marL="285750" indent="-285750">
              <a:buFont typeface="Arial"/>
              <a:buChar char="•"/>
            </a:pPr>
            <a:r>
              <a:rPr lang="it-IT">
                <a:latin typeface="Karla"/>
              </a:rPr>
              <a:t>La scheda Code resta separata.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F793BD9-74D4-443D-ADCB-E58599E2CD1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/>
              <a:t>Dove sono finite</a:t>
            </a:r>
            <a:br>
              <a:rPr lang="it-IT"/>
            </a:br>
            <a:r>
              <a:rPr lang="it-IT"/>
              <a:t>le cose</a:t>
            </a: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D30CE9DD-37E3-B2D7-45DD-D66DD31C9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C84CF9C-4371-9672-F423-35D96CFAD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6451D-1641-964E-B995-104A5CF7FFD9}" type="slidenum">
              <a:rPr lang="it-IT" smtClean="0"/>
              <a:pPr/>
              <a:t>32</a:t>
            </a:fld>
            <a:endParaRPr lang="it-IT" dirty="0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B41D3C8E-18B5-19A9-C672-37F093B9A05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it-IT" sz="1709">
                <a:latin typeface="Karla"/>
              </a:rPr>
              <a:t>Istruzioni globali di Cowork: ora in Impostazioni &gt; Generali &gt; Istruzioni per Claude.</a:t>
            </a:r>
          </a:p>
          <a:p>
            <a:pPr marL="285750" indent="-285750">
              <a:buFont typeface="Arial"/>
              <a:buChar char="•"/>
            </a:pPr>
            <a:r>
              <a:rPr lang="it-IT" sz="1709">
                <a:latin typeface="Karla"/>
              </a:rPr>
              <a:t>Cartelle autorizzate: Impostazioni &gt; Cartelle attendibili.</a:t>
            </a:r>
          </a:p>
          <a:p>
            <a:pPr marL="285750" indent="-285750">
              <a:buFont typeface="Arial"/>
              <a:buChar char="•"/>
            </a:pPr>
            <a:r>
              <a:rPr lang="it-IT" sz="1709">
                <a:latin typeface="Karla"/>
              </a:rPr>
              <a:t>Cartella dove Cowork salvava i lavori: Impostazioni &gt; Cartella di archiviazione.</a:t>
            </a:r>
          </a:p>
          <a:p>
            <a:pPr marL="285750" indent="-285750">
              <a:buFont typeface="Arial"/>
              <a:buChar char="•"/>
            </a:pPr>
            <a:r>
              <a:rPr lang="it-IT" sz="1709">
                <a:latin typeface="Karla"/>
              </a:rPr>
              <a:t>Permessi: nel riquadro di input, Manuale o Auto.</a:t>
            </a:r>
          </a:p>
          <a:p>
            <a:pPr marL="285750" indent="-285750">
              <a:buFont typeface="Arial"/>
              <a:buChar char="•"/>
            </a:pPr>
            <a:r>
              <a:rPr lang="it-IT" sz="1709">
                <a:latin typeface="Karla"/>
              </a:rPr>
              <a:t>Vecchie attività Cowork: in Recenti, si riaprono come prima.</a:t>
            </a:r>
          </a:p>
          <a:p>
            <a:pPr marL="285750" indent="-285750">
              <a:buFont typeface="Arial"/>
              <a:buChar char="•"/>
            </a:pPr>
            <a:r>
              <a:rPr lang="it-IT" sz="1709">
                <a:latin typeface="Karla"/>
              </a:rPr>
              <a:t>File locali, browser integrato e computer use: solo con l'app desktop aperta.</a:t>
            </a:r>
          </a:p>
          <a:p>
            <a:pPr marL="285750" indent="-285750">
              <a:buFont typeface="Arial"/>
              <a:buChar char="•"/>
            </a:pPr>
            <a:r>
              <a:rPr lang="it-IT" sz="1709">
                <a:latin typeface="Karla"/>
              </a:rPr>
              <a:t>Claude chiede sempre prima di cancellare file in modo definitivo.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egnaposto immagine 4" descr="Immagine che contiene arredo, interior design, interno, muro&#10;&#10;Il contenuto generato dall'IA potrebbe non essere corretto.">
            <a:extLst>
              <a:ext uri="{FF2B5EF4-FFF2-40B4-BE49-F238E27FC236}">
                <a16:creationId xmlns:a16="http://schemas.microsoft.com/office/drawing/2014/main" id="{9C1D55F6-89BD-F2A1-182C-5AF13A6C626B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3"/>
          <a:srcRect t="13" b="13"/>
          <a:stretch>
            <a:fillRect/>
          </a:stretch>
        </p:blipFill>
        <p:spPr>
          <a:xfrm>
            <a:off x="0" y="0"/>
            <a:ext cx="12192000" cy="6857999"/>
          </a:xfrm>
        </p:spPr>
      </p:pic>
      <p:sp>
        <p:nvSpPr>
          <p:cNvPr id="3" name="Titolo 2">
            <a:extLst>
              <a:ext uri="{FF2B5EF4-FFF2-40B4-BE49-F238E27FC236}">
                <a16:creationId xmlns:a16="http://schemas.microsoft.com/office/drawing/2014/main" id="{7DED9C69-CF58-F6DF-9596-07CA0CD5A6C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sz="3419"/>
              <a:t>L'area di lavoro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Segnaposto immagine 16" descr="Immagine che contiene arredo, interior design, interno, muro&#10;&#10;Il contenuto generato dall'IA potrebbe non essere corretto.">
            <a:extLst>
              <a:ext uri="{FF2B5EF4-FFF2-40B4-BE49-F238E27FC236}">
                <a16:creationId xmlns:a16="http://schemas.microsoft.com/office/drawing/2014/main" id="{A2009422-89A6-EEE3-8915-EC80353F714A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3"/>
          <a:srcRect l="53" r="53"/>
          <a:stretch>
            <a:fillRect/>
          </a:stretch>
        </p:blipFill>
        <p:spPr>
          <a:xfrm>
            <a:off x="0" y="1773238"/>
            <a:ext cx="11784013" cy="4319587"/>
          </a:xfrm>
        </p:spPr>
      </p:pic>
      <p:sp>
        <p:nvSpPr>
          <p:cNvPr id="12" name="Titolo 11">
            <a:extLst>
              <a:ext uri="{FF2B5EF4-FFF2-40B4-BE49-F238E27FC236}">
                <a16:creationId xmlns:a16="http://schemas.microsoft.com/office/drawing/2014/main" id="{C67F1C3F-C869-B3E5-976B-8ACF72C960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4384" y="441325"/>
            <a:ext cx="3682184" cy="839334"/>
          </a:xfrm>
        </p:spPr>
        <p:txBody>
          <a:bodyPr/>
          <a:lstStyle/>
          <a:p>
            <a:r>
              <a:rPr lang="it-IT"/>
              <a:t>Come lavora Claude</a:t>
            </a: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CED3D252-A3B8-5967-C08C-30A52050E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59395" y="6356350"/>
            <a:ext cx="1922987" cy="365125"/>
          </a:xfrm>
        </p:spPr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33F14E5-F6E6-228D-05C4-C12B4BA70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38555" y="6356350"/>
            <a:ext cx="723280" cy="365125"/>
          </a:xfrm>
        </p:spPr>
        <p:txBody>
          <a:bodyPr/>
          <a:lstStyle/>
          <a:p>
            <a:fld id="{13D6451D-1641-964E-B995-104A5CF7FFD9}" type="slidenum">
              <a:rPr lang="it-IT" smtClean="0"/>
              <a:pPr/>
              <a:t>34</a:t>
            </a:fld>
            <a:endParaRPr lang="it-IT" dirty="0"/>
          </a:p>
        </p:txBody>
      </p:sp>
      <p:sp>
        <p:nvSpPr>
          <p:cNvPr id="14" name="Segnaposto testo 13">
            <a:extLst>
              <a:ext uri="{FF2B5EF4-FFF2-40B4-BE49-F238E27FC236}">
                <a16:creationId xmlns:a16="http://schemas.microsoft.com/office/drawing/2014/main" id="{60DC93EE-17B2-3081-2D65-210FB2E6A8C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050232" y="590106"/>
            <a:ext cx="3825245" cy="906181"/>
          </a:xfrm>
        </p:spPr>
        <p:txBody>
          <a:bodyPr/>
          <a:lstStyle/>
          <a:p>
            <a:r>
              <a:rPr lang="it-IT">
                <a:latin typeface="Karla"/>
              </a:rPr>
              <a:t>Il ciclo di ogni attività, dalla richiesta alla consegna.</a:t>
            </a:r>
          </a:p>
        </p:txBody>
      </p:sp>
      <p:cxnSp>
        <p:nvCxnSpPr>
          <p:cNvPr id="23" name="Connettore 1 22">
            <a:extLst>
              <a:ext uri="{FF2B5EF4-FFF2-40B4-BE49-F238E27FC236}">
                <a16:creationId xmlns:a16="http://schemas.microsoft.com/office/drawing/2014/main" id="{B019C9E0-904B-93F1-F693-C4477C1EB3C6}"/>
              </a:ext>
            </a:extLst>
          </p:cNvPr>
          <p:cNvCxnSpPr>
            <a:cxnSpLocks/>
          </p:cNvCxnSpPr>
          <p:nvPr/>
        </p:nvCxnSpPr>
        <p:spPr>
          <a:xfrm>
            <a:off x="6203950" y="441325"/>
            <a:ext cx="5580063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D6D2C2E-63BE-BD1D-D3EC-EB9AD88E6D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6070" y="441325"/>
            <a:ext cx="5661980" cy="1976905"/>
          </a:xfrm>
        </p:spPr>
        <p:txBody>
          <a:bodyPr/>
          <a:lstStyle/>
          <a:p>
            <a:r>
              <a:rPr lang="it-IT"/>
              <a:t>Come si imposta</a:t>
            </a:r>
            <a:br>
              <a:rPr lang="it-IT"/>
            </a:br>
            <a:r>
              <a:rPr lang="it-IT"/>
              <a:t>il lavoro</a:t>
            </a: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EB4573C2-5844-268A-A52E-80A5C4406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59395" y="6356350"/>
            <a:ext cx="1922987" cy="365125"/>
          </a:xfrm>
        </p:spPr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D91C807-1730-C2AC-4674-119E09F89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38555" y="6356350"/>
            <a:ext cx="723280" cy="365125"/>
          </a:xfrm>
        </p:spPr>
        <p:txBody>
          <a:bodyPr/>
          <a:lstStyle/>
          <a:p>
            <a:fld id="{13D6451D-1641-964E-B995-104A5CF7FFD9}" type="slidenum">
              <a:rPr lang="it-IT" smtClean="0"/>
              <a:pPr/>
              <a:t>35</a:t>
            </a:fld>
            <a:endParaRPr lang="it-IT" dirty="0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43BE69A5-5685-BC6E-944E-F2B75A38B70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03950" y="684843"/>
            <a:ext cx="5721350" cy="4849813"/>
          </a:xfrm>
        </p:spPr>
        <p:txBody>
          <a:bodyPr/>
          <a:lstStyle/>
          <a:p>
            <a:r>
              <a:rPr lang="it-IT">
                <a:latin typeface="Karla"/>
              </a:rPr>
              <a:t>Tre scelte prima di partire:</a:t>
            </a:r>
          </a:p>
          <a:p>
            <a:pPr marL="285750" indent="-285750">
              <a:buFont typeface="Arial"/>
              <a:buChar char="•"/>
            </a:pPr>
            <a:r>
              <a:rPr lang="it-IT">
                <a:latin typeface="Karla"/>
              </a:rPr>
              <a:t>Permessi: Manuale (predefinito) per iniziare, Claude chiede prima di agire. Auto: lavora da solo con controlli di sicurezza automatici.</a:t>
            </a:r>
          </a:p>
          <a:p>
            <a:pPr marL="285750" indent="-285750">
              <a:buFont typeface="Arial"/>
              <a:buChar char="•"/>
            </a:pPr>
            <a:r>
              <a:rPr lang="it-IT">
                <a:latin typeface="Karla"/>
              </a:rPr>
              <a:t>Dove lavora: una cartella dedicata, mai tutto il disco.</a:t>
            </a:r>
          </a:p>
          <a:p>
            <a:pPr marL="285750" indent="-285750">
              <a:buFont typeface="Arial"/>
              <a:buChar char="•"/>
            </a:pPr>
            <a:r>
              <a:rPr lang="it-IT">
                <a:latin typeface="Karla"/>
              </a:rPr>
              <a:t>Con cosa: solo i connettori e le skill che servono a quel lavoro.</a:t>
            </a:r>
          </a:p>
          <a:p>
            <a:r>
              <a:rPr lang="it-IT">
                <a:latin typeface="Karla"/>
              </a:rPr>
              <a:t>Durante il lavoro puoi fermarlo, correggerlo o dirgli «rifai il punto 3 così».</a:t>
            </a:r>
          </a:p>
          <a:p>
            <a:r>
              <a:rPr lang="it-IT">
                <a:latin typeface="Karla"/>
              </a:rPr>
              <a:t>Alla fine: Claude riassume cosa ha fatto e dove ha salvato i file.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ADED681-84E5-AEB9-F436-72396F9B8E8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/>
              <a:t>Cos'è</a:t>
            </a:r>
            <a:br>
              <a:rPr lang="it-IT"/>
            </a:br>
            <a:r>
              <a:rPr lang="it-IT"/>
              <a:t>un modello</a:t>
            </a: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9F09FC85-CEA7-237E-6BE2-7B9206D04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4E4368F-7A30-F387-08EE-7E7CBE9CC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6451D-1641-964E-B995-104A5CF7FFD9}" type="slidenum">
              <a:rPr lang="it-IT" smtClean="0"/>
              <a:pPr/>
              <a:t>36</a:t>
            </a:fld>
            <a:endParaRPr lang="it-IT" dirty="0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60D7638C-CC8E-08F3-B3C2-B1A51502FB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it-IT" sz="1709">
                <a:latin typeface="Karla"/>
              </a:rPr>
              <a:t>Il modello è il «cervello» che risponde. Anthropic ne offre diversi, come motori di potenza diversa:</a:t>
            </a:r>
          </a:p>
          <a:p>
            <a:pPr marL="285750" indent="-285750">
              <a:buFont typeface="Arial"/>
              <a:buChar char="•"/>
            </a:pPr>
            <a:r>
              <a:rPr lang="it-IT" sz="1709">
                <a:latin typeface="Karla"/>
              </a:rPr>
              <a:t>Haiku: rapido e leggero, per compiti semplici</a:t>
            </a:r>
          </a:p>
          <a:p>
            <a:pPr marL="285750" indent="-285750">
              <a:buFont typeface="Arial"/>
              <a:buChar char="•"/>
            </a:pPr>
            <a:r>
              <a:rPr lang="it-IT" sz="1709">
                <a:latin typeface="Karla"/>
              </a:rPr>
              <a:t>Sonnet: equilibrato, il modello di tutti i giorni</a:t>
            </a:r>
          </a:p>
          <a:p>
            <a:pPr marL="285750" indent="-285750">
              <a:buFont typeface="Arial"/>
              <a:buChar char="•"/>
            </a:pPr>
            <a:r>
              <a:rPr lang="it-IT" sz="1709">
                <a:latin typeface="Karla"/>
              </a:rPr>
              <a:t>Opus: ragionamento profondo, per i lavori seri</a:t>
            </a:r>
          </a:p>
          <a:p>
            <a:pPr marL="285750" indent="-285750">
              <a:buFont typeface="Arial"/>
              <a:buChar char="•"/>
            </a:pPr>
            <a:r>
              <a:rPr lang="it-IT" sz="1709">
                <a:latin typeface="Karla"/>
              </a:rPr>
              <a:t>Fable: per progetti lunghi da portare avanti in autonomia</a:t>
            </a:r>
          </a:p>
          <a:p>
            <a:r>
              <a:rPr lang="it-IT" sz="1709">
                <a:latin typeface="Karla"/>
              </a:rPr>
              <a:t>Il numero (es. 5.5) indica la generazione: più alto, più recente.</a:t>
            </a:r>
          </a:p>
          <a:p>
            <a:r>
              <a:rPr lang="it-IT" sz="1709">
                <a:latin typeface="Karla"/>
              </a:rPr>
              <a:t>Accanto al modello c'è l'effort: quanto Claude ragiona prima di rispondere.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F793BD9-74D4-443D-ADCB-E58599E2CD1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/>
              <a:t>Cos'è</a:t>
            </a:r>
            <a:br>
              <a:rPr lang="it-IT"/>
            </a:br>
            <a:r>
              <a:rPr lang="it-IT"/>
              <a:t>un token</a:t>
            </a: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D30CE9DD-37E3-B2D7-45DD-D66DD31C9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C84CF9C-4371-9672-F423-35D96CFAD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6451D-1641-964E-B995-104A5CF7FFD9}" type="slidenum">
              <a:rPr lang="it-IT" smtClean="0"/>
              <a:pPr/>
              <a:t>37</a:t>
            </a:fld>
            <a:endParaRPr lang="it-IT" dirty="0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B41D3C8E-18B5-19A9-C672-37F093B9A05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it-IT">
                <a:latin typeface="Karla"/>
              </a:rPr>
              <a:t>Il token è l'unità con cui l'AI legge e scrive: un pezzo di parola, circa 3 o 4 caratteri.</a:t>
            </a:r>
          </a:p>
          <a:p>
            <a:r>
              <a:rPr lang="it-IT">
                <a:latin typeface="Karla"/>
              </a:rPr>
              <a:t>Tutto si misura in token:</a:t>
            </a:r>
          </a:p>
          <a:p>
            <a:pPr marL="285750" indent="-285750">
              <a:buFont typeface="Arial"/>
              <a:buChar char="•"/>
            </a:pPr>
            <a:r>
              <a:rPr lang="it-IT">
                <a:latin typeface="Karla"/>
              </a:rPr>
              <a:t>quello che scrivi e gli allegati</a:t>
            </a:r>
          </a:p>
          <a:p>
            <a:pPr marL="285750" indent="-285750">
              <a:buFont typeface="Arial"/>
              <a:buChar char="•"/>
            </a:pPr>
            <a:r>
              <a:rPr lang="it-IT">
                <a:latin typeface="Karla"/>
              </a:rPr>
              <a:t>tutta la conversazione, che Claude rilegge a ogni messaggio</a:t>
            </a:r>
          </a:p>
          <a:p>
            <a:pPr marL="285750" indent="-285750">
              <a:buFont typeface="Arial"/>
              <a:buChar char="•"/>
            </a:pPr>
            <a:r>
              <a:rPr lang="it-IT">
                <a:latin typeface="Karla"/>
              </a:rPr>
              <a:t>il ragionamento interno e la risposta</a:t>
            </a:r>
          </a:p>
          <a:p>
            <a:r>
              <a:rPr lang="it-IT">
                <a:latin typeface="Karla"/>
              </a:rPr>
              <a:t>Il piano ha un limite di utilizzo che si ricarica ogni 5 ore, più un tetto settimanale. Più token consumi, prima lo raggiungi.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Segnaposto immagine 16" descr="Immagine che contiene arredo, interior design, interno, muro&#10;&#10;Il contenuto generato dall'IA potrebbe non essere corretto.">
            <a:extLst>
              <a:ext uri="{FF2B5EF4-FFF2-40B4-BE49-F238E27FC236}">
                <a16:creationId xmlns:a16="http://schemas.microsoft.com/office/drawing/2014/main" id="{A2009422-89A6-EEE3-8915-EC80353F714A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3"/>
          <a:srcRect l="53" r="53"/>
          <a:stretch>
            <a:fillRect/>
          </a:stretch>
        </p:blipFill>
        <p:spPr>
          <a:xfrm>
            <a:off x="0" y="1773238"/>
            <a:ext cx="11784013" cy="4319587"/>
          </a:xfrm>
        </p:spPr>
      </p:pic>
      <p:sp>
        <p:nvSpPr>
          <p:cNvPr id="12" name="Titolo 11">
            <a:extLst>
              <a:ext uri="{FF2B5EF4-FFF2-40B4-BE49-F238E27FC236}">
                <a16:creationId xmlns:a16="http://schemas.microsoft.com/office/drawing/2014/main" id="{C67F1C3F-C869-B3E5-976B-8ACF72C960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4384" y="441325"/>
            <a:ext cx="3682184" cy="839334"/>
          </a:xfrm>
        </p:spPr>
        <p:txBody>
          <a:bodyPr/>
          <a:lstStyle/>
          <a:p>
            <a:r>
              <a:rPr lang="it-IT"/>
              <a:t>Perché le chat lunghe pesano</a:t>
            </a: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CED3D252-A3B8-5967-C08C-30A52050E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59395" y="6356350"/>
            <a:ext cx="1922987" cy="365125"/>
          </a:xfrm>
        </p:spPr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33F14E5-F6E6-228D-05C4-C12B4BA70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38555" y="6356350"/>
            <a:ext cx="723280" cy="365125"/>
          </a:xfrm>
        </p:spPr>
        <p:txBody>
          <a:bodyPr/>
          <a:lstStyle/>
          <a:p>
            <a:fld id="{13D6451D-1641-964E-B995-104A5CF7FFD9}" type="slidenum">
              <a:rPr lang="it-IT" smtClean="0"/>
              <a:pPr/>
              <a:t>38</a:t>
            </a:fld>
            <a:endParaRPr lang="it-IT" dirty="0"/>
          </a:p>
        </p:txBody>
      </p:sp>
      <p:sp>
        <p:nvSpPr>
          <p:cNvPr id="14" name="Segnaposto testo 13">
            <a:extLst>
              <a:ext uri="{FF2B5EF4-FFF2-40B4-BE49-F238E27FC236}">
                <a16:creationId xmlns:a16="http://schemas.microsoft.com/office/drawing/2014/main" id="{60DC93EE-17B2-3081-2D65-210FB2E6A8C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050232" y="590106"/>
            <a:ext cx="3825245" cy="906181"/>
          </a:xfrm>
        </p:spPr>
        <p:txBody>
          <a:bodyPr/>
          <a:lstStyle/>
          <a:p>
            <a:r>
              <a:rPr lang="it-IT">
                <a:latin typeface="Karla"/>
              </a:rPr>
              <a:t>Il messaggio 8 costa quanto tutti i precedenti messi insieme.</a:t>
            </a:r>
          </a:p>
        </p:txBody>
      </p:sp>
      <p:cxnSp>
        <p:nvCxnSpPr>
          <p:cNvPr id="23" name="Connettore 1 22">
            <a:extLst>
              <a:ext uri="{FF2B5EF4-FFF2-40B4-BE49-F238E27FC236}">
                <a16:creationId xmlns:a16="http://schemas.microsoft.com/office/drawing/2014/main" id="{B019C9E0-904B-93F1-F693-C4477C1EB3C6}"/>
              </a:ext>
            </a:extLst>
          </p:cNvPr>
          <p:cNvCxnSpPr>
            <a:cxnSpLocks/>
          </p:cNvCxnSpPr>
          <p:nvPr/>
        </p:nvCxnSpPr>
        <p:spPr>
          <a:xfrm>
            <a:off x="6203950" y="441325"/>
            <a:ext cx="5580063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Segnaposto immagine 16" descr="Immagine che contiene arredo, interior design, interno, muro&#10;&#10;Il contenuto generato dall'IA potrebbe non essere corretto.">
            <a:extLst>
              <a:ext uri="{FF2B5EF4-FFF2-40B4-BE49-F238E27FC236}">
                <a16:creationId xmlns:a16="http://schemas.microsoft.com/office/drawing/2014/main" id="{A2009422-89A6-EEE3-8915-EC80353F714A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3"/>
          <a:srcRect l="53" r="53"/>
          <a:stretch>
            <a:fillRect/>
          </a:stretch>
        </p:blipFill>
        <p:spPr>
          <a:xfrm>
            <a:off x="0" y="1773238"/>
            <a:ext cx="11784013" cy="4319587"/>
          </a:xfrm>
        </p:spPr>
      </p:pic>
      <p:sp>
        <p:nvSpPr>
          <p:cNvPr id="12" name="Titolo 11">
            <a:extLst>
              <a:ext uri="{FF2B5EF4-FFF2-40B4-BE49-F238E27FC236}">
                <a16:creationId xmlns:a16="http://schemas.microsoft.com/office/drawing/2014/main" id="{C67F1C3F-C869-B3E5-976B-8ACF72C960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4384" y="441325"/>
            <a:ext cx="3682184" cy="839334"/>
          </a:xfrm>
        </p:spPr>
        <p:txBody>
          <a:bodyPr/>
          <a:lstStyle/>
          <a:p>
            <a:r>
              <a:rPr lang="it-IT"/>
              <a:t>Modelli e consumo</a:t>
            </a: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CED3D252-A3B8-5967-C08C-30A52050E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59395" y="6356350"/>
            <a:ext cx="1922987" cy="365125"/>
          </a:xfrm>
        </p:spPr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33F14E5-F6E6-228D-05C4-C12B4BA70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38555" y="6356350"/>
            <a:ext cx="723280" cy="365125"/>
          </a:xfrm>
        </p:spPr>
        <p:txBody>
          <a:bodyPr/>
          <a:lstStyle/>
          <a:p>
            <a:fld id="{13D6451D-1641-964E-B995-104A5CF7FFD9}" type="slidenum">
              <a:rPr lang="it-IT" smtClean="0"/>
              <a:pPr/>
              <a:t>39</a:t>
            </a:fld>
            <a:endParaRPr lang="it-IT" dirty="0"/>
          </a:p>
        </p:txBody>
      </p:sp>
      <p:sp>
        <p:nvSpPr>
          <p:cNvPr id="14" name="Segnaposto testo 13">
            <a:extLst>
              <a:ext uri="{FF2B5EF4-FFF2-40B4-BE49-F238E27FC236}">
                <a16:creationId xmlns:a16="http://schemas.microsoft.com/office/drawing/2014/main" id="{60DC93EE-17B2-3081-2D65-210FB2E6A8C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050232" y="590106"/>
            <a:ext cx="3825245" cy="906181"/>
          </a:xfrm>
        </p:spPr>
        <p:txBody>
          <a:bodyPr/>
          <a:lstStyle/>
          <a:p>
            <a:r>
              <a:rPr lang="it-IT">
                <a:latin typeface="Karla"/>
              </a:rPr>
              <a:t>Il modello giusto per il compito giusto: né troppo, né troppo poco.</a:t>
            </a:r>
          </a:p>
        </p:txBody>
      </p:sp>
      <p:cxnSp>
        <p:nvCxnSpPr>
          <p:cNvPr id="23" name="Connettore 1 22">
            <a:extLst>
              <a:ext uri="{FF2B5EF4-FFF2-40B4-BE49-F238E27FC236}">
                <a16:creationId xmlns:a16="http://schemas.microsoft.com/office/drawing/2014/main" id="{B019C9E0-904B-93F1-F693-C4477C1EB3C6}"/>
              </a:ext>
            </a:extLst>
          </p:cNvPr>
          <p:cNvCxnSpPr>
            <a:cxnSpLocks/>
          </p:cNvCxnSpPr>
          <p:nvPr/>
        </p:nvCxnSpPr>
        <p:spPr>
          <a:xfrm>
            <a:off x="6203950" y="441325"/>
            <a:ext cx="5580063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Segnaposto immagine 16" descr="Immagine che contiene arredo, interior design, interno, muro&#10;&#10;Il contenuto generato dall'IA potrebbe non essere corretto.">
            <a:extLst>
              <a:ext uri="{FF2B5EF4-FFF2-40B4-BE49-F238E27FC236}">
                <a16:creationId xmlns:a16="http://schemas.microsoft.com/office/drawing/2014/main" id="{A2009422-89A6-EEE3-8915-EC80353F714A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3"/>
          <a:srcRect l="53" r="53"/>
          <a:stretch>
            <a:fillRect/>
          </a:stretch>
        </p:blipFill>
        <p:spPr>
          <a:xfrm>
            <a:off x="0" y="1773238"/>
            <a:ext cx="11784013" cy="4319587"/>
          </a:xfrm>
        </p:spPr>
      </p:pic>
      <p:sp>
        <p:nvSpPr>
          <p:cNvPr id="12" name="Titolo 11">
            <a:extLst>
              <a:ext uri="{FF2B5EF4-FFF2-40B4-BE49-F238E27FC236}">
                <a16:creationId xmlns:a16="http://schemas.microsoft.com/office/drawing/2014/main" id="{C67F1C3F-C869-B3E5-976B-8ACF72C960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4384" y="441325"/>
            <a:ext cx="3682184" cy="839334"/>
          </a:xfrm>
        </p:spPr>
        <p:txBody>
          <a:bodyPr/>
          <a:lstStyle/>
          <a:p>
            <a:r>
              <a:rPr lang="it-IT"/>
              <a:t>Come scegliere il modello</a:t>
            </a: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CED3D252-A3B8-5967-C08C-30A52050E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59395" y="6356350"/>
            <a:ext cx="1922987" cy="365125"/>
          </a:xfrm>
        </p:spPr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33F14E5-F6E6-228D-05C4-C12B4BA70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38555" y="6356350"/>
            <a:ext cx="723280" cy="365125"/>
          </a:xfrm>
        </p:spPr>
        <p:txBody>
          <a:bodyPr/>
          <a:lstStyle/>
          <a:p>
            <a:fld id="{13D6451D-1641-964E-B995-104A5CF7FFD9}" type="slidenum">
              <a:rPr lang="it-IT" smtClean="0"/>
              <a:pPr/>
              <a:t>40</a:t>
            </a:fld>
            <a:endParaRPr lang="it-IT" dirty="0"/>
          </a:p>
        </p:txBody>
      </p:sp>
      <p:sp>
        <p:nvSpPr>
          <p:cNvPr id="14" name="Segnaposto testo 13">
            <a:extLst>
              <a:ext uri="{FF2B5EF4-FFF2-40B4-BE49-F238E27FC236}">
                <a16:creationId xmlns:a16="http://schemas.microsoft.com/office/drawing/2014/main" id="{60DC93EE-17B2-3081-2D65-210FB2E6A8C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050232" y="590106"/>
            <a:ext cx="3825245" cy="906181"/>
          </a:xfrm>
        </p:spPr>
        <p:txBody>
          <a:bodyPr/>
          <a:lstStyle/>
          <a:p>
            <a:r>
              <a:rPr lang="it-IT">
                <a:latin typeface="Karla"/>
              </a:rPr>
              <a:t>Quattro domande, una risposta.</a:t>
            </a:r>
          </a:p>
        </p:txBody>
      </p:sp>
      <p:cxnSp>
        <p:nvCxnSpPr>
          <p:cNvPr id="23" name="Connettore 1 22">
            <a:extLst>
              <a:ext uri="{FF2B5EF4-FFF2-40B4-BE49-F238E27FC236}">
                <a16:creationId xmlns:a16="http://schemas.microsoft.com/office/drawing/2014/main" id="{B019C9E0-904B-93F1-F693-C4477C1EB3C6}"/>
              </a:ext>
            </a:extLst>
          </p:cNvPr>
          <p:cNvCxnSpPr>
            <a:cxnSpLocks/>
          </p:cNvCxnSpPr>
          <p:nvPr/>
        </p:nvCxnSpPr>
        <p:spPr>
          <a:xfrm>
            <a:off x="6203950" y="441325"/>
            <a:ext cx="5580063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6D47EF5-7F82-9505-7D2B-E3131CCC95D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/>
              <a:t>Usarlo con</a:t>
            </a:r>
            <a:br>
              <a:rPr lang="it-IT"/>
            </a:br>
            <a:r>
              <a:rPr lang="it-IT"/>
              <a:t>consapevolezza</a:t>
            </a: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62D1BC6C-5EAC-6542-91A5-5AECDCF2B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A673DE2-373C-4810-E2D9-AB4A00DE4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6451D-1641-964E-B995-104A5CF7FFD9}" type="slidenum">
              <a:rPr lang="it-IT" smtClean="0"/>
              <a:pPr/>
              <a:t>41</a:t>
            </a:fld>
            <a:endParaRPr lang="it-IT" dirty="0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B9C44978-D868-95C9-90D3-998C3AC4C6E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it-IT">
                <a:latin typeface="Karla"/>
              </a:rPr>
              <a:t>1. Scegli il modello e l'effort adatti al compito.</a:t>
            </a:r>
          </a:p>
          <a:p>
            <a:r>
              <a:rPr lang="it-IT">
                <a:latin typeface="Karla"/>
              </a:rPr>
              <a:t>2. Una chat per argomento: quando cambi tema, aprine una nuova.</a:t>
            </a:r>
          </a:p>
          <a:p>
            <a:r>
              <a:rPr lang="it-IT">
                <a:latin typeface="Karla"/>
              </a:rPr>
              <a:t>3. Non ricaricare gli stessi file: usa progetti e cartella.</a:t>
            </a:r>
          </a:p>
          <a:p>
            <a:r>
              <a:rPr lang="it-IT">
                <a:latin typeface="Karla"/>
              </a:rPr>
              <a:t>4. Raggruppa le domande in un solo messaggio.</a:t>
            </a:r>
          </a:p>
          <a:p>
            <a:r>
              <a:rPr lang="it-IT">
                <a:latin typeface="Karla"/>
              </a:rPr>
              <a:t>5. Chiedi risposte brevi quando ti basta una risposta breve.</a:t>
            </a:r>
          </a:p>
          <a:p>
            <a:r>
              <a:rPr lang="it-IT">
                <a:latin typeface="Karla"/>
              </a:rPr>
              <a:t>6. Ricerca approfondita solo quando serve davvero.</a:t>
            </a:r>
          </a:p>
          <a:p>
            <a:r>
              <a:rPr lang="it-IT">
                <a:latin typeface="Karla"/>
              </a:rPr>
              <a:t>7. Controlla l'utilizzo in Impostazioni &gt; Utilizzo.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tangolo 2">
            <a:extLst>
              <a:ext uri="{FF2B5EF4-FFF2-40B4-BE49-F238E27FC236}">
                <a16:creationId xmlns:a16="http://schemas.microsoft.com/office/drawing/2014/main" id="{F1C1CB56-4283-FDE5-69B6-03C379DE730D}"/>
              </a:ext>
            </a:extLst>
          </p:cNvPr>
          <p:cNvSpPr/>
          <p:nvPr/>
        </p:nvSpPr>
        <p:spPr>
          <a:xfrm>
            <a:off x="0" y="1662953"/>
            <a:ext cx="12192000" cy="353209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C52D1058-C56A-8891-A9DF-AB8158E3954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/>
              <a:t>Lavorare bene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A11C4E15-DDA8-85EE-18EB-919634828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FCC6785C-0674-6D8A-9339-DED2764C8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6451D-1641-964E-B995-104A5CF7FFD9}" type="slidenum">
              <a:rPr lang="it-IT" smtClean="0"/>
              <a:pPr/>
              <a:t>42</a:t>
            </a:fld>
            <a:endParaRPr lang="it-IT" dirty="0"/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C9460520-20F1-CFF9-73B3-8EA7BFE31C6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it-IT" sz="2519"/>
              <a:t>Sezione 05 · Progetti, cartella, artifact e file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ADED681-84E5-AEB9-F436-72396F9B8E8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/>
              <a:t>La chat,</a:t>
            </a:r>
            <a:br>
              <a:rPr lang="it-IT"/>
            </a:br>
            <a:r>
              <a:rPr lang="it-IT"/>
              <a:t>usata bene</a:t>
            </a: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9F09FC85-CEA7-237E-6BE2-7B9206D04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4E4368F-7A30-F387-08EE-7E7CBE9CC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6451D-1641-964E-B995-104A5CF7FFD9}" type="slidenum">
              <a:rPr lang="it-IT" smtClean="0"/>
              <a:pPr/>
              <a:t>43</a:t>
            </a:fld>
            <a:endParaRPr lang="it-IT" dirty="0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60D7638C-CC8E-08F3-B3C2-B1A51502FB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it-IT">
                <a:latin typeface="Karla"/>
              </a:rPr>
              <a:t>Prima di premere invio, tre scelte cambiano la risposta:</a:t>
            </a:r>
          </a:p>
          <a:p>
            <a:pPr marL="285750" indent="-285750">
              <a:buFont typeface="Arial"/>
              <a:buChar char="•"/>
            </a:pPr>
            <a:r>
              <a:rPr lang="it-IT">
                <a:latin typeface="Karla"/>
              </a:rPr>
              <a:t>il modello e l'effort</a:t>
            </a:r>
          </a:p>
          <a:p>
            <a:pPr marL="285750" indent="-285750">
              <a:buFont typeface="Arial"/>
              <a:buChar char="•"/>
            </a:pPr>
            <a:r>
              <a:rPr lang="it-IT">
                <a:latin typeface="Karla"/>
              </a:rPr>
              <a:t>gli strumenti: allegati e Research con +, skill con /</a:t>
            </a:r>
          </a:p>
          <a:p>
            <a:pPr marL="285750" indent="-285750">
              <a:buFont typeface="Arial"/>
              <a:buChar char="•"/>
            </a:pPr>
            <a:r>
              <a:rPr lang="it-IT">
                <a:latin typeface="Karla"/>
              </a:rPr>
              <a:t>il progetto in cui ti trovi</a:t>
            </a:r>
          </a:p>
          <a:p>
            <a:r>
              <a:rPr lang="it-IT">
                <a:latin typeface="Karla"/>
              </a:rPr>
              <a:t>Buone abitudini:</a:t>
            </a:r>
          </a:p>
          <a:p>
            <a:pPr marL="285750" indent="-285750">
              <a:buFont typeface="Arial"/>
              <a:buChar char="•"/>
            </a:pPr>
            <a:r>
              <a:rPr lang="it-IT">
                <a:latin typeface="Karla"/>
              </a:rPr>
              <a:t>una chat per argomento</a:t>
            </a:r>
          </a:p>
          <a:p>
            <a:pPr marL="285750" indent="-285750">
              <a:buFont typeface="Arial"/>
              <a:buChar char="•"/>
            </a:pPr>
            <a:r>
              <a:rPr lang="it-IT">
                <a:latin typeface="Karla"/>
              </a:rPr>
              <a:t>allega il materiale invece di riassumerlo a parole</a:t>
            </a:r>
          </a:p>
          <a:p>
            <a:pPr marL="285750" indent="-285750">
              <a:buFont typeface="Arial"/>
              <a:buChar char="•"/>
            </a:pPr>
            <a:r>
              <a:rPr lang="it-IT">
                <a:latin typeface="Karla"/>
              </a:rPr>
              <a:t>chiedi le fonti quando usi la ricerca web</a:t>
            </a:r>
          </a:p>
          <a:p>
            <a:pPr marL="285750" indent="-285750">
              <a:buFont typeface="Arial"/>
              <a:buChar char="•"/>
            </a:pPr>
            <a:r>
              <a:rPr lang="it-IT">
                <a:latin typeface="Karla"/>
              </a:rPr>
              <a:t>rinomina le chat importanti per ritrovarle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Segnaposto immagine 9" descr="Immagine che contiene interno, interior design, muro, soffitto&#10;&#10;Il contenuto generato dall'IA potrebbe non essere corretto.">
            <a:extLst>
              <a:ext uri="{FF2B5EF4-FFF2-40B4-BE49-F238E27FC236}">
                <a16:creationId xmlns:a16="http://schemas.microsoft.com/office/drawing/2014/main" id="{0E30B22B-36A8-4A36-3F8E-BA9DE1BC07CB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3"/>
          <a:srcRect l="15" r="15"/>
          <a:stretch>
            <a:fillRect/>
          </a:stretch>
        </p:blipFill>
        <p:spPr>
          <a:xfrm>
            <a:off x="1" y="441324"/>
            <a:ext cx="5988050" cy="5651501"/>
          </a:xfrm>
        </p:spPr>
      </p:pic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51E6D9C1-6652-F14B-33AC-6E8FD9711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80DE77F-7D5E-A394-737F-5251C093A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6451D-1641-964E-B995-104A5CF7FFD9}" type="slidenum">
              <a:rPr lang="it-IT" smtClean="0"/>
              <a:pPr/>
              <a:t>44</a:t>
            </a:fld>
            <a:endParaRPr lang="it-IT" dirty="0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678C8310-1E7B-4250-0C1E-D3C48A7C40D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it-IT">
                <a:latin typeface="Karla"/>
              </a:rPr>
              <a:t>su claude.ai: nell'account, condivisibili col team</a:t>
            </a:r>
          </a:p>
          <a:p>
            <a:pPr marL="285750" indent="-285750">
              <a:buFont typeface="Arial"/>
              <a:buChar char="•"/>
            </a:pPr>
            <a:r>
              <a:rPr lang="it-IT">
                <a:latin typeface="Karla"/>
              </a:rPr>
              <a:t>sul desktop: con cartelle locali, memoria e pianificate</a:t>
            </a:r>
          </a:p>
          <a:p>
            <a:pPr marL="285750" indent="-285750">
              <a:buFont typeface="Arial"/>
              <a:buChar char="•"/>
            </a:pPr>
            <a:r>
              <a:rPr lang="it-IT">
                <a:latin typeface="Karla"/>
              </a:rPr>
              <a:t>si possono collegare tra loro</a:t>
            </a:r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36C47D9A-E3B2-49D5-133D-34210BC413A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it-IT">
                <a:latin typeface="Karla"/>
              </a:rPr>
              <a:t>Uno spazio con istruzioni e materiali permanenti: ogni conversazione al suo interno parte già sapendo chi siete e come lavorate.</a:t>
            </a:r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5C83EFD7-7A83-9EC9-4F8A-FCD1C0ED130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it-IT"/>
              <a:t>Due tipi</a:t>
            </a:r>
          </a:p>
        </p:txBody>
      </p:sp>
      <p:sp>
        <p:nvSpPr>
          <p:cNvPr id="8" name="Segnaposto testo 7">
            <a:extLst>
              <a:ext uri="{FF2B5EF4-FFF2-40B4-BE49-F238E27FC236}">
                <a16:creationId xmlns:a16="http://schemas.microsoft.com/office/drawing/2014/main" id="{EFAA5162-FD8F-A9C2-DDDF-65637CD0418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it-IT"/>
              <a:t>Progetti</a:t>
            </a:r>
          </a:p>
        </p:txBody>
      </p:sp>
      <p:cxnSp>
        <p:nvCxnSpPr>
          <p:cNvPr id="11" name="Connettore 1 10">
            <a:extLst>
              <a:ext uri="{FF2B5EF4-FFF2-40B4-BE49-F238E27FC236}">
                <a16:creationId xmlns:a16="http://schemas.microsoft.com/office/drawing/2014/main" id="{26E6A3F1-1138-C810-5BE0-89DFB5B6CD74}"/>
              </a:ext>
            </a:extLst>
          </p:cNvPr>
          <p:cNvCxnSpPr>
            <a:cxnSpLocks/>
          </p:cNvCxnSpPr>
          <p:nvPr/>
        </p:nvCxnSpPr>
        <p:spPr>
          <a:xfrm>
            <a:off x="6203950" y="441325"/>
            <a:ext cx="5580063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ttore 1 12">
            <a:extLst>
              <a:ext uri="{FF2B5EF4-FFF2-40B4-BE49-F238E27FC236}">
                <a16:creationId xmlns:a16="http://schemas.microsoft.com/office/drawing/2014/main" id="{707D02A4-951D-2269-B7D1-0FE03923480E}"/>
              </a:ext>
            </a:extLst>
          </p:cNvPr>
          <p:cNvCxnSpPr>
            <a:cxnSpLocks/>
          </p:cNvCxnSpPr>
          <p:nvPr/>
        </p:nvCxnSpPr>
        <p:spPr>
          <a:xfrm>
            <a:off x="6203950" y="3465096"/>
            <a:ext cx="5580063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Segnaposto immagine 9">
            <a:extLst>
              <a:ext uri="{FF2B5EF4-FFF2-40B4-BE49-F238E27FC236}">
                <a16:creationId xmlns:a16="http://schemas.microsoft.com/office/drawing/2014/main" id="{CAE37786-BBA6-42F4-2E26-A808E55CFBAA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3"/>
          <a:srcRect l="15" r="15"/>
          <a:stretch>
            <a:fillRect/>
          </a:stretch>
        </p:blipFill>
        <p:spPr>
          <a:xfrm>
            <a:off x="1" y="441324"/>
            <a:ext cx="5988050" cy="5651501"/>
          </a:xfrm>
        </p:spPr>
      </p:pic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D7740E89-EA43-DC5A-6D07-D89FF124C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48AD3930-78BC-BCE5-74E3-E2B34789F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6451D-1641-964E-B995-104A5CF7FFD9}" type="slidenum">
              <a:rPr lang="it-IT" smtClean="0"/>
              <a:pPr/>
              <a:t>45</a:t>
            </a:fld>
            <a:endParaRPr lang="it-IT" dirty="0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590800ED-8945-D047-3878-FEBADA7FB7B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it-IT" sz="1709">
                <a:latin typeface="Karla"/>
              </a:rPr>
              <a:t>legge i documenti senza caricarli</a:t>
            </a:r>
          </a:p>
          <a:p>
            <a:pPr marL="285750" indent="-285750">
              <a:buFont typeface="Arial"/>
              <a:buChar char="•"/>
            </a:pPr>
            <a:r>
              <a:rPr lang="it-IT" sz="1709">
                <a:latin typeface="Karla"/>
              </a:rPr>
              <a:t>vede sempre l'ultima versione</a:t>
            </a:r>
          </a:p>
          <a:p>
            <a:pPr marL="285750" indent="-285750">
              <a:buFont typeface="Arial"/>
              <a:buChar char="•"/>
            </a:pPr>
            <a:r>
              <a:rPr lang="it-IT" sz="1709">
                <a:latin typeface="Karla"/>
              </a:rPr>
              <a:t>salva gli output lì, senza cercarli</a:t>
            </a:r>
          </a:p>
          <a:p>
            <a:pPr marL="285750" indent="-285750">
              <a:buFont typeface="Arial"/>
              <a:buChar char="•"/>
            </a:pPr>
            <a:r>
              <a:rPr lang="it-IT" sz="1709">
                <a:latin typeface="Karla"/>
              </a:rPr>
              <a:t>risparmi token e tempo</a:t>
            </a:r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9ABFC639-551E-1750-F630-7AB63B013F1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it-IT">
                <a:latin typeface="Karla"/>
              </a:rPr>
              <a:t>Collegare il progetto a una cartella è la mossa che cambia tutto: Claude lavora sul tuo tavolo, non su copie caricate in chat.</a:t>
            </a:r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8ADFBBC1-E015-5FC2-6F1C-8BC9D9FE217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it-IT"/>
              <a:t>Cosa ci guadagni</a:t>
            </a:r>
          </a:p>
        </p:txBody>
      </p:sp>
      <p:sp>
        <p:nvSpPr>
          <p:cNvPr id="8" name="Segnaposto testo 7">
            <a:extLst>
              <a:ext uri="{FF2B5EF4-FFF2-40B4-BE49-F238E27FC236}">
                <a16:creationId xmlns:a16="http://schemas.microsoft.com/office/drawing/2014/main" id="{045F09C8-7A0B-2D82-048C-89CC08258D2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it-IT"/>
              <a:t>Perché una cartella</a:t>
            </a:r>
          </a:p>
        </p:txBody>
      </p:sp>
      <p:cxnSp>
        <p:nvCxnSpPr>
          <p:cNvPr id="11" name="Connettore 1 10">
            <a:extLst>
              <a:ext uri="{FF2B5EF4-FFF2-40B4-BE49-F238E27FC236}">
                <a16:creationId xmlns:a16="http://schemas.microsoft.com/office/drawing/2014/main" id="{947085F4-0B86-8C4A-8E9A-B06A870BD802}"/>
              </a:ext>
            </a:extLst>
          </p:cNvPr>
          <p:cNvCxnSpPr>
            <a:cxnSpLocks/>
          </p:cNvCxnSpPr>
          <p:nvPr/>
        </p:nvCxnSpPr>
        <p:spPr>
          <a:xfrm>
            <a:off x="6203950" y="441325"/>
            <a:ext cx="5580063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ttore 1 12">
            <a:extLst>
              <a:ext uri="{FF2B5EF4-FFF2-40B4-BE49-F238E27FC236}">
                <a16:creationId xmlns:a16="http://schemas.microsoft.com/office/drawing/2014/main" id="{20AD8D09-B887-384E-AF26-4F84A3FEFB90}"/>
              </a:ext>
            </a:extLst>
          </p:cNvPr>
          <p:cNvCxnSpPr>
            <a:cxnSpLocks/>
          </p:cNvCxnSpPr>
          <p:nvPr/>
        </p:nvCxnSpPr>
        <p:spPr>
          <a:xfrm>
            <a:off x="6203950" y="3429000"/>
            <a:ext cx="5580063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ttore 1 11">
            <a:extLst>
              <a:ext uri="{FF2B5EF4-FFF2-40B4-BE49-F238E27FC236}">
                <a16:creationId xmlns:a16="http://schemas.microsoft.com/office/drawing/2014/main" id="{512EB736-D425-92EA-963D-D08F6E3906AE}"/>
              </a:ext>
            </a:extLst>
          </p:cNvPr>
          <p:cNvCxnSpPr>
            <a:cxnSpLocks/>
          </p:cNvCxnSpPr>
          <p:nvPr/>
        </p:nvCxnSpPr>
        <p:spPr>
          <a:xfrm>
            <a:off x="6199588" y="454382"/>
            <a:ext cx="5580063" cy="0"/>
          </a:xfrm>
          <a:prstGeom prst="line">
            <a:avLst/>
          </a:prstGeom>
          <a:ln w="15875"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ttore 1 13">
            <a:extLst>
              <a:ext uri="{FF2B5EF4-FFF2-40B4-BE49-F238E27FC236}">
                <a16:creationId xmlns:a16="http://schemas.microsoft.com/office/drawing/2014/main" id="{6C74E27F-FB86-CCFC-B304-F01F71AB7A24}"/>
              </a:ext>
            </a:extLst>
          </p:cNvPr>
          <p:cNvCxnSpPr>
            <a:cxnSpLocks/>
          </p:cNvCxnSpPr>
          <p:nvPr/>
        </p:nvCxnSpPr>
        <p:spPr>
          <a:xfrm>
            <a:off x="6199588" y="3478153"/>
            <a:ext cx="5580063" cy="0"/>
          </a:xfrm>
          <a:prstGeom prst="line">
            <a:avLst/>
          </a:prstGeom>
          <a:ln w="15875"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Segnaposto immagine 8">
            <a:extLst>
              <a:ext uri="{FF2B5EF4-FFF2-40B4-BE49-F238E27FC236}">
                <a16:creationId xmlns:a16="http://schemas.microsoft.com/office/drawing/2014/main" id="{A12B5639-49C3-6C26-0924-928DA7BFD00C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3"/>
          <a:srcRect t="20" b="20"/>
          <a:stretch/>
        </p:blipFill>
        <p:spPr>
          <a:xfrm>
            <a:off x="-1" y="441325"/>
            <a:ext cx="7876903" cy="5651499"/>
          </a:xfr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1D5DC4FF-FFB6-C57F-B0E5-4318214EE4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64533" y="415199"/>
            <a:ext cx="3682184" cy="839334"/>
          </a:xfrm>
        </p:spPr>
        <p:txBody>
          <a:bodyPr/>
          <a:lstStyle/>
          <a:p>
            <a:r>
              <a:rPr lang="it-IT"/>
              <a:t>La cartella ideale</a:t>
            </a: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4670410F-3B65-AB9C-CC0C-3C0901C4F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59395" y="6356350"/>
            <a:ext cx="1922987" cy="365125"/>
          </a:xfrm>
        </p:spPr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F0158C3-5C5A-B6DD-0789-921BAFF0F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38555" y="6356350"/>
            <a:ext cx="723280" cy="365125"/>
          </a:xfrm>
        </p:spPr>
        <p:txBody>
          <a:bodyPr/>
          <a:lstStyle/>
          <a:p>
            <a:fld id="{13D6451D-1641-964E-B995-104A5CF7FFD9}" type="slidenum">
              <a:rPr lang="it-IT" smtClean="0"/>
              <a:pPr/>
              <a:t>46</a:t>
            </a:fld>
            <a:endParaRPr lang="it-IT" dirty="0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417462D0-F733-FF6E-518E-4B63287CB29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050232" y="1736475"/>
            <a:ext cx="3825245" cy="2357734"/>
          </a:xfrm>
        </p:spPr>
        <p:txBody>
          <a:bodyPr/>
          <a:lstStyle/>
          <a:p>
            <a:r>
              <a:rPr lang="it-IT">
                <a:latin typeface="Karla"/>
              </a:rPr>
              <a:t>Una struttura semplice e uguale per tutti. Claude sa dove trovare le regole, dove leggere i materiali e dove salvare i lavori.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6D47EF5-7F82-9505-7D2B-E3131CCC95D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sz="4320"/>
              <a:t>Il progetto ideale,</a:t>
            </a:r>
            <a:br>
              <a:rPr lang="it-IT" sz="4320"/>
            </a:br>
            <a:r>
              <a:rPr lang="it-IT" sz="4320"/>
              <a:t>passo per passo</a:t>
            </a: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62D1BC6C-5EAC-6542-91A5-5AECDCF2B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A673DE2-373C-4810-E2D9-AB4A00DE4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6451D-1641-964E-B995-104A5CF7FFD9}" type="slidenum">
              <a:rPr lang="it-IT" smtClean="0"/>
              <a:pPr/>
              <a:t>47</a:t>
            </a:fld>
            <a:endParaRPr lang="it-IT" dirty="0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B9C44978-D868-95C9-90D3-998C3AC4C6E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it-IT">
                <a:latin typeface="Karla"/>
              </a:rPr>
              <a:t>1. Crea la cartella con la struttura vista prima.</a:t>
            </a:r>
          </a:p>
          <a:p>
            <a:r>
              <a:rPr lang="it-IT">
                <a:latin typeface="Karla"/>
              </a:rPr>
              <a:t>2. App desktop &gt; Progetti &gt; + &gt; Usa una cartella esistente.</a:t>
            </a:r>
          </a:p>
          <a:p>
            <a:r>
              <a:rPr lang="it-IT">
                <a:latin typeface="Karla"/>
              </a:rPr>
              <a:t>3. Dai nome e descrizione al progetto.</a:t>
            </a:r>
          </a:p>
          <a:p>
            <a:r>
              <a:rPr lang="it-IT">
                <a:latin typeface="Karla"/>
              </a:rPr>
              <a:t>4. Scrivi le istruzioni (esempio nella prossima slide).</a:t>
            </a:r>
          </a:p>
          <a:p>
            <a:r>
              <a:rPr lang="it-IT">
                <a:latin typeface="Karla"/>
              </a:rPr>
              <a:t>5. Collega, se c'è, il progetto claude.ai del team.</a:t>
            </a:r>
          </a:p>
          <a:p>
            <a:r>
              <a:rPr lang="it-IT">
                <a:latin typeface="Karla"/>
              </a:rPr>
              <a:t>6. Attiva solo i connettori e le skill che servono.</a:t>
            </a:r>
          </a:p>
          <a:p>
            <a:r>
              <a:rPr lang="it-IT">
                <a:latin typeface="Karla"/>
              </a:rPr>
              <a:t>7. Primo test: «Leggi 00_Leggimi e dimmi cosa hai capito del brand».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D6D2C2E-63BE-BD1D-D3EC-EB9AD88E6D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6070" y="441325"/>
            <a:ext cx="5661980" cy="1976905"/>
          </a:xfrm>
        </p:spPr>
        <p:txBody>
          <a:bodyPr/>
          <a:lstStyle/>
          <a:p>
            <a:r>
              <a:rPr lang="it-IT"/>
              <a:t>Esempio di</a:t>
            </a:r>
            <a:br>
              <a:rPr lang="it-IT"/>
            </a:br>
            <a:r>
              <a:rPr lang="it-IT"/>
              <a:t>istruzioni</a:t>
            </a: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EB4573C2-5844-268A-A52E-80A5C4406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59395" y="6356350"/>
            <a:ext cx="1922987" cy="365125"/>
          </a:xfrm>
        </p:spPr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D91C807-1730-C2AC-4674-119E09F89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38555" y="6356350"/>
            <a:ext cx="723280" cy="365125"/>
          </a:xfrm>
        </p:spPr>
        <p:txBody>
          <a:bodyPr/>
          <a:lstStyle/>
          <a:p>
            <a:fld id="{13D6451D-1641-964E-B995-104A5CF7FFD9}" type="slidenum">
              <a:rPr lang="it-IT" smtClean="0"/>
              <a:pPr/>
              <a:t>48</a:t>
            </a:fld>
            <a:endParaRPr lang="it-IT" dirty="0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43BE69A5-5685-BC6E-944E-F2B75A38B70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03950" y="684843"/>
            <a:ext cx="5721350" cy="4849813"/>
          </a:xfrm>
        </p:spPr>
        <p:txBody>
          <a:bodyPr/>
          <a:lstStyle/>
          <a:p>
            <a:r>
              <a:rPr lang="it-IT">
                <a:latin typeface="Karla"/>
              </a:rPr>
              <a:t>«Sei il collaboratore del marketing del brand.</a:t>
            </a:r>
          </a:p>
          <a:p>
            <a:r>
              <a:rPr lang="it-IT">
                <a:latin typeface="Karla"/>
              </a:rPr>
              <a:t>Prima di ogni lavoro leggi 00_Leggimi e 01_Brand.</a:t>
            </a:r>
          </a:p>
          <a:p>
            <a:r>
              <a:rPr lang="it-IT">
                <a:latin typeface="Karla"/>
              </a:rPr>
              <a:t>Usa solo dati presenti nella cartella: se manca qualcosa chiedilo, non inventare.</a:t>
            </a:r>
          </a:p>
          <a:p>
            <a:r>
              <a:rPr lang="it-IT">
                <a:latin typeface="Karla"/>
              </a:rPr>
              <a:t>Tono: elegante, caldo, frasi brevi, niente superlativi.</a:t>
            </a:r>
          </a:p>
          <a:p>
            <a:r>
              <a:rPr lang="it-IT">
                <a:latin typeface="Karla"/>
              </a:rPr>
              <a:t>Salva sempre i lavori in 05_Output con nome data_tema_v1.</a:t>
            </a:r>
          </a:p>
          <a:p>
            <a:r>
              <a:rPr lang="it-IT">
                <a:latin typeface="Karla"/>
              </a:rPr>
              <a:t>Non sovrascrivere mai un file: crea una nuova versione.</a:t>
            </a:r>
          </a:p>
          <a:p>
            <a:r>
              <a:rPr lang="it-IT">
                <a:latin typeface="Karla"/>
              </a:rPr>
              <a:t>Alla fine dimmi cosa hai fatto e dove hai salvato.»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Segnaposto immagine 8">
            <a:extLst>
              <a:ext uri="{FF2B5EF4-FFF2-40B4-BE49-F238E27FC236}">
                <a16:creationId xmlns:a16="http://schemas.microsoft.com/office/drawing/2014/main" id="{A12B5639-49C3-6C26-0924-928DA7BFD00C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3"/>
          <a:srcRect t="20" b="20"/>
          <a:stretch/>
        </p:blipFill>
        <p:spPr>
          <a:xfrm>
            <a:off x="-1" y="441325"/>
            <a:ext cx="7876903" cy="5651499"/>
          </a:xfr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1D5DC4FF-FFB6-C57F-B0E5-4318214EE4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64533" y="415199"/>
            <a:ext cx="3682184" cy="839334"/>
          </a:xfrm>
        </p:spPr>
        <p:txBody>
          <a:bodyPr/>
          <a:lstStyle/>
          <a:p>
            <a:r>
              <a:rPr lang="it-IT"/>
              <a:t>Artifact o file?</a:t>
            </a: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4670410F-3B65-AB9C-CC0C-3C0901C4F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59395" y="6356350"/>
            <a:ext cx="1922987" cy="365125"/>
          </a:xfrm>
        </p:spPr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F0158C3-5C5A-B6DD-0789-921BAFF0F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38555" y="6356350"/>
            <a:ext cx="723280" cy="365125"/>
          </a:xfrm>
        </p:spPr>
        <p:txBody>
          <a:bodyPr/>
          <a:lstStyle/>
          <a:p>
            <a:fld id="{13D6451D-1641-964E-B995-104A5CF7FFD9}" type="slidenum">
              <a:rPr lang="it-IT" smtClean="0"/>
              <a:pPr/>
              <a:t>49</a:t>
            </a:fld>
            <a:endParaRPr lang="it-IT" dirty="0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417462D0-F733-FF6E-518E-4B63287CB29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050232" y="1736475"/>
            <a:ext cx="3825245" cy="2357734"/>
          </a:xfrm>
        </p:spPr>
        <p:txBody>
          <a:bodyPr/>
          <a:lstStyle/>
          <a:p>
            <a:r>
              <a:rPr lang="it-IT">
                <a:latin typeface="Karla"/>
              </a:rPr>
              <a:t>Sono due cose diverse. L'artifact vive dentro Claude e si condivide con un link. Il file è il documento vero nella tua cartella.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F793BD9-74D4-443D-ADCB-E58599E2CD1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/>
              <a:t>Gli artifact</a:t>
            </a: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D30CE9DD-37E3-B2D7-45DD-D66DD31C9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C84CF9C-4371-9672-F423-35D96CFAD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6451D-1641-964E-B995-104A5CF7FFD9}" type="slidenum">
              <a:rPr lang="it-IT" smtClean="0"/>
              <a:pPr/>
              <a:t>50</a:t>
            </a:fld>
            <a:endParaRPr lang="it-IT" dirty="0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B41D3C8E-18B5-19A9-C672-37F093B9A05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it-IT">
                <a:latin typeface="Karla"/>
              </a:rPr>
              <a:t>L'artifact è il lavoro finito che Claude consegna a parte, pulito e riutilizzabile.</a:t>
            </a:r>
          </a:p>
          <a:p>
            <a:pPr marL="285750" indent="-285750">
              <a:buFont typeface="Arial"/>
              <a:buChar char="•"/>
            </a:pPr>
            <a:r>
              <a:rPr lang="it-IT">
                <a:latin typeface="Karla"/>
              </a:rPr>
              <a:t>Docs: documenti da scrivere insieme e commentare</a:t>
            </a:r>
          </a:p>
          <a:p>
            <a:pPr marL="285750" indent="-285750">
              <a:buFont typeface="Arial"/>
              <a:buChar char="•"/>
            </a:pPr>
            <a:r>
              <a:rPr lang="it-IT">
                <a:latin typeface="Karla"/>
              </a:rPr>
              <a:t>Slides: presentazioni da presentare o esportare</a:t>
            </a:r>
          </a:p>
          <a:p>
            <a:pPr marL="285750" indent="-285750">
              <a:buFont typeface="Arial"/>
              <a:buChar char="•"/>
            </a:pPr>
            <a:r>
              <a:rPr lang="it-IT">
                <a:latin typeface="Karla"/>
              </a:rPr>
              <a:t>Design: grafiche, mockup, pagine</a:t>
            </a:r>
          </a:p>
          <a:p>
            <a:pPr marL="285750" indent="-285750">
              <a:buFont typeface="Arial"/>
              <a:buChar char="•"/>
            </a:pPr>
            <a:r>
              <a:rPr lang="it-IT">
                <a:latin typeface="Karla"/>
              </a:rPr>
              <a:t>Pagine vive e mini app: tracker, calcolatori, dashboard</a:t>
            </a:r>
          </a:p>
          <a:p>
            <a:r>
              <a:rPr lang="it-IT">
                <a:latin typeface="Karla"/>
              </a:rPr>
              <a:t>Si ritrovano nella sezione Artifact, si condividono con un link e si esportano in Word, PowerPoint o PDF.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Segnaposto immagine 16" descr="Immagine che contiene arredo, interior design, interno, muro&#10;&#10;Il contenuto generato dall'IA potrebbe non essere corretto.">
            <a:extLst>
              <a:ext uri="{FF2B5EF4-FFF2-40B4-BE49-F238E27FC236}">
                <a16:creationId xmlns:a16="http://schemas.microsoft.com/office/drawing/2014/main" id="{A2009422-89A6-EEE3-8915-EC80353F714A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3"/>
          <a:srcRect l="53" r="53"/>
          <a:stretch>
            <a:fillRect/>
          </a:stretch>
        </p:blipFill>
        <p:spPr>
          <a:xfrm>
            <a:off x="0" y="1773238"/>
            <a:ext cx="11784013" cy="4319587"/>
          </a:xfrm>
        </p:spPr>
      </p:pic>
      <p:sp>
        <p:nvSpPr>
          <p:cNvPr id="12" name="Titolo 11">
            <a:extLst>
              <a:ext uri="{FF2B5EF4-FFF2-40B4-BE49-F238E27FC236}">
                <a16:creationId xmlns:a16="http://schemas.microsoft.com/office/drawing/2014/main" id="{C67F1C3F-C869-B3E5-976B-8ACF72C960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4384" y="441325"/>
            <a:ext cx="3682184" cy="839334"/>
          </a:xfrm>
        </p:spPr>
        <p:txBody>
          <a:bodyPr/>
          <a:lstStyle/>
          <a:p>
            <a:r>
              <a:rPr lang="it-IT"/>
              <a:t>Attenzione alle modifiche</a:t>
            </a: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CED3D252-A3B8-5967-C08C-30A52050E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59395" y="6356350"/>
            <a:ext cx="1922987" cy="365125"/>
          </a:xfrm>
        </p:spPr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33F14E5-F6E6-228D-05C4-C12B4BA70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38555" y="6356350"/>
            <a:ext cx="723280" cy="365125"/>
          </a:xfrm>
        </p:spPr>
        <p:txBody>
          <a:bodyPr/>
          <a:lstStyle/>
          <a:p>
            <a:fld id="{13D6451D-1641-964E-B995-104A5CF7FFD9}" type="slidenum">
              <a:rPr lang="it-IT" smtClean="0"/>
              <a:pPr/>
              <a:t>51</a:t>
            </a:fld>
            <a:endParaRPr lang="it-IT" dirty="0"/>
          </a:p>
        </p:txBody>
      </p:sp>
      <p:sp>
        <p:nvSpPr>
          <p:cNvPr id="14" name="Segnaposto testo 13">
            <a:extLst>
              <a:ext uri="{FF2B5EF4-FFF2-40B4-BE49-F238E27FC236}">
                <a16:creationId xmlns:a16="http://schemas.microsoft.com/office/drawing/2014/main" id="{60DC93EE-17B2-3081-2D65-210FB2E6A8C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050232" y="590106"/>
            <a:ext cx="3825245" cy="906181"/>
          </a:xfrm>
        </p:spPr>
        <p:txBody>
          <a:bodyPr/>
          <a:lstStyle/>
          <a:p>
            <a:r>
              <a:rPr lang="it-IT">
                <a:latin typeface="Karla"/>
              </a:rPr>
              <a:t>Regola d'oro per non perdere lavoro.</a:t>
            </a:r>
          </a:p>
        </p:txBody>
      </p:sp>
      <p:cxnSp>
        <p:nvCxnSpPr>
          <p:cNvPr id="23" name="Connettore 1 22">
            <a:extLst>
              <a:ext uri="{FF2B5EF4-FFF2-40B4-BE49-F238E27FC236}">
                <a16:creationId xmlns:a16="http://schemas.microsoft.com/office/drawing/2014/main" id="{B019C9E0-904B-93F1-F693-C4477C1EB3C6}"/>
              </a:ext>
            </a:extLst>
          </p:cNvPr>
          <p:cNvCxnSpPr>
            <a:cxnSpLocks/>
          </p:cNvCxnSpPr>
          <p:nvPr/>
        </p:nvCxnSpPr>
        <p:spPr>
          <a:xfrm>
            <a:off x="6203950" y="441325"/>
            <a:ext cx="5580063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Segnaposto immagine 9">
            <a:extLst>
              <a:ext uri="{FF2B5EF4-FFF2-40B4-BE49-F238E27FC236}">
                <a16:creationId xmlns:a16="http://schemas.microsoft.com/office/drawing/2014/main" id="{CAE37786-BBA6-42F4-2E26-A808E55CFBAA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3"/>
          <a:srcRect l="15" r="15"/>
          <a:stretch>
            <a:fillRect/>
          </a:stretch>
        </p:blipFill>
        <p:spPr>
          <a:xfrm>
            <a:off x="1" y="441324"/>
            <a:ext cx="5988050" cy="5651501"/>
          </a:xfrm>
        </p:spPr>
      </p:pic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D7740E89-EA43-DC5A-6D07-D89FF124C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48AD3930-78BC-BCE5-74E3-E2B34789F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6451D-1641-964E-B995-104A5CF7FFD9}" type="slidenum">
              <a:rPr lang="it-IT" smtClean="0"/>
              <a:pPr/>
              <a:t>52</a:t>
            </a:fld>
            <a:endParaRPr lang="it-IT" dirty="0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590800ED-8945-D047-3878-FEBADA7FB7B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it-IT" sz="1709">
                <a:latin typeface="Karla"/>
              </a:rPr>
              <a:t>mockup di landing e newsletter</a:t>
            </a:r>
          </a:p>
          <a:p>
            <a:pPr marL="285750" indent="-285750">
              <a:buFont typeface="Arial"/>
              <a:buChar char="•"/>
            </a:pPr>
            <a:r>
              <a:rPr lang="it-IT" sz="1709">
                <a:latin typeface="Karla"/>
              </a:rPr>
              <a:t>post social e locandine evento</a:t>
            </a:r>
          </a:p>
          <a:p>
            <a:pPr marL="285750" indent="-285750">
              <a:buFont typeface="Arial"/>
              <a:buChar char="•"/>
            </a:pPr>
            <a:r>
              <a:rPr lang="it-IT" sz="1709">
                <a:latin typeface="Karla"/>
              </a:rPr>
              <a:t>presentazioni on-brand</a:t>
            </a:r>
          </a:p>
          <a:p>
            <a:pPr marL="285750" indent="-285750">
              <a:buFont typeface="Arial"/>
              <a:buChar char="•"/>
            </a:pPr>
            <a:r>
              <a:rPr lang="it-IT" sz="1709">
                <a:latin typeface="Karla"/>
              </a:rPr>
              <a:t>per le foto resta Leonardo AI</a:t>
            </a:r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9ABFC639-551E-1750-F630-7AB63B013F1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it-IT">
                <a:latin typeface="Karla"/>
              </a:rPr>
              <a:t>Nato ad aprile come app a sé, da settembre è dentro Claude. Dal brief arriva a un layout modificabile, anche con il design system del brand.</a:t>
            </a:r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8ADFBBC1-E015-5FC2-6F1C-8BC9D9FE217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it-IT"/>
              <a:t>Per il marketing</a:t>
            </a:r>
          </a:p>
        </p:txBody>
      </p:sp>
      <p:sp>
        <p:nvSpPr>
          <p:cNvPr id="8" name="Segnaposto testo 7">
            <a:extLst>
              <a:ext uri="{FF2B5EF4-FFF2-40B4-BE49-F238E27FC236}">
                <a16:creationId xmlns:a16="http://schemas.microsoft.com/office/drawing/2014/main" id="{045F09C8-7A0B-2D82-048C-89CC08258D2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it-IT"/>
              <a:t>Claude Design</a:t>
            </a:r>
          </a:p>
        </p:txBody>
      </p:sp>
      <p:cxnSp>
        <p:nvCxnSpPr>
          <p:cNvPr id="11" name="Connettore 1 10">
            <a:extLst>
              <a:ext uri="{FF2B5EF4-FFF2-40B4-BE49-F238E27FC236}">
                <a16:creationId xmlns:a16="http://schemas.microsoft.com/office/drawing/2014/main" id="{947085F4-0B86-8C4A-8E9A-B06A870BD802}"/>
              </a:ext>
            </a:extLst>
          </p:cNvPr>
          <p:cNvCxnSpPr>
            <a:cxnSpLocks/>
          </p:cNvCxnSpPr>
          <p:nvPr/>
        </p:nvCxnSpPr>
        <p:spPr>
          <a:xfrm>
            <a:off x="6203950" y="441325"/>
            <a:ext cx="5580063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ttore 1 12">
            <a:extLst>
              <a:ext uri="{FF2B5EF4-FFF2-40B4-BE49-F238E27FC236}">
                <a16:creationId xmlns:a16="http://schemas.microsoft.com/office/drawing/2014/main" id="{20AD8D09-B887-384E-AF26-4F84A3FEFB90}"/>
              </a:ext>
            </a:extLst>
          </p:cNvPr>
          <p:cNvCxnSpPr>
            <a:cxnSpLocks/>
          </p:cNvCxnSpPr>
          <p:nvPr/>
        </p:nvCxnSpPr>
        <p:spPr>
          <a:xfrm>
            <a:off x="6203950" y="3429000"/>
            <a:ext cx="5580063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ttore 1 11">
            <a:extLst>
              <a:ext uri="{FF2B5EF4-FFF2-40B4-BE49-F238E27FC236}">
                <a16:creationId xmlns:a16="http://schemas.microsoft.com/office/drawing/2014/main" id="{512EB736-D425-92EA-963D-D08F6E3906AE}"/>
              </a:ext>
            </a:extLst>
          </p:cNvPr>
          <p:cNvCxnSpPr>
            <a:cxnSpLocks/>
          </p:cNvCxnSpPr>
          <p:nvPr/>
        </p:nvCxnSpPr>
        <p:spPr>
          <a:xfrm>
            <a:off x="6199588" y="454382"/>
            <a:ext cx="5580063" cy="0"/>
          </a:xfrm>
          <a:prstGeom prst="line">
            <a:avLst/>
          </a:prstGeom>
          <a:ln w="15875"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ttore 1 13">
            <a:extLst>
              <a:ext uri="{FF2B5EF4-FFF2-40B4-BE49-F238E27FC236}">
                <a16:creationId xmlns:a16="http://schemas.microsoft.com/office/drawing/2014/main" id="{6C74E27F-FB86-CCFC-B304-F01F71AB7A24}"/>
              </a:ext>
            </a:extLst>
          </p:cNvPr>
          <p:cNvCxnSpPr>
            <a:cxnSpLocks/>
          </p:cNvCxnSpPr>
          <p:nvPr/>
        </p:nvCxnSpPr>
        <p:spPr>
          <a:xfrm>
            <a:off x="6199588" y="3478153"/>
            <a:ext cx="5580063" cy="0"/>
          </a:xfrm>
          <a:prstGeom prst="line">
            <a:avLst/>
          </a:prstGeom>
          <a:ln w="15875"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tangolo 2">
            <a:extLst>
              <a:ext uri="{FF2B5EF4-FFF2-40B4-BE49-F238E27FC236}">
                <a16:creationId xmlns:a16="http://schemas.microsoft.com/office/drawing/2014/main" id="{FE3F8970-ADB9-FC80-EE5C-032B8DDA03C8}"/>
              </a:ext>
            </a:extLst>
          </p:cNvPr>
          <p:cNvSpPr/>
          <p:nvPr/>
        </p:nvSpPr>
        <p:spPr>
          <a:xfrm>
            <a:off x="0" y="3442446"/>
            <a:ext cx="12192000" cy="341555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F658AAB5-4DA6-E1F8-E32F-066FF90705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3978" y="4115920"/>
            <a:ext cx="5608587" cy="687414"/>
          </a:xfrm>
        </p:spPr>
        <p:txBody>
          <a:bodyPr/>
          <a:lstStyle/>
          <a:p>
            <a:r>
              <a:rPr lang="it-IT"/>
              <a:t>Skill e agenti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1026BD36-5398-6256-97FF-323A74260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59395" y="6356350"/>
            <a:ext cx="1922987" cy="365125"/>
          </a:xfrm>
        </p:spPr>
        <p:txBody>
          <a:bodyPr/>
          <a:lstStyle/>
          <a:p>
            <a:endParaRPr lang="it-IT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88B0C64A-590C-FCF6-0BA0-546ED8029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38555" y="6356350"/>
            <a:ext cx="723280" cy="365125"/>
          </a:xfrm>
        </p:spPr>
        <p:txBody>
          <a:bodyPr/>
          <a:lstStyle/>
          <a:p>
            <a:fld id="{13D6451D-1641-964E-B995-104A5CF7FFD9}" type="slidenum">
              <a:rPr lang="it-IT" smtClean="0"/>
              <a:pPr/>
              <a:t>53</a:t>
            </a:fld>
            <a:endParaRPr lang="it-IT" dirty="0"/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C6FAFAA2-E607-9ED6-0BD6-A042B53336A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49604" y="4869610"/>
            <a:ext cx="5638820" cy="931862"/>
          </a:xfrm>
        </p:spPr>
        <p:txBody>
          <a:bodyPr/>
          <a:lstStyle/>
          <a:p>
            <a:r>
              <a:rPr lang="it-IT" sz="2519"/>
              <a:t>Sezione 06 · Agenti, connettori, pianificate, Code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7D589769-AD7F-BB90-79EE-7A3DFE1D75E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787" y="6333330"/>
            <a:ext cx="1991187" cy="412376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Segnaposto immagine 9" descr="Immagine che contiene interno, interior design, muro, soffitto&#10;&#10;Il contenuto generato dall'IA potrebbe non essere corretto.">
            <a:extLst>
              <a:ext uri="{FF2B5EF4-FFF2-40B4-BE49-F238E27FC236}">
                <a16:creationId xmlns:a16="http://schemas.microsoft.com/office/drawing/2014/main" id="{0E30B22B-36A8-4A36-3F8E-BA9DE1BC07CB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3"/>
          <a:srcRect l="15" r="15"/>
          <a:stretch>
            <a:fillRect/>
          </a:stretch>
        </p:blipFill>
        <p:spPr>
          <a:xfrm>
            <a:off x="1" y="441324"/>
            <a:ext cx="5988050" cy="5651501"/>
          </a:xfrm>
        </p:spPr>
      </p:pic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51E6D9C1-6652-F14B-33AC-6E8FD9711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80DE77F-7D5E-A394-737F-5251C093A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6451D-1641-964E-B995-104A5CF7FFD9}" type="slidenum">
              <a:rPr lang="it-IT" smtClean="0"/>
              <a:pPr/>
              <a:t>54</a:t>
            </a:fld>
            <a:endParaRPr lang="it-IT" dirty="0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678C8310-1E7B-4250-0C1E-D3C48A7C40D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it-IT">
                <a:latin typeface="Karla"/>
              </a:rPr>
              <a:t>si attiva da sola quando serve</a:t>
            </a:r>
          </a:p>
          <a:p>
            <a:pPr marL="285750" indent="-285750">
              <a:buFont typeface="Arial"/>
              <a:buChar char="•"/>
            </a:pPr>
            <a:r>
              <a:rPr lang="it-IT">
                <a:latin typeface="Karla"/>
              </a:rPr>
              <a:t>o la richiami con /</a:t>
            </a:r>
          </a:p>
          <a:p>
            <a:pPr marL="285750" indent="-285750">
              <a:buFont typeface="Arial"/>
              <a:buChar char="•"/>
            </a:pPr>
            <a:r>
              <a:rPr lang="it-IT">
                <a:latin typeface="Karla"/>
              </a:rPr>
              <a:t>vale in tutti i progetti</a:t>
            </a:r>
          </a:p>
          <a:p>
            <a:pPr marL="285750" indent="-285750">
              <a:buFont typeface="Arial"/>
              <a:buChar char="•"/>
            </a:pPr>
            <a:r>
              <a:rPr lang="it-IT">
                <a:latin typeface="Karla"/>
              </a:rPr>
              <a:t>es. «tono di voce», «comunicato»</a:t>
            </a:r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36C47D9A-E3B2-49D5-133D-34210BC413A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it-IT">
                <a:latin typeface="Karla"/>
              </a:rPr>
              <a:t>Una cartella con un file di istruzioni (SKILL.md) che insegna a Claude come fare bene un compito: un metodo, un tono, un formato.</a:t>
            </a:r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5C83EFD7-7A83-9EC9-4F8A-FCD1C0ED130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it-IT"/>
              <a:t>Come funziona</a:t>
            </a:r>
          </a:p>
        </p:txBody>
      </p:sp>
      <p:sp>
        <p:nvSpPr>
          <p:cNvPr id="8" name="Segnaposto testo 7">
            <a:extLst>
              <a:ext uri="{FF2B5EF4-FFF2-40B4-BE49-F238E27FC236}">
                <a16:creationId xmlns:a16="http://schemas.microsoft.com/office/drawing/2014/main" id="{EFAA5162-FD8F-A9C2-DDDF-65637CD0418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it-IT"/>
              <a:t>Cos'è</a:t>
            </a:r>
          </a:p>
        </p:txBody>
      </p:sp>
      <p:cxnSp>
        <p:nvCxnSpPr>
          <p:cNvPr id="11" name="Connettore 1 10">
            <a:extLst>
              <a:ext uri="{FF2B5EF4-FFF2-40B4-BE49-F238E27FC236}">
                <a16:creationId xmlns:a16="http://schemas.microsoft.com/office/drawing/2014/main" id="{26E6A3F1-1138-C810-5BE0-89DFB5B6CD74}"/>
              </a:ext>
            </a:extLst>
          </p:cNvPr>
          <p:cNvCxnSpPr>
            <a:cxnSpLocks/>
          </p:cNvCxnSpPr>
          <p:nvPr/>
        </p:nvCxnSpPr>
        <p:spPr>
          <a:xfrm>
            <a:off x="6203950" y="441325"/>
            <a:ext cx="5580063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ttore 1 12">
            <a:extLst>
              <a:ext uri="{FF2B5EF4-FFF2-40B4-BE49-F238E27FC236}">
                <a16:creationId xmlns:a16="http://schemas.microsoft.com/office/drawing/2014/main" id="{707D02A4-951D-2269-B7D1-0FE03923480E}"/>
              </a:ext>
            </a:extLst>
          </p:cNvPr>
          <p:cNvCxnSpPr>
            <a:cxnSpLocks/>
          </p:cNvCxnSpPr>
          <p:nvPr/>
        </p:nvCxnSpPr>
        <p:spPr>
          <a:xfrm>
            <a:off x="6203950" y="3465096"/>
            <a:ext cx="5580063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Segnaposto immagine 8">
            <a:extLst>
              <a:ext uri="{FF2B5EF4-FFF2-40B4-BE49-F238E27FC236}">
                <a16:creationId xmlns:a16="http://schemas.microsoft.com/office/drawing/2014/main" id="{A12B5639-49C3-6C26-0924-928DA7BFD00C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3"/>
          <a:srcRect t="20" b="20"/>
          <a:stretch/>
        </p:blipFill>
        <p:spPr>
          <a:xfrm>
            <a:off x="-1" y="441325"/>
            <a:ext cx="7876903" cy="5651499"/>
          </a:xfr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1D5DC4FF-FFB6-C57F-B0E5-4318214EE4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64533" y="415199"/>
            <a:ext cx="3682184" cy="839334"/>
          </a:xfrm>
        </p:spPr>
        <p:txBody>
          <a:bodyPr/>
          <a:lstStyle/>
          <a:p>
            <a:r>
              <a:rPr lang="it-IT"/>
              <a:t>Dentro una skill</a:t>
            </a: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4670410F-3B65-AB9C-CC0C-3C0901C4F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59395" y="6356350"/>
            <a:ext cx="1922987" cy="365125"/>
          </a:xfrm>
        </p:spPr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F0158C3-5C5A-B6DD-0789-921BAFF0F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38555" y="6356350"/>
            <a:ext cx="723280" cy="365125"/>
          </a:xfrm>
        </p:spPr>
        <p:txBody>
          <a:bodyPr/>
          <a:lstStyle/>
          <a:p>
            <a:fld id="{13D6451D-1641-964E-B995-104A5CF7FFD9}" type="slidenum">
              <a:rPr lang="it-IT" smtClean="0"/>
              <a:pPr/>
              <a:t>55</a:t>
            </a:fld>
            <a:endParaRPr lang="it-IT" dirty="0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417462D0-F733-FF6E-518E-4B63287CB29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050232" y="1736475"/>
            <a:ext cx="3825245" cy="2357734"/>
          </a:xfrm>
        </p:spPr>
        <p:txBody>
          <a:bodyPr/>
          <a:lstStyle/>
          <a:p>
            <a:r>
              <a:rPr lang="it-IT">
                <a:latin typeface="Karla"/>
              </a:rPr>
              <a:t>Nessun codice obbligatorio: è un testo. La descrizione in alto decide quando la skill scatta, il corpo spiega il metodo.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Segnaposto immagine 9">
            <a:extLst>
              <a:ext uri="{FF2B5EF4-FFF2-40B4-BE49-F238E27FC236}">
                <a16:creationId xmlns:a16="http://schemas.microsoft.com/office/drawing/2014/main" id="{CAE37786-BBA6-42F4-2E26-A808E55CFBAA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3"/>
          <a:srcRect l="15" r="15"/>
          <a:stretch>
            <a:fillRect/>
          </a:stretch>
        </p:blipFill>
        <p:spPr>
          <a:xfrm>
            <a:off x="1" y="441324"/>
            <a:ext cx="5988050" cy="5651501"/>
          </a:xfrm>
        </p:spPr>
      </p:pic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D7740E89-EA43-DC5A-6D07-D89FF124C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48AD3930-78BC-BCE5-74E3-E2B34789F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6451D-1641-964E-B995-104A5CF7FFD9}" type="slidenum">
              <a:rPr lang="it-IT" smtClean="0"/>
              <a:pPr/>
              <a:t>56</a:t>
            </a:fld>
            <a:endParaRPr lang="it-IT" dirty="0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590800ED-8945-D047-3878-FEBADA7FB7B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it-IT" sz="1709">
                <a:latin typeface="Karla"/>
              </a:rPr>
              <a:t>skill per Word, Excel, PowerPoint, PDF</a:t>
            </a:r>
          </a:p>
          <a:p>
            <a:pPr marL="285750" indent="-285750">
              <a:buFont typeface="Arial"/>
              <a:buChar char="•"/>
            </a:pPr>
            <a:r>
              <a:rPr lang="it-IT" sz="1709">
                <a:latin typeface="Karla"/>
              </a:rPr>
              <a:t>plugin: pacchetti di skill e connettori</a:t>
            </a:r>
          </a:p>
          <a:p>
            <a:pPr marL="285750" indent="-285750">
              <a:buFont typeface="Arial"/>
              <a:buChar char="•"/>
            </a:pPr>
            <a:r>
              <a:rPr lang="it-IT" sz="1709">
                <a:latin typeface="Karla"/>
              </a:rPr>
              <a:t>es. plugin Marketing e Brand Voice</a:t>
            </a:r>
          </a:p>
          <a:p>
            <a:pPr marL="285750" indent="-285750">
              <a:buFont typeface="Arial"/>
              <a:buChar char="•"/>
            </a:pPr>
            <a:r>
              <a:rPr lang="it-IT" sz="1709">
                <a:latin typeface="Karla"/>
              </a:rPr>
              <a:t>le skill condivise dal team</a:t>
            </a:r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9ABFC639-551E-1750-F630-7AB63B013F1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it-IT">
                <a:latin typeface="Karla"/>
              </a:rPr>
              <a:t>Claude Marketplace (da settembre): plugin, connettori, agenti e partner in un solo posto. Si apre da Customize &gt; Skill, Connettori o Plugin &gt; +.</a:t>
            </a:r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8ADFBBC1-E015-5FC2-6F1C-8BC9D9FE217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it-IT"/>
              <a:t>Cosa trovi</a:t>
            </a:r>
          </a:p>
        </p:txBody>
      </p:sp>
      <p:sp>
        <p:nvSpPr>
          <p:cNvPr id="8" name="Segnaposto testo 7">
            <a:extLst>
              <a:ext uri="{FF2B5EF4-FFF2-40B4-BE49-F238E27FC236}">
                <a16:creationId xmlns:a16="http://schemas.microsoft.com/office/drawing/2014/main" id="{045F09C8-7A0B-2D82-048C-89CC08258D2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it-IT"/>
              <a:t>Il marketplace</a:t>
            </a:r>
          </a:p>
        </p:txBody>
      </p:sp>
      <p:cxnSp>
        <p:nvCxnSpPr>
          <p:cNvPr id="11" name="Connettore 1 10">
            <a:extLst>
              <a:ext uri="{FF2B5EF4-FFF2-40B4-BE49-F238E27FC236}">
                <a16:creationId xmlns:a16="http://schemas.microsoft.com/office/drawing/2014/main" id="{947085F4-0B86-8C4A-8E9A-B06A870BD802}"/>
              </a:ext>
            </a:extLst>
          </p:cNvPr>
          <p:cNvCxnSpPr>
            <a:cxnSpLocks/>
          </p:cNvCxnSpPr>
          <p:nvPr/>
        </p:nvCxnSpPr>
        <p:spPr>
          <a:xfrm>
            <a:off x="6203950" y="441325"/>
            <a:ext cx="5580063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ttore 1 12">
            <a:extLst>
              <a:ext uri="{FF2B5EF4-FFF2-40B4-BE49-F238E27FC236}">
                <a16:creationId xmlns:a16="http://schemas.microsoft.com/office/drawing/2014/main" id="{20AD8D09-B887-384E-AF26-4F84A3FEFB90}"/>
              </a:ext>
            </a:extLst>
          </p:cNvPr>
          <p:cNvCxnSpPr>
            <a:cxnSpLocks/>
          </p:cNvCxnSpPr>
          <p:nvPr/>
        </p:nvCxnSpPr>
        <p:spPr>
          <a:xfrm>
            <a:off x="6203950" y="3429000"/>
            <a:ext cx="5580063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ttore 1 11">
            <a:extLst>
              <a:ext uri="{FF2B5EF4-FFF2-40B4-BE49-F238E27FC236}">
                <a16:creationId xmlns:a16="http://schemas.microsoft.com/office/drawing/2014/main" id="{512EB736-D425-92EA-963D-D08F6E3906AE}"/>
              </a:ext>
            </a:extLst>
          </p:cNvPr>
          <p:cNvCxnSpPr>
            <a:cxnSpLocks/>
          </p:cNvCxnSpPr>
          <p:nvPr/>
        </p:nvCxnSpPr>
        <p:spPr>
          <a:xfrm>
            <a:off x="6199588" y="454382"/>
            <a:ext cx="5580063" cy="0"/>
          </a:xfrm>
          <a:prstGeom prst="line">
            <a:avLst/>
          </a:prstGeom>
          <a:ln w="15875"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ttore 1 13">
            <a:extLst>
              <a:ext uri="{FF2B5EF4-FFF2-40B4-BE49-F238E27FC236}">
                <a16:creationId xmlns:a16="http://schemas.microsoft.com/office/drawing/2014/main" id="{6C74E27F-FB86-CCFC-B304-F01F71AB7A24}"/>
              </a:ext>
            </a:extLst>
          </p:cNvPr>
          <p:cNvCxnSpPr>
            <a:cxnSpLocks/>
          </p:cNvCxnSpPr>
          <p:nvPr/>
        </p:nvCxnSpPr>
        <p:spPr>
          <a:xfrm>
            <a:off x="6199588" y="3478153"/>
            <a:ext cx="5580063" cy="0"/>
          </a:xfrm>
          <a:prstGeom prst="line">
            <a:avLst/>
          </a:prstGeom>
          <a:ln w="15875"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6D47EF5-7F82-9505-7D2B-E3131CCC95D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/>
              <a:t>Creare una skill</a:t>
            </a:r>
            <a:br>
              <a:rPr lang="it-IT"/>
            </a:br>
            <a:r>
              <a:rPr lang="it-IT"/>
              <a:t>su misura</a:t>
            </a: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62D1BC6C-5EAC-6542-91A5-5AECDCF2B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A673DE2-373C-4810-E2D9-AB4A00DE4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6451D-1641-964E-B995-104A5CF7FFD9}" type="slidenum">
              <a:rPr lang="it-IT" smtClean="0"/>
              <a:pPr/>
              <a:t>57</a:t>
            </a:fld>
            <a:endParaRPr lang="it-IT" dirty="0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B9C44978-D868-95C9-90D3-998C3AC4C6E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it-IT">
                <a:latin typeface="Karla"/>
              </a:rPr>
              <a:t>1. Scegli un compito che ripeti spesso e che fai sempre allo stesso modo.</a:t>
            </a:r>
          </a:p>
          <a:p>
            <a:r>
              <a:rPr lang="it-IT">
                <a:latin typeface="Karla"/>
              </a:rPr>
              <a:t>2. Chiedi a Claude: «Crea una skill che...» e descrivi il compito.</a:t>
            </a:r>
          </a:p>
          <a:p>
            <a:r>
              <a:rPr lang="it-IT">
                <a:latin typeface="Karla"/>
              </a:rPr>
              <a:t>3. Claude ti fa domande, poi scrive la skill.</a:t>
            </a:r>
          </a:p>
          <a:p>
            <a:r>
              <a:rPr lang="it-IT">
                <a:latin typeface="Karla"/>
              </a:rPr>
              <a:t>4. Allega esempi buoni e cattivi: la rendono precisa.</a:t>
            </a:r>
          </a:p>
          <a:p>
            <a:r>
              <a:rPr lang="it-IT">
                <a:latin typeface="Karla"/>
              </a:rPr>
              <a:t>5. Salvala con la scheda di revisione, o carica il file in Customize &gt; Skill.</a:t>
            </a:r>
          </a:p>
          <a:p>
            <a:r>
              <a:rPr lang="it-IT">
                <a:latin typeface="Karla"/>
              </a:rPr>
              <a:t>6. Provala su 3 casi reali e chiedi di correggerla.</a:t>
            </a:r>
          </a:p>
          <a:p>
            <a:r>
              <a:rPr lang="it-IT">
                <a:latin typeface="Karla"/>
              </a:rPr>
              <a:t>7. Condividila con il team.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F793BD9-74D4-443D-ADCB-E58599E2CD1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/>
              <a:t>Idee di skill</a:t>
            </a:r>
            <a:br>
              <a:rPr lang="it-IT"/>
            </a:br>
            <a:r>
              <a:rPr lang="it-IT"/>
              <a:t>per il marketing</a:t>
            </a: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D30CE9DD-37E3-B2D7-45DD-D66DD31C9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C84CF9C-4371-9672-F423-35D96CFAD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6451D-1641-964E-B995-104A5CF7FFD9}" type="slidenum">
              <a:rPr lang="it-IT" smtClean="0"/>
              <a:pPr/>
              <a:t>58</a:t>
            </a:fld>
            <a:endParaRPr lang="it-IT" dirty="0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B41D3C8E-18B5-19A9-C672-37F093B9A05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it-IT">
                <a:latin typeface="Karla"/>
              </a:rPr>
              <a:t>Tono di voce: riscrive qualsiasi testo nello stile del brand</a:t>
            </a:r>
          </a:p>
          <a:p>
            <a:pPr marL="285750" indent="-285750">
              <a:buFont typeface="Arial"/>
              <a:buChar char="•"/>
            </a:pPr>
            <a:r>
              <a:rPr lang="it-IT">
                <a:latin typeface="Karla"/>
              </a:rPr>
              <a:t>Comunicato stampa: struttura, lunghezza, boilerplate</a:t>
            </a:r>
          </a:p>
          <a:p>
            <a:pPr marL="285750" indent="-285750">
              <a:buFont typeface="Arial"/>
              <a:buChar char="•"/>
            </a:pPr>
            <a:r>
              <a:rPr lang="it-IT">
                <a:latin typeface="Karla"/>
              </a:rPr>
              <a:t>Scheda prodotto: da dati tecnici a testo emozionale</a:t>
            </a:r>
          </a:p>
          <a:p>
            <a:pPr marL="285750" indent="-285750">
              <a:buFont typeface="Arial"/>
              <a:buChar char="•"/>
            </a:pPr>
            <a:r>
              <a:rPr lang="it-IT">
                <a:latin typeface="Karla"/>
              </a:rPr>
              <a:t>Post social: formati, lunghezze e hashtag per canale</a:t>
            </a:r>
          </a:p>
          <a:p>
            <a:pPr marL="285750" indent="-285750">
              <a:buFont typeface="Arial"/>
              <a:buChar char="•"/>
            </a:pPr>
            <a:r>
              <a:rPr lang="it-IT">
                <a:latin typeface="Karla"/>
              </a:rPr>
              <a:t>Report campagna: dagli export al documento per la direzione</a:t>
            </a:r>
          </a:p>
          <a:p>
            <a:pPr marL="285750" indent="-285750">
              <a:buFont typeface="Arial"/>
              <a:buChar char="•"/>
            </a:pPr>
            <a:r>
              <a:rPr lang="it-IT">
                <a:latin typeface="Karla"/>
              </a:rPr>
              <a:t>Presentazione nel template del gruppo</a:t>
            </a:r>
          </a:p>
          <a:p>
            <a:pPr marL="285750" indent="-285750">
              <a:buFont typeface="Arial"/>
              <a:buChar char="•"/>
            </a:pPr>
            <a:r>
              <a:rPr lang="it-IT">
                <a:latin typeface="Karla"/>
              </a:rPr>
              <a:t>Brief per agenzie e fotografi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Segnaposto immagine 9" descr="Immagine che contiene interno, interior design, muro, soffitto&#10;&#10;Il contenuto generato dall'IA potrebbe non essere corretto.">
            <a:extLst>
              <a:ext uri="{FF2B5EF4-FFF2-40B4-BE49-F238E27FC236}">
                <a16:creationId xmlns:a16="http://schemas.microsoft.com/office/drawing/2014/main" id="{0E30B22B-36A8-4A36-3F8E-BA9DE1BC07CB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3"/>
          <a:srcRect l="15" r="15"/>
          <a:stretch>
            <a:fillRect/>
          </a:stretch>
        </p:blipFill>
        <p:spPr>
          <a:xfrm>
            <a:off x="1" y="441324"/>
            <a:ext cx="5988050" cy="5651501"/>
          </a:xfrm>
        </p:spPr>
      </p:pic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51E6D9C1-6652-F14B-33AC-6E8FD9711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80DE77F-7D5E-A394-737F-5251C093A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6451D-1641-964E-B995-104A5CF7FFD9}" type="slidenum">
              <a:rPr lang="it-IT" smtClean="0"/>
              <a:pPr/>
              <a:t>59</a:t>
            </a:fld>
            <a:endParaRPr lang="it-IT" dirty="0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678C8310-1E7B-4250-0C1E-D3C48A7C40D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it-IT">
                <a:latin typeface="Karla"/>
              </a:rPr>
              <a:t>lavori lunghi in più passaggi</a:t>
            </a:r>
          </a:p>
          <a:p>
            <a:pPr marL="285750" indent="-285750">
              <a:buFont typeface="Arial"/>
              <a:buChar char="•"/>
            </a:pPr>
            <a:r>
              <a:rPr lang="it-IT">
                <a:latin typeface="Karla"/>
              </a:rPr>
              <a:t>più analisi in parallelo</a:t>
            </a:r>
          </a:p>
          <a:p>
            <a:pPr marL="285750" indent="-285750">
              <a:buFont typeface="Arial"/>
              <a:buChar char="•"/>
            </a:pPr>
            <a:r>
              <a:rPr lang="it-IT">
                <a:latin typeface="Karla"/>
              </a:rPr>
              <a:t>ricerche ampie da riassumere</a:t>
            </a:r>
          </a:p>
          <a:p>
            <a:pPr marL="285750" indent="-285750">
              <a:buFont typeface="Arial"/>
              <a:buChar char="•"/>
            </a:pPr>
            <a:r>
              <a:rPr lang="it-IT">
                <a:latin typeface="Karla"/>
              </a:rPr>
              <a:t>tenere pulita la conversazione</a:t>
            </a:r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36C47D9A-E3B2-49D5-133D-34210BC413A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it-IT">
                <a:latin typeface="Karla"/>
              </a:rPr>
              <a:t>Un collaboratore con un contesto separato: Claude gli affida un compito intero, lui lo svolge per conto suo e riporta solo il risultato.</a:t>
            </a:r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5C83EFD7-7A83-9EC9-4F8A-FCD1C0ED130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it-IT"/>
              <a:t>Quando serve</a:t>
            </a:r>
          </a:p>
        </p:txBody>
      </p:sp>
      <p:sp>
        <p:nvSpPr>
          <p:cNvPr id="8" name="Segnaposto testo 7">
            <a:extLst>
              <a:ext uri="{FF2B5EF4-FFF2-40B4-BE49-F238E27FC236}">
                <a16:creationId xmlns:a16="http://schemas.microsoft.com/office/drawing/2014/main" id="{EFAA5162-FD8F-A9C2-DDDF-65637CD0418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it-IT"/>
              <a:t>Cos'è</a:t>
            </a:r>
          </a:p>
        </p:txBody>
      </p:sp>
      <p:cxnSp>
        <p:nvCxnSpPr>
          <p:cNvPr id="11" name="Connettore 1 10">
            <a:extLst>
              <a:ext uri="{FF2B5EF4-FFF2-40B4-BE49-F238E27FC236}">
                <a16:creationId xmlns:a16="http://schemas.microsoft.com/office/drawing/2014/main" id="{26E6A3F1-1138-C810-5BE0-89DFB5B6CD74}"/>
              </a:ext>
            </a:extLst>
          </p:cNvPr>
          <p:cNvCxnSpPr>
            <a:cxnSpLocks/>
          </p:cNvCxnSpPr>
          <p:nvPr/>
        </p:nvCxnSpPr>
        <p:spPr>
          <a:xfrm>
            <a:off x="6203950" y="441325"/>
            <a:ext cx="5580063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ttore 1 12">
            <a:extLst>
              <a:ext uri="{FF2B5EF4-FFF2-40B4-BE49-F238E27FC236}">
                <a16:creationId xmlns:a16="http://schemas.microsoft.com/office/drawing/2014/main" id="{707D02A4-951D-2269-B7D1-0FE03923480E}"/>
              </a:ext>
            </a:extLst>
          </p:cNvPr>
          <p:cNvCxnSpPr>
            <a:cxnSpLocks/>
          </p:cNvCxnSpPr>
          <p:nvPr/>
        </p:nvCxnSpPr>
        <p:spPr>
          <a:xfrm>
            <a:off x="6203950" y="3465096"/>
            <a:ext cx="5580063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ADED681-84E5-AEB9-F436-72396F9B8E8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/>
              <a:t>Come si crea</a:t>
            </a:r>
            <a:br>
              <a:rPr lang="it-IT"/>
            </a:br>
            <a:r>
              <a:rPr lang="it-IT"/>
              <a:t>un agente</a:t>
            </a: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9F09FC85-CEA7-237E-6BE2-7B9206D04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4E4368F-7A30-F387-08EE-7E7CBE9CC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6451D-1641-964E-B995-104A5CF7FFD9}" type="slidenum">
              <a:rPr lang="it-IT" smtClean="0"/>
              <a:pPr/>
              <a:t>60</a:t>
            </a:fld>
            <a:endParaRPr lang="it-IT" dirty="0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60D7638C-CC8E-08F3-B3C2-B1A51502FB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it-IT">
                <a:latin typeface="Karla"/>
              </a:rPr>
              <a:t>Un agente è un file di ruolo con quattro elementi:</a:t>
            </a:r>
          </a:p>
          <a:p>
            <a:pPr marL="285750" indent="-285750">
              <a:buFont typeface="Arial"/>
              <a:buChar char="•"/>
            </a:pPr>
            <a:r>
              <a:rPr lang="it-IT">
                <a:latin typeface="Karla"/>
              </a:rPr>
              <a:t>nome e descrizione: chi è e quando usarlo</a:t>
            </a:r>
          </a:p>
          <a:p>
            <a:pPr marL="285750" indent="-285750">
              <a:buFont typeface="Arial"/>
              <a:buChar char="•"/>
            </a:pPr>
            <a:r>
              <a:rPr lang="it-IT">
                <a:latin typeface="Karla"/>
              </a:rPr>
              <a:t>strumenti: cosa può usare (file, web, connettori)</a:t>
            </a:r>
          </a:p>
          <a:p>
            <a:pPr marL="285750" indent="-285750">
              <a:buFont typeface="Arial"/>
              <a:buChar char="•"/>
            </a:pPr>
            <a:r>
              <a:rPr lang="it-IT">
                <a:latin typeface="Karla"/>
              </a:rPr>
              <a:t>modello: con quale cervello lavora</a:t>
            </a:r>
          </a:p>
          <a:p>
            <a:pPr marL="285750" indent="-285750">
              <a:buFont typeface="Arial"/>
              <a:buChar char="•"/>
            </a:pPr>
            <a:r>
              <a:rPr lang="it-IT">
                <a:latin typeface="Karla"/>
              </a:rPr>
              <a:t>istruzioni: il suo metodo di lavoro</a:t>
            </a:r>
          </a:p>
          <a:p>
            <a:r>
              <a:rPr lang="it-IT">
                <a:latin typeface="Karla"/>
              </a:rPr>
              <a:t>Si crea chiedendolo a Claude, dentro un plugin o in Claude Code.</a:t>
            </a:r>
          </a:p>
          <a:p>
            <a:r>
              <a:rPr lang="it-IT">
                <a:latin typeface="Karla"/>
              </a:rPr>
              <a:t>Via semplice per iniziare: un progetto con istruzioni di ruolo è già un «agente leggero».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Segnaposto immagine 8">
            <a:extLst>
              <a:ext uri="{FF2B5EF4-FFF2-40B4-BE49-F238E27FC236}">
                <a16:creationId xmlns:a16="http://schemas.microsoft.com/office/drawing/2014/main" id="{A12B5639-49C3-6C26-0924-928DA7BFD00C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3"/>
          <a:srcRect t="20" b="20"/>
          <a:stretch/>
        </p:blipFill>
        <p:spPr>
          <a:xfrm>
            <a:off x="-1" y="441325"/>
            <a:ext cx="7876903" cy="5651499"/>
          </a:xfr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1D5DC4FF-FFB6-C57F-B0E5-4318214EE4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64533" y="415199"/>
            <a:ext cx="3682184" cy="839334"/>
          </a:xfrm>
        </p:spPr>
        <p:txBody>
          <a:bodyPr/>
          <a:lstStyle/>
          <a:p>
            <a:r>
              <a:rPr lang="it-IT"/>
              <a:t>Skill o agente?</a:t>
            </a: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4670410F-3B65-AB9C-CC0C-3C0901C4F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59395" y="6356350"/>
            <a:ext cx="1922987" cy="365125"/>
          </a:xfrm>
        </p:spPr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F0158C3-5C5A-B6DD-0789-921BAFF0F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38555" y="6356350"/>
            <a:ext cx="723280" cy="365125"/>
          </a:xfrm>
        </p:spPr>
        <p:txBody>
          <a:bodyPr/>
          <a:lstStyle/>
          <a:p>
            <a:fld id="{13D6451D-1641-964E-B995-104A5CF7FFD9}" type="slidenum">
              <a:rPr lang="it-IT" smtClean="0"/>
              <a:pPr/>
              <a:t>61</a:t>
            </a:fld>
            <a:endParaRPr lang="it-IT" dirty="0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417462D0-F733-FF6E-518E-4B63287CB29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050232" y="1736475"/>
            <a:ext cx="3825245" cy="2357734"/>
          </a:xfrm>
        </p:spPr>
        <p:txBody>
          <a:bodyPr/>
          <a:lstStyle/>
          <a:p>
            <a:r>
              <a:rPr lang="it-IT">
                <a:latin typeface="Karla"/>
              </a:rPr>
              <a:t>Non è una scelta: si compongono. Le skill danno il metodo, gli agenti fanno il lavoro.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Segnaposto immagine 16" descr="Immagine che contiene arredo, interior design, interno, muro&#10;&#10;Il contenuto generato dall'IA potrebbe non essere corretto.">
            <a:extLst>
              <a:ext uri="{FF2B5EF4-FFF2-40B4-BE49-F238E27FC236}">
                <a16:creationId xmlns:a16="http://schemas.microsoft.com/office/drawing/2014/main" id="{A2009422-89A6-EEE3-8915-EC80353F714A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3"/>
          <a:srcRect l="53" r="53"/>
          <a:stretch>
            <a:fillRect/>
          </a:stretch>
        </p:blipFill>
        <p:spPr>
          <a:xfrm>
            <a:off x="0" y="1773238"/>
            <a:ext cx="11784013" cy="4319587"/>
          </a:xfrm>
        </p:spPr>
      </p:pic>
      <p:sp>
        <p:nvSpPr>
          <p:cNvPr id="12" name="Titolo 11">
            <a:extLst>
              <a:ext uri="{FF2B5EF4-FFF2-40B4-BE49-F238E27FC236}">
                <a16:creationId xmlns:a16="http://schemas.microsoft.com/office/drawing/2014/main" id="{C67F1C3F-C869-B3E5-976B-8ACF72C960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4384" y="441325"/>
            <a:ext cx="3682184" cy="839334"/>
          </a:xfrm>
        </p:spPr>
        <p:txBody>
          <a:bodyPr/>
          <a:lstStyle/>
          <a:p>
            <a:r>
              <a:rPr lang="it-IT"/>
              <a:t>Come lavorano insieme</a:t>
            </a: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CED3D252-A3B8-5967-C08C-30A52050E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59395" y="6356350"/>
            <a:ext cx="1922987" cy="365125"/>
          </a:xfrm>
        </p:spPr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33F14E5-F6E6-228D-05C4-C12B4BA70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38555" y="6356350"/>
            <a:ext cx="723280" cy="365125"/>
          </a:xfrm>
        </p:spPr>
        <p:txBody>
          <a:bodyPr/>
          <a:lstStyle/>
          <a:p>
            <a:fld id="{13D6451D-1641-964E-B995-104A5CF7FFD9}" type="slidenum">
              <a:rPr lang="it-IT" smtClean="0"/>
              <a:pPr/>
              <a:t>62</a:t>
            </a:fld>
            <a:endParaRPr lang="it-IT" dirty="0"/>
          </a:p>
        </p:txBody>
      </p:sp>
      <p:sp>
        <p:nvSpPr>
          <p:cNvPr id="14" name="Segnaposto testo 13">
            <a:extLst>
              <a:ext uri="{FF2B5EF4-FFF2-40B4-BE49-F238E27FC236}">
                <a16:creationId xmlns:a16="http://schemas.microsoft.com/office/drawing/2014/main" id="{60DC93EE-17B2-3081-2D65-210FB2E6A8C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050232" y="590106"/>
            <a:ext cx="3825245" cy="906181"/>
          </a:xfrm>
        </p:spPr>
        <p:txBody>
          <a:bodyPr/>
          <a:lstStyle/>
          <a:p>
            <a:r>
              <a:rPr lang="it-IT">
                <a:latin typeface="Karla"/>
              </a:rPr>
              <a:t>Un esempio: l'analisi di una fiera con tre agenti e le loro skill.</a:t>
            </a:r>
          </a:p>
        </p:txBody>
      </p:sp>
      <p:cxnSp>
        <p:nvCxnSpPr>
          <p:cNvPr id="23" name="Connettore 1 22">
            <a:extLst>
              <a:ext uri="{FF2B5EF4-FFF2-40B4-BE49-F238E27FC236}">
                <a16:creationId xmlns:a16="http://schemas.microsoft.com/office/drawing/2014/main" id="{B019C9E0-904B-93F1-F693-C4477C1EB3C6}"/>
              </a:ext>
            </a:extLst>
          </p:cNvPr>
          <p:cNvCxnSpPr>
            <a:cxnSpLocks/>
          </p:cNvCxnSpPr>
          <p:nvPr/>
        </p:nvCxnSpPr>
        <p:spPr>
          <a:xfrm>
            <a:off x="6203950" y="441325"/>
            <a:ext cx="5580063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Segnaposto immagine 9" descr="Immagine che contiene interno, interior design, muro, soffitto&#10;&#10;Il contenuto generato dall'IA potrebbe non essere corretto.">
            <a:extLst>
              <a:ext uri="{FF2B5EF4-FFF2-40B4-BE49-F238E27FC236}">
                <a16:creationId xmlns:a16="http://schemas.microsoft.com/office/drawing/2014/main" id="{0E30B22B-36A8-4A36-3F8E-BA9DE1BC07CB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3"/>
          <a:srcRect l="15" r="15"/>
          <a:stretch>
            <a:fillRect/>
          </a:stretch>
        </p:blipFill>
        <p:spPr>
          <a:xfrm>
            <a:off x="1" y="441324"/>
            <a:ext cx="5988050" cy="5651501"/>
          </a:xfrm>
        </p:spPr>
      </p:pic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51E6D9C1-6652-F14B-33AC-6E8FD9711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80DE77F-7D5E-A394-737F-5251C093A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6451D-1641-964E-B995-104A5CF7FFD9}" type="slidenum">
              <a:rPr lang="it-IT" smtClean="0"/>
              <a:pPr/>
              <a:t>63</a:t>
            </a:fld>
            <a:endParaRPr lang="it-IT" dirty="0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678C8310-1E7B-4250-0C1E-D3C48A7C40D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it-IT">
                <a:latin typeface="Karla"/>
              </a:rPr>
              <a:t>Customize &gt; Connettori</a:t>
            </a:r>
          </a:p>
          <a:p>
            <a:pPr marL="285750" indent="-285750">
              <a:buFont typeface="Arial"/>
              <a:buChar char="•"/>
            </a:pPr>
            <a:r>
              <a:rPr lang="it-IT">
                <a:latin typeface="Karla"/>
              </a:rPr>
              <a:t>Claude vede solo ciò che autorizzi</a:t>
            </a:r>
          </a:p>
          <a:p>
            <a:pPr marL="285750" indent="-285750">
              <a:buFont typeface="Arial"/>
              <a:buChar char="•"/>
            </a:pPr>
            <a:r>
              <a:rPr lang="it-IT">
                <a:latin typeface="Karla"/>
              </a:rPr>
              <a:t>Claude in Chrome naviga i siti</a:t>
            </a:r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36C47D9A-E3B2-49D5-133D-34210BC413A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it-IT">
                <a:latin typeface="Karla"/>
              </a:rPr>
              <a:t>I connettori collegano Claude a mail, calendario, Drive, SharePoint, Canva, CRM. MCP è lo standard che li fa funzionare: come una presa USB-C.</a:t>
            </a:r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5C83EFD7-7A83-9EC9-4F8A-FCD1C0ED130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it-IT"/>
              <a:t>Come si usano</a:t>
            </a:r>
          </a:p>
        </p:txBody>
      </p:sp>
      <p:sp>
        <p:nvSpPr>
          <p:cNvPr id="8" name="Segnaposto testo 7">
            <a:extLst>
              <a:ext uri="{FF2B5EF4-FFF2-40B4-BE49-F238E27FC236}">
                <a16:creationId xmlns:a16="http://schemas.microsoft.com/office/drawing/2014/main" id="{EFAA5162-FD8F-A9C2-DDDF-65637CD0418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it-IT"/>
              <a:t>Cos'è</a:t>
            </a:r>
          </a:p>
        </p:txBody>
      </p:sp>
      <p:cxnSp>
        <p:nvCxnSpPr>
          <p:cNvPr id="11" name="Connettore 1 10">
            <a:extLst>
              <a:ext uri="{FF2B5EF4-FFF2-40B4-BE49-F238E27FC236}">
                <a16:creationId xmlns:a16="http://schemas.microsoft.com/office/drawing/2014/main" id="{26E6A3F1-1138-C810-5BE0-89DFB5B6CD74}"/>
              </a:ext>
            </a:extLst>
          </p:cNvPr>
          <p:cNvCxnSpPr>
            <a:cxnSpLocks/>
          </p:cNvCxnSpPr>
          <p:nvPr/>
        </p:nvCxnSpPr>
        <p:spPr>
          <a:xfrm>
            <a:off x="6203950" y="441325"/>
            <a:ext cx="5580063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ttore 1 12">
            <a:extLst>
              <a:ext uri="{FF2B5EF4-FFF2-40B4-BE49-F238E27FC236}">
                <a16:creationId xmlns:a16="http://schemas.microsoft.com/office/drawing/2014/main" id="{707D02A4-951D-2269-B7D1-0FE03923480E}"/>
              </a:ext>
            </a:extLst>
          </p:cNvPr>
          <p:cNvCxnSpPr>
            <a:cxnSpLocks/>
          </p:cNvCxnSpPr>
          <p:nvPr/>
        </p:nvCxnSpPr>
        <p:spPr>
          <a:xfrm>
            <a:off x="6203950" y="3465096"/>
            <a:ext cx="5580063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Segnaposto immagine 9">
            <a:extLst>
              <a:ext uri="{FF2B5EF4-FFF2-40B4-BE49-F238E27FC236}">
                <a16:creationId xmlns:a16="http://schemas.microsoft.com/office/drawing/2014/main" id="{CAE37786-BBA6-42F4-2E26-A808E55CFBAA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3"/>
          <a:srcRect l="15" r="15"/>
          <a:stretch>
            <a:fillRect/>
          </a:stretch>
        </p:blipFill>
        <p:spPr>
          <a:xfrm>
            <a:off x="1" y="441324"/>
            <a:ext cx="5988050" cy="5651501"/>
          </a:xfrm>
        </p:spPr>
      </p:pic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D7740E89-EA43-DC5A-6D07-D89FF124C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48AD3930-78BC-BCE5-74E3-E2B34789F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6451D-1641-964E-B995-104A5CF7FFD9}" type="slidenum">
              <a:rPr lang="it-IT" smtClean="0"/>
              <a:pPr/>
              <a:t>64</a:t>
            </a:fld>
            <a:endParaRPr lang="it-IT" dirty="0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590800ED-8945-D047-3878-FEBADA7FB7B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it-IT" sz="1709">
                <a:latin typeface="Karla"/>
              </a:rPr>
              <a:t>Pianificate &gt; Crea con Claude</a:t>
            </a:r>
          </a:p>
          <a:p>
            <a:pPr marL="285750" indent="-285750">
              <a:buFont typeface="Arial"/>
              <a:buChar char="•"/>
            </a:pPr>
            <a:r>
              <a:rPr lang="it-IT" sz="1709">
                <a:latin typeface="Karla"/>
              </a:rPr>
              <a:t>descrivi il lavoro a parole</a:t>
            </a:r>
          </a:p>
          <a:p>
            <a:pPr marL="285750" indent="-285750">
              <a:buFont typeface="Arial"/>
              <a:buChar char="•"/>
            </a:pPr>
            <a:r>
              <a:rPr lang="it-IT" sz="1709">
                <a:latin typeface="Karla"/>
              </a:rPr>
              <a:t>usa connettori e skill già attivi</a:t>
            </a:r>
          </a:p>
          <a:p>
            <a:pPr marL="285750" indent="-285750">
              <a:buFont typeface="Arial"/>
              <a:buChar char="•"/>
            </a:pPr>
            <a:r>
              <a:rPr lang="it-IT" sz="1709">
                <a:latin typeface="Karla"/>
              </a:rPr>
              <a:t>base delle automazioni (sez. 08)</a:t>
            </a:r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9ABFC639-551E-1750-F630-7AB63B013F1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it-IT">
                <a:latin typeface="Karla"/>
              </a:rPr>
              <a:t>Descrivi un lavoro una volta e Claude lo ripete da solo: ogni ora, ogni giorno, ogni settimana o su richiesta. Gira in cloud, anche a PC spento.</a:t>
            </a:r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8ADFBBC1-E015-5FC2-6F1C-8BC9D9FE217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it-IT"/>
              <a:t>Come si crea</a:t>
            </a:r>
          </a:p>
        </p:txBody>
      </p:sp>
      <p:sp>
        <p:nvSpPr>
          <p:cNvPr id="8" name="Segnaposto testo 7">
            <a:extLst>
              <a:ext uri="{FF2B5EF4-FFF2-40B4-BE49-F238E27FC236}">
                <a16:creationId xmlns:a16="http://schemas.microsoft.com/office/drawing/2014/main" id="{045F09C8-7A0B-2D82-048C-89CC08258D2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it-IT"/>
              <a:t>Cos'è</a:t>
            </a:r>
          </a:p>
        </p:txBody>
      </p:sp>
      <p:cxnSp>
        <p:nvCxnSpPr>
          <p:cNvPr id="11" name="Connettore 1 10">
            <a:extLst>
              <a:ext uri="{FF2B5EF4-FFF2-40B4-BE49-F238E27FC236}">
                <a16:creationId xmlns:a16="http://schemas.microsoft.com/office/drawing/2014/main" id="{947085F4-0B86-8C4A-8E9A-B06A870BD802}"/>
              </a:ext>
            </a:extLst>
          </p:cNvPr>
          <p:cNvCxnSpPr>
            <a:cxnSpLocks/>
          </p:cNvCxnSpPr>
          <p:nvPr/>
        </p:nvCxnSpPr>
        <p:spPr>
          <a:xfrm>
            <a:off x="6203950" y="441325"/>
            <a:ext cx="5580063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ttore 1 12">
            <a:extLst>
              <a:ext uri="{FF2B5EF4-FFF2-40B4-BE49-F238E27FC236}">
                <a16:creationId xmlns:a16="http://schemas.microsoft.com/office/drawing/2014/main" id="{20AD8D09-B887-384E-AF26-4F84A3FEFB90}"/>
              </a:ext>
            </a:extLst>
          </p:cNvPr>
          <p:cNvCxnSpPr>
            <a:cxnSpLocks/>
          </p:cNvCxnSpPr>
          <p:nvPr/>
        </p:nvCxnSpPr>
        <p:spPr>
          <a:xfrm>
            <a:off x="6203950" y="3429000"/>
            <a:ext cx="5580063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ttore 1 11">
            <a:extLst>
              <a:ext uri="{FF2B5EF4-FFF2-40B4-BE49-F238E27FC236}">
                <a16:creationId xmlns:a16="http://schemas.microsoft.com/office/drawing/2014/main" id="{512EB736-D425-92EA-963D-D08F6E3906AE}"/>
              </a:ext>
            </a:extLst>
          </p:cNvPr>
          <p:cNvCxnSpPr>
            <a:cxnSpLocks/>
          </p:cNvCxnSpPr>
          <p:nvPr/>
        </p:nvCxnSpPr>
        <p:spPr>
          <a:xfrm>
            <a:off x="6199588" y="454382"/>
            <a:ext cx="5580063" cy="0"/>
          </a:xfrm>
          <a:prstGeom prst="line">
            <a:avLst/>
          </a:prstGeom>
          <a:ln w="15875"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ttore 1 13">
            <a:extLst>
              <a:ext uri="{FF2B5EF4-FFF2-40B4-BE49-F238E27FC236}">
                <a16:creationId xmlns:a16="http://schemas.microsoft.com/office/drawing/2014/main" id="{6C74E27F-FB86-CCFC-B304-F01F71AB7A24}"/>
              </a:ext>
            </a:extLst>
          </p:cNvPr>
          <p:cNvCxnSpPr>
            <a:cxnSpLocks/>
          </p:cNvCxnSpPr>
          <p:nvPr/>
        </p:nvCxnSpPr>
        <p:spPr>
          <a:xfrm>
            <a:off x="6199588" y="3478153"/>
            <a:ext cx="5580063" cy="0"/>
          </a:xfrm>
          <a:prstGeom prst="line">
            <a:avLst/>
          </a:prstGeom>
          <a:ln w="15875"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Segnaposto immagine 9" descr="Immagine che contiene interno, interior design, muro, soffitto&#10;&#10;Il contenuto generato dall'IA potrebbe non essere corretto.">
            <a:extLst>
              <a:ext uri="{FF2B5EF4-FFF2-40B4-BE49-F238E27FC236}">
                <a16:creationId xmlns:a16="http://schemas.microsoft.com/office/drawing/2014/main" id="{0E30B22B-36A8-4A36-3F8E-BA9DE1BC07CB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3"/>
          <a:srcRect l="15" r="15"/>
          <a:stretch>
            <a:fillRect/>
          </a:stretch>
        </p:blipFill>
        <p:spPr>
          <a:xfrm>
            <a:off x="1" y="441324"/>
            <a:ext cx="5988050" cy="5651501"/>
          </a:xfrm>
        </p:spPr>
      </p:pic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51E6D9C1-6652-F14B-33AC-6E8FD9711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80DE77F-7D5E-A394-737F-5251C093A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6451D-1641-964E-B995-104A5CF7FFD9}" type="slidenum">
              <a:rPr lang="it-IT" smtClean="0"/>
              <a:pPr/>
              <a:t>65</a:t>
            </a:fld>
            <a:endParaRPr lang="it-IT" dirty="0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678C8310-1E7B-4250-0C1E-D3C48A7C40D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it-IT" sz="1620">
                <a:latin typeface="Karla"/>
              </a:rPr>
              <a:t>rinominare 500 foto in un colpo</a:t>
            </a:r>
          </a:p>
          <a:p>
            <a:pPr marL="285750" indent="-285750">
              <a:buFont typeface="Arial"/>
              <a:buChar char="•"/>
            </a:pPr>
            <a:r>
              <a:rPr lang="it-IT" sz="1620">
                <a:latin typeface="Karla"/>
              </a:rPr>
              <a:t>un mini sito per un evento</a:t>
            </a:r>
          </a:p>
          <a:p>
            <a:pPr marL="285750" indent="-285750">
              <a:buFont typeface="Arial"/>
              <a:buChar char="•"/>
            </a:pPr>
            <a:r>
              <a:rPr lang="it-IT" sz="1620">
                <a:latin typeface="Karla"/>
              </a:rPr>
              <a:t>convertire un listino in schede</a:t>
            </a:r>
          </a:p>
          <a:p>
            <a:pPr marL="285750" indent="-285750">
              <a:buFont typeface="Arial"/>
              <a:buChar char="•"/>
            </a:pPr>
            <a:r>
              <a:rPr lang="it-IT" sz="1620">
                <a:latin typeface="Karla"/>
              </a:rPr>
              <a:t>editare e montare un video</a:t>
            </a:r>
          </a:p>
          <a:p>
            <a:pPr marL="285750" indent="-285750">
              <a:buFont typeface="Arial"/>
              <a:buChar char="•"/>
            </a:pPr>
            <a:r>
              <a:rPr lang="it-IT" sz="1620">
                <a:latin typeface="Karla"/>
              </a:rPr>
              <a:t>piccoli strumenti su misura</a:t>
            </a:r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36C47D9A-E3B2-49D5-133D-34210BC413A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it-IT">
                <a:latin typeface="Karla"/>
              </a:rPr>
              <a:t>La modalità in cui Claude scrive e fa girare codice. Si trova nella scheda Code dell'app desktop, nel terminale e sul web.</a:t>
            </a:r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5C83EFD7-7A83-9EC9-4F8A-FCD1C0ED130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it-IT"/>
              <a:t>Per chi non programma</a:t>
            </a:r>
          </a:p>
        </p:txBody>
      </p:sp>
      <p:sp>
        <p:nvSpPr>
          <p:cNvPr id="8" name="Segnaposto testo 7">
            <a:extLst>
              <a:ext uri="{FF2B5EF4-FFF2-40B4-BE49-F238E27FC236}">
                <a16:creationId xmlns:a16="http://schemas.microsoft.com/office/drawing/2014/main" id="{EFAA5162-FD8F-A9C2-DDDF-65637CD0418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it-IT"/>
              <a:t>Cos'è</a:t>
            </a:r>
          </a:p>
        </p:txBody>
      </p:sp>
      <p:cxnSp>
        <p:nvCxnSpPr>
          <p:cNvPr id="11" name="Connettore 1 10">
            <a:extLst>
              <a:ext uri="{FF2B5EF4-FFF2-40B4-BE49-F238E27FC236}">
                <a16:creationId xmlns:a16="http://schemas.microsoft.com/office/drawing/2014/main" id="{26E6A3F1-1138-C810-5BE0-89DFB5B6CD74}"/>
              </a:ext>
            </a:extLst>
          </p:cNvPr>
          <p:cNvCxnSpPr>
            <a:cxnSpLocks/>
          </p:cNvCxnSpPr>
          <p:nvPr/>
        </p:nvCxnSpPr>
        <p:spPr>
          <a:xfrm>
            <a:off x="6203950" y="441325"/>
            <a:ext cx="5580063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ttore 1 12">
            <a:extLst>
              <a:ext uri="{FF2B5EF4-FFF2-40B4-BE49-F238E27FC236}">
                <a16:creationId xmlns:a16="http://schemas.microsoft.com/office/drawing/2014/main" id="{707D02A4-951D-2269-B7D1-0FE03923480E}"/>
              </a:ext>
            </a:extLst>
          </p:cNvPr>
          <p:cNvCxnSpPr>
            <a:cxnSpLocks/>
          </p:cNvCxnSpPr>
          <p:nvPr/>
        </p:nvCxnSpPr>
        <p:spPr>
          <a:xfrm>
            <a:off x="6203950" y="3465096"/>
            <a:ext cx="5580063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F793BD9-74D4-443D-ADCB-E58599E2CD1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/>
              <a:t>Claude Code</a:t>
            </a:r>
            <a:br>
              <a:rPr lang="it-IT"/>
            </a:br>
            <a:r>
              <a:rPr lang="it-IT"/>
              <a:t>in pratica</a:t>
            </a: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D30CE9DD-37E3-B2D7-45DD-D66DD31C9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C84CF9C-4371-9672-F423-35D96CFAD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6451D-1641-964E-B995-104A5CF7FFD9}" type="slidenum">
              <a:rPr lang="it-IT" smtClean="0"/>
              <a:pPr/>
              <a:t>66</a:t>
            </a:fld>
            <a:endParaRPr lang="it-IT" dirty="0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B41D3C8E-18B5-19A9-C672-37F093B9A05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it-IT">
                <a:latin typeface="Karla"/>
              </a:rPr>
              <a:t>Quando usarlo al posto della chat:</a:t>
            </a:r>
          </a:p>
          <a:p>
            <a:pPr marL="285750" indent="-285750">
              <a:buFont typeface="Arial"/>
              <a:buChar char="•"/>
            </a:pPr>
            <a:r>
              <a:rPr lang="it-IT">
                <a:latin typeface="Karla"/>
              </a:rPr>
              <a:t>il lavoro tocca decine o centinaia di file</a:t>
            </a:r>
          </a:p>
          <a:p>
            <a:pPr marL="285750" indent="-285750">
              <a:buFont typeface="Arial"/>
              <a:buChar char="•"/>
            </a:pPr>
            <a:r>
              <a:rPr lang="it-IT">
                <a:latin typeface="Karla"/>
              </a:rPr>
              <a:t>serve uno strumento da riusare, non una risposta</a:t>
            </a:r>
          </a:p>
          <a:p>
            <a:pPr marL="285750" indent="-285750">
              <a:buFont typeface="Arial"/>
              <a:buChar char="•"/>
            </a:pPr>
            <a:r>
              <a:rPr lang="it-IT">
                <a:latin typeface="Karla"/>
              </a:rPr>
              <a:t>vuoi un risultato «tecnico»: pagina web, script, file dati</a:t>
            </a:r>
          </a:p>
          <a:p>
            <a:r>
              <a:rPr lang="it-IT">
                <a:latin typeface="Karla"/>
              </a:rPr>
              <a:t>Come si lavora:</a:t>
            </a:r>
          </a:p>
          <a:p>
            <a:pPr marL="285750" indent="-285750">
              <a:buFont typeface="Arial"/>
              <a:buChar char="•"/>
            </a:pPr>
            <a:r>
              <a:rPr lang="it-IT">
                <a:latin typeface="Karla"/>
              </a:rPr>
              <a:t>apri la scheda Code e scegli la cartella</a:t>
            </a:r>
          </a:p>
          <a:p>
            <a:pPr marL="285750" indent="-285750">
              <a:buFont typeface="Arial"/>
              <a:buChar char="•"/>
            </a:pPr>
            <a:r>
              <a:rPr lang="it-IT">
                <a:latin typeface="Karla"/>
              </a:rPr>
              <a:t>descrivi il risultato, non il codice</a:t>
            </a:r>
          </a:p>
          <a:p>
            <a:pPr marL="285750" indent="-285750">
              <a:buFont typeface="Arial"/>
              <a:buChar char="•"/>
            </a:pPr>
            <a:r>
              <a:rPr lang="it-IT">
                <a:latin typeface="Karla"/>
              </a:rPr>
              <a:t>approva i passaggi e prova il risultato su pochi file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6D47EF5-7F82-9505-7D2B-E3131CCC95D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/>
              <a:t>Sicurezza:</a:t>
            </a:r>
            <a:br>
              <a:rPr lang="it-IT"/>
            </a:br>
            <a:r>
              <a:rPr lang="it-IT"/>
              <a:t>Manuale o Auto</a:t>
            </a: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62D1BC6C-5EAC-6542-91A5-5AECDCF2B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A673DE2-373C-4810-E2D9-AB4A00DE4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6451D-1641-964E-B995-104A5CF7FFD9}" type="slidenum">
              <a:rPr lang="it-IT" smtClean="0"/>
              <a:pPr/>
              <a:t>67</a:t>
            </a:fld>
            <a:endParaRPr lang="it-IT" dirty="0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B9C44978-D868-95C9-90D3-998C3AC4C6E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it-IT">
                <a:latin typeface="Karla"/>
              </a:rPr>
              <a:t>Quando Claude agisce su mail, file e strumenti, decidi tu quanta autonomia dargli.</a:t>
            </a:r>
          </a:p>
          <a:p>
            <a:pPr marL="285750" indent="-285750">
              <a:buFont typeface="Arial"/>
              <a:buChar char="•"/>
            </a:pPr>
            <a:r>
              <a:rPr lang="it-IT">
                <a:latin typeface="Karla"/>
              </a:rPr>
              <a:t>Manuale (predefinito): Claude chiede prima di agire. È il punto di partenza.</a:t>
            </a:r>
          </a:p>
          <a:p>
            <a:pPr marL="285750" indent="-285750">
              <a:buFont typeface="Arial"/>
              <a:buChar char="•"/>
            </a:pPr>
            <a:r>
              <a:rPr lang="it-IT">
                <a:latin typeface="Karla"/>
              </a:rPr>
              <a:t>Auto: lavora senza chiedere a ogni passo. Solo per bozze e ricerche, quando il flusso è collaudato.</a:t>
            </a:r>
          </a:p>
          <a:p>
            <a:pPr marL="285750" indent="-285750">
              <a:buFont typeface="Arial"/>
              <a:buChar char="•"/>
            </a:pPr>
            <a:r>
              <a:rPr lang="it-IT">
                <a:latin typeface="Karla"/>
              </a:rPr>
              <a:t>Le azioni irreversibili (inviare, pagare, cancellare, pubblicare) restano sempre con approvazione.</a:t>
            </a:r>
          </a:p>
          <a:p>
            <a:pPr marL="285750" indent="-285750">
              <a:buFont typeface="Arial"/>
              <a:buChar char="•"/>
            </a:pPr>
            <a:r>
              <a:rPr lang="it-IT">
                <a:latin typeface="Karla"/>
              </a:rPr>
              <a:t>Collega solo le cartelle e gli account che servono.</a:t>
            </a:r>
          </a:p>
          <a:p>
            <a:pPr marL="285750" indent="-285750">
              <a:buFont typeface="Arial"/>
              <a:buChar char="•"/>
            </a:pPr>
            <a:r>
              <a:rPr lang="it-IT">
                <a:latin typeface="Karla"/>
              </a:rPr>
              <a:t>Rivedi ogni tanto connettori e skill attivi.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Segnaposto immagine 16" descr="Immagine che contiene arredo, interior design, interno, muro&#10;&#10;Il contenuto generato dall'IA potrebbe non essere corretto.">
            <a:extLst>
              <a:ext uri="{FF2B5EF4-FFF2-40B4-BE49-F238E27FC236}">
                <a16:creationId xmlns:a16="http://schemas.microsoft.com/office/drawing/2014/main" id="{A2009422-89A6-EEE3-8915-EC80353F714A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3"/>
          <a:srcRect l="53" r="53"/>
          <a:stretch>
            <a:fillRect/>
          </a:stretch>
        </p:blipFill>
        <p:spPr>
          <a:xfrm>
            <a:off x="0" y="1773238"/>
            <a:ext cx="11784013" cy="4319587"/>
          </a:xfrm>
        </p:spPr>
      </p:pic>
      <p:sp>
        <p:nvSpPr>
          <p:cNvPr id="12" name="Titolo 11">
            <a:extLst>
              <a:ext uri="{FF2B5EF4-FFF2-40B4-BE49-F238E27FC236}">
                <a16:creationId xmlns:a16="http://schemas.microsoft.com/office/drawing/2014/main" id="{C67F1C3F-C869-B3E5-976B-8ACF72C960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4384" y="441325"/>
            <a:ext cx="3682184" cy="839334"/>
          </a:xfrm>
        </p:spPr>
        <p:txBody>
          <a:bodyPr/>
          <a:lstStyle/>
          <a:p>
            <a:r>
              <a:rPr lang="it-IT"/>
              <a:t>Pipeline: un lancio</a:t>
            </a: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CED3D252-A3B8-5967-C08C-30A52050E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59395" y="6356350"/>
            <a:ext cx="1922987" cy="365125"/>
          </a:xfrm>
        </p:spPr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33F14E5-F6E6-228D-05C4-C12B4BA70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38555" y="6356350"/>
            <a:ext cx="723280" cy="365125"/>
          </a:xfrm>
        </p:spPr>
        <p:txBody>
          <a:bodyPr/>
          <a:lstStyle/>
          <a:p>
            <a:fld id="{13D6451D-1641-964E-B995-104A5CF7FFD9}" type="slidenum">
              <a:rPr lang="it-IT" smtClean="0"/>
              <a:pPr/>
              <a:t>68</a:t>
            </a:fld>
            <a:endParaRPr lang="it-IT" dirty="0"/>
          </a:p>
        </p:txBody>
      </p:sp>
      <p:sp>
        <p:nvSpPr>
          <p:cNvPr id="14" name="Segnaposto testo 13">
            <a:extLst>
              <a:ext uri="{FF2B5EF4-FFF2-40B4-BE49-F238E27FC236}">
                <a16:creationId xmlns:a16="http://schemas.microsoft.com/office/drawing/2014/main" id="{60DC93EE-17B2-3081-2D65-210FB2E6A8C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050232" y="590106"/>
            <a:ext cx="3825245" cy="906181"/>
          </a:xfrm>
        </p:spPr>
        <p:txBody>
          <a:bodyPr/>
          <a:lstStyle/>
          <a:p>
            <a:r>
              <a:rPr lang="it-IT">
                <a:latin typeface="Karla"/>
              </a:rPr>
              <a:t>Percorso consigliato: da una novità di prodotto a tutti i contenuti.</a:t>
            </a:r>
          </a:p>
        </p:txBody>
      </p:sp>
      <p:cxnSp>
        <p:nvCxnSpPr>
          <p:cNvPr id="23" name="Connettore 1 22">
            <a:extLst>
              <a:ext uri="{FF2B5EF4-FFF2-40B4-BE49-F238E27FC236}">
                <a16:creationId xmlns:a16="http://schemas.microsoft.com/office/drawing/2014/main" id="{B019C9E0-904B-93F1-F693-C4477C1EB3C6}"/>
              </a:ext>
            </a:extLst>
          </p:cNvPr>
          <p:cNvCxnSpPr>
            <a:cxnSpLocks/>
          </p:cNvCxnSpPr>
          <p:nvPr/>
        </p:nvCxnSpPr>
        <p:spPr>
          <a:xfrm>
            <a:off x="6203950" y="441325"/>
            <a:ext cx="5580063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D6D2C2E-63BE-BD1D-D3EC-EB9AD88E6D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6070" y="441325"/>
            <a:ext cx="5661980" cy="1976905"/>
          </a:xfrm>
        </p:spPr>
        <p:txBody>
          <a:bodyPr/>
          <a:lstStyle/>
          <a:p>
            <a:r>
              <a:rPr lang="it-IT"/>
              <a:t>I prompt della</a:t>
            </a:r>
            <a:br>
              <a:rPr lang="it-IT"/>
            </a:br>
            <a:r>
              <a:rPr lang="it-IT"/>
              <a:t>pipeline</a:t>
            </a: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EB4573C2-5844-268A-A52E-80A5C4406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59395" y="6356350"/>
            <a:ext cx="1922987" cy="365125"/>
          </a:xfrm>
        </p:spPr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D91C807-1730-C2AC-4674-119E09F89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38555" y="6356350"/>
            <a:ext cx="723280" cy="365125"/>
          </a:xfrm>
        </p:spPr>
        <p:txBody>
          <a:bodyPr/>
          <a:lstStyle/>
          <a:p>
            <a:fld id="{13D6451D-1641-964E-B995-104A5CF7FFD9}" type="slidenum">
              <a:rPr lang="it-IT" smtClean="0"/>
              <a:pPr/>
              <a:t>69</a:t>
            </a:fld>
            <a:endParaRPr lang="it-IT" dirty="0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43BE69A5-5685-BC6E-944E-F2B75A38B70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03950" y="684843"/>
            <a:ext cx="5721350" cy="4849813"/>
          </a:xfrm>
        </p:spPr>
        <p:txBody>
          <a:bodyPr/>
          <a:lstStyle/>
          <a:p>
            <a:r>
              <a:rPr lang="it-IT">
                <a:latin typeface="Karla"/>
              </a:rPr>
              <a:t>1. Progetto del brand con tono di voce e scheda della novità nella cartella.</a:t>
            </a:r>
          </a:p>
          <a:p>
            <a:r>
              <a:rPr lang="it-IT">
                <a:latin typeface="Karla"/>
              </a:rPr>
              <a:t>2. «Scrivi un comunicato stampa per [novità], max 2.500 caratteri, con citazione del direttore marketing. Crea un Doc.»</a:t>
            </a:r>
          </a:p>
          <a:p>
            <a:r>
              <a:rPr lang="it-IT">
                <a:latin typeface="Karla"/>
              </a:rPr>
              <a:t>3. Tu rivedi e approvi.</a:t>
            </a:r>
          </a:p>
          <a:p>
            <a:r>
              <a:rPr lang="it-IT">
                <a:latin typeface="Karla"/>
              </a:rPr>
              <a:t>4. «Dal comunicato approvato ricava 3 post per Instagram e LinkedIn e una newsletter.»</a:t>
            </a:r>
          </a:p>
          <a:p>
            <a:r>
              <a:rPr lang="it-IT">
                <a:latin typeface="Karla"/>
              </a:rPr>
              <a:t>5. «Crea con Claude Design una locandina per l'evento in showroom, formato A3, colori del brand.»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tangolo 2">
            <a:extLst>
              <a:ext uri="{FF2B5EF4-FFF2-40B4-BE49-F238E27FC236}">
                <a16:creationId xmlns:a16="http://schemas.microsoft.com/office/drawing/2014/main" id="{F1C1CB56-4283-FDE5-69B6-03C379DE730D}"/>
              </a:ext>
            </a:extLst>
          </p:cNvPr>
          <p:cNvSpPr/>
          <p:nvPr/>
        </p:nvSpPr>
        <p:spPr>
          <a:xfrm>
            <a:off x="0" y="1662953"/>
            <a:ext cx="12192000" cy="353209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C52D1058-C56A-8891-A9DF-AB8158E3954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/>
              <a:t>Il setup ideale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A11C4E15-DDA8-85EE-18EB-919634828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FCC6785C-0674-6D8A-9339-DED2764C8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6451D-1641-964E-B995-104A5CF7FFD9}" type="slidenum">
              <a:rPr lang="it-IT" smtClean="0"/>
              <a:pPr/>
              <a:t>70</a:t>
            </a:fld>
            <a:endParaRPr lang="it-IT" dirty="0"/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C9460520-20F1-CFF9-73B3-8EA7BFE31C6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it-IT" sz="2519"/>
              <a:t>Sezione 07 · Dieci mosse per partire bene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ADED681-84E5-AEB9-F436-72396F9B8E8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/>
              <a:t>Dieci mosse</a:t>
            </a:r>
            <a:br>
              <a:rPr lang="it-IT"/>
            </a:br>
            <a:r>
              <a:rPr lang="it-IT"/>
              <a:t>per il setup</a:t>
            </a: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9F09FC85-CEA7-237E-6BE2-7B9206D04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4E4368F-7A30-F387-08EE-7E7CBE9CC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6451D-1641-964E-B995-104A5CF7FFD9}" type="slidenum">
              <a:rPr lang="it-IT" smtClean="0"/>
              <a:pPr/>
              <a:t>71</a:t>
            </a:fld>
            <a:endParaRPr lang="it-IT" dirty="0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60D7638C-CC8E-08F3-B3C2-B1A51502FB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it-IT" sz="1529">
                <a:latin typeface="Karla"/>
              </a:rPr>
              <a:t>1. Installa l'app desktop e accedi con l'account aziendale.</a:t>
            </a:r>
          </a:p>
          <a:p>
            <a:r>
              <a:rPr lang="it-IT" sz="1529">
                <a:latin typeface="Karla"/>
              </a:rPr>
              <a:t>2. Impostazioni &gt; Generali: scrivi le Istruzioni per Claude.</a:t>
            </a:r>
          </a:p>
          <a:p>
            <a:r>
              <a:rPr lang="it-IT" sz="1529">
                <a:latin typeface="Karla"/>
              </a:rPr>
              <a:t>3. Imposta Sonnet con effort medio come default.</a:t>
            </a:r>
          </a:p>
          <a:p>
            <a:r>
              <a:rPr lang="it-IT" sz="1529">
                <a:latin typeface="Karla"/>
              </a:rPr>
              <a:t>4. Autorizza la cartella di lavoro (Cartelle attendibili).</a:t>
            </a:r>
          </a:p>
          <a:p>
            <a:r>
              <a:rPr lang="it-IT" sz="1529">
                <a:latin typeface="Karla"/>
              </a:rPr>
              <a:t>5. Crea la cartella di lavoro e il progetto collegato.</a:t>
            </a:r>
          </a:p>
          <a:p>
            <a:r>
              <a:rPr lang="it-IT" sz="1529">
                <a:latin typeface="Karla"/>
              </a:rPr>
              <a:t>6. Carica brand book, tono di voce, esempi approvati.</a:t>
            </a:r>
          </a:p>
          <a:p>
            <a:r>
              <a:rPr lang="it-IT" sz="1529">
                <a:latin typeface="Karla"/>
              </a:rPr>
              <a:t>7. Installa le skill per Word, Excel, PowerPoint e il plugin Marketing.</a:t>
            </a:r>
          </a:p>
          <a:p>
            <a:r>
              <a:rPr lang="it-IT" sz="1529">
                <a:latin typeface="Karla"/>
              </a:rPr>
              <a:t>8. Collega solo i connettori utili, con l'IT.</a:t>
            </a:r>
          </a:p>
          <a:p>
            <a:r>
              <a:rPr lang="it-IT" sz="1529">
                <a:latin typeface="Karla"/>
              </a:rPr>
              <a:t>9. Permessi: Manuale.</a:t>
            </a:r>
          </a:p>
          <a:p>
            <a:r>
              <a:rPr lang="it-IT" sz="1529">
                <a:latin typeface="Karla"/>
              </a:rPr>
              <a:t>10. Controlla memoria e utilizzo una volta al mese.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D6D2C2E-63BE-BD1D-D3EC-EB9AD88E6D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6070" y="441325"/>
            <a:ext cx="5661980" cy="1976905"/>
          </a:xfrm>
        </p:spPr>
        <p:txBody>
          <a:bodyPr/>
          <a:lstStyle/>
          <a:p>
            <a:r>
              <a:rPr lang="it-IT"/>
              <a:t>Istruzioni</a:t>
            </a:r>
            <a:br>
              <a:rPr lang="it-IT"/>
            </a:br>
            <a:r>
              <a:rPr lang="it-IT"/>
              <a:t>personali</a:t>
            </a: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EB4573C2-5844-268A-A52E-80A5C4406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59395" y="6356350"/>
            <a:ext cx="1922987" cy="365125"/>
          </a:xfrm>
        </p:spPr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D91C807-1730-C2AC-4674-119E09F89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38555" y="6356350"/>
            <a:ext cx="723280" cy="365125"/>
          </a:xfrm>
        </p:spPr>
        <p:txBody>
          <a:bodyPr/>
          <a:lstStyle/>
          <a:p>
            <a:fld id="{13D6451D-1641-964E-B995-104A5CF7FFD9}" type="slidenum">
              <a:rPr lang="it-IT" smtClean="0"/>
              <a:pPr/>
              <a:t>72</a:t>
            </a:fld>
            <a:endParaRPr lang="it-IT" dirty="0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43BE69A5-5685-BC6E-944E-F2B75A38B70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03950" y="684843"/>
            <a:ext cx="5721350" cy="4849813"/>
          </a:xfrm>
        </p:spPr>
        <p:txBody>
          <a:bodyPr/>
          <a:lstStyle/>
          <a:p>
            <a:r>
              <a:rPr lang="it-IT">
                <a:latin typeface="Karla"/>
              </a:rPr>
              <a:t>Esempio da adattare, in Impostazioni &gt; Generali &gt; Istruzioni per Claude:</a:t>
            </a:r>
          </a:p>
          <a:p>
            <a:r>
              <a:rPr lang="it-IT">
                <a:latin typeface="Karla"/>
              </a:rPr>
              <a:t>«Lavoro nel marketing del Gruppo Colombini, settore arredo premium.</a:t>
            </a:r>
          </a:p>
          <a:p>
            <a:r>
              <a:rPr lang="it-IT">
                <a:latin typeface="Karla"/>
              </a:rPr>
              <a:t>Quando mancano dati chiedimeli, non inventare.</a:t>
            </a:r>
          </a:p>
          <a:p>
            <a:r>
              <a:rPr lang="it-IT">
                <a:latin typeface="Karla"/>
              </a:rPr>
              <a:t>Per i testi lunghi proponi prima una scaletta.</a:t>
            </a:r>
          </a:p>
          <a:p>
            <a:r>
              <a:rPr lang="it-IT">
                <a:latin typeface="Karla"/>
              </a:rPr>
              <a:t>Indica sempre le fonti quando cerchi sul web.</a:t>
            </a:r>
          </a:p>
          <a:p>
            <a:r>
              <a:rPr lang="it-IT">
                <a:latin typeface="Karla"/>
              </a:rPr>
              <a:t>Se un compito è ambiguo, fammi una domanda prima di partire.»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F793BD9-74D4-443D-ADCB-E58599E2CD1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/>
              <a:t>Memoria e</a:t>
            </a:r>
            <a:br>
              <a:rPr lang="it-IT"/>
            </a:br>
            <a:r>
              <a:rPr lang="it-IT"/>
              <a:t>privacy</a:t>
            </a: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D30CE9DD-37E3-B2D7-45DD-D66DD31C9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C84CF9C-4371-9672-F423-35D96CFAD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6451D-1641-964E-B995-104A5CF7FFD9}" type="slidenum">
              <a:rPr lang="it-IT" smtClean="0"/>
              <a:pPr/>
              <a:t>73</a:t>
            </a:fld>
            <a:endParaRPr lang="it-IT" dirty="0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B41D3C8E-18B5-19A9-C672-37F093B9A05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it-IT">
                <a:latin typeface="Karla"/>
              </a:rPr>
              <a:t>Memoria: Claude ricorda fatti e preferenze tra una conversazione e l'altra.</a:t>
            </a:r>
          </a:p>
          <a:p>
            <a:pPr marL="285750" indent="-285750">
              <a:buFont typeface="Arial"/>
              <a:buChar char="•"/>
            </a:pPr>
            <a:r>
              <a:rPr lang="it-IT">
                <a:latin typeface="Karla"/>
              </a:rPr>
              <a:t>puoi vederla, correggerla e cancellarla dalle impostazioni</a:t>
            </a:r>
          </a:p>
          <a:p>
            <a:pPr marL="285750" indent="-285750">
              <a:buFont typeface="Arial"/>
              <a:buChar char="•"/>
            </a:pPr>
            <a:r>
              <a:rPr lang="it-IT">
                <a:latin typeface="Karla"/>
              </a:rPr>
              <a:t>nei progetti è separata: ogni progetto ha la sua</a:t>
            </a:r>
          </a:p>
          <a:p>
            <a:r>
              <a:rPr lang="it-IT">
                <a:latin typeface="Karla"/>
              </a:rPr>
              <a:t>Privacy:</a:t>
            </a:r>
          </a:p>
          <a:p>
            <a:pPr marL="285750" indent="-285750">
              <a:buFont typeface="Arial"/>
              <a:buChar char="•"/>
            </a:pPr>
            <a:r>
              <a:rPr lang="it-IT">
                <a:latin typeface="Karla"/>
              </a:rPr>
              <a:t>usa l'account aziendale, non quello personale</a:t>
            </a:r>
          </a:p>
          <a:p>
            <a:pPr marL="285750" indent="-285750">
              <a:buFont typeface="Arial"/>
              <a:buChar char="•"/>
            </a:pPr>
            <a:r>
              <a:rPr lang="it-IT">
                <a:latin typeface="Karla"/>
              </a:rPr>
              <a:t>non caricare dati sensibili di clienti se non servono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6D47EF5-7F82-9505-7D2B-E3131CCC95D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/>
              <a:t>Errori</a:t>
            </a:r>
            <a:br>
              <a:rPr lang="it-IT"/>
            </a:br>
            <a:r>
              <a:rPr lang="it-IT"/>
              <a:t>da evitare</a:t>
            </a: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62D1BC6C-5EAC-6542-91A5-5AECDCF2B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A673DE2-373C-4810-E2D9-AB4A00DE4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6451D-1641-964E-B995-104A5CF7FFD9}" type="slidenum">
              <a:rPr lang="it-IT" smtClean="0"/>
              <a:pPr/>
              <a:t>74</a:t>
            </a:fld>
            <a:endParaRPr lang="it-IT" dirty="0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B9C44978-D868-95C9-90D3-998C3AC4C6E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it-IT">
                <a:latin typeface="Karla"/>
              </a:rPr>
              <a:t>Chat infinite su argomenti diversi: consumano e confondono.</a:t>
            </a:r>
          </a:p>
          <a:p>
            <a:pPr marL="285750" indent="-285750">
              <a:buFont typeface="Arial"/>
              <a:buChar char="•"/>
            </a:pPr>
            <a:r>
              <a:rPr lang="it-IT">
                <a:latin typeface="Karla"/>
              </a:rPr>
              <a:t>Ricaricare ogni volta gli stessi file invece di usare la cartella.</a:t>
            </a:r>
          </a:p>
          <a:p>
            <a:pPr marL="285750" indent="-285750">
              <a:buFont typeface="Arial"/>
              <a:buChar char="•"/>
            </a:pPr>
            <a:r>
              <a:rPr lang="it-IT">
                <a:latin typeface="Karla"/>
              </a:rPr>
              <a:t>Usare il modello più potente per tutto.</a:t>
            </a:r>
          </a:p>
          <a:p>
            <a:pPr marL="285750" indent="-285750">
              <a:buFont typeface="Arial"/>
              <a:buChar char="•"/>
            </a:pPr>
            <a:r>
              <a:rPr lang="it-IT">
                <a:latin typeface="Karla"/>
              </a:rPr>
              <a:t>Ritoccare a mano un file e poi chiedere a Claude di rigenerarlo.</a:t>
            </a:r>
          </a:p>
          <a:p>
            <a:pPr marL="285750" indent="-285750">
              <a:buFont typeface="Arial"/>
              <a:buChar char="•"/>
            </a:pPr>
            <a:r>
              <a:rPr lang="it-IT">
                <a:latin typeface="Karla"/>
              </a:rPr>
              <a:t>Dare accesso all'intero disco o a tutti gli account.</a:t>
            </a:r>
          </a:p>
          <a:p>
            <a:pPr marL="285750" indent="-285750">
              <a:buFont typeface="Arial"/>
              <a:buChar char="•"/>
            </a:pPr>
            <a:r>
              <a:rPr lang="it-IT">
                <a:latin typeface="Karla"/>
              </a:rPr>
              <a:t>Fidarsi di numeri e fatti senza verificarli.</a:t>
            </a:r>
          </a:p>
          <a:p>
            <a:pPr marL="285750" indent="-285750">
              <a:buFont typeface="Arial"/>
              <a:buChar char="•"/>
            </a:pPr>
            <a:r>
              <a:rPr lang="it-IT">
                <a:latin typeface="Karla"/>
              </a:rPr>
              <a:t>Partire dall'automazione più complessa.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tangolo 2">
            <a:extLst>
              <a:ext uri="{FF2B5EF4-FFF2-40B4-BE49-F238E27FC236}">
                <a16:creationId xmlns:a16="http://schemas.microsoft.com/office/drawing/2014/main" id="{FE3F8970-ADB9-FC80-EE5C-032B8DDA03C8}"/>
              </a:ext>
            </a:extLst>
          </p:cNvPr>
          <p:cNvSpPr/>
          <p:nvPr/>
        </p:nvSpPr>
        <p:spPr>
          <a:xfrm>
            <a:off x="0" y="3442446"/>
            <a:ext cx="12192000" cy="341555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F658AAB5-4DA6-E1F8-E32F-066FF90705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3978" y="4115920"/>
            <a:ext cx="5608587" cy="687414"/>
          </a:xfrm>
        </p:spPr>
        <p:txBody>
          <a:bodyPr/>
          <a:lstStyle/>
          <a:p>
            <a:r>
              <a:rPr lang="it-IT"/>
              <a:t>Automazioni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1026BD36-5398-6256-97FF-323A74260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59395" y="6356350"/>
            <a:ext cx="1922987" cy="365125"/>
          </a:xfrm>
        </p:spPr>
        <p:txBody>
          <a:bodyPr/>
          <a:lstStyle/>
          <a:p>
            <a:endParaRPr lang="it-IT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88B0C64A-590C-FCF6-0BA0-546ED8029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38555" y="6356350"/>
            <a:ext cx="723280" cy="365125"/>
          </a:xfrm>
        </p:spPr>
        <p:txBody>
          <a:bodyPr/>
          <a:lstStyle/>
          <a:p>
            <a:fld id="{13D6451D-1641-964E-B995-104A5CF7FFD9}" type="slidenum">
              <a:rPr lang="it-IT" smtClean="0"/>
              <a:pPr/>
              <a:t>75</a:t>
            </a:fld>
            <a:endParaRPr lang="it-IT" dirty="0"/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C6FAFAA2-E607-9ED6-0BD6-A042B53336A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49604" y="4869610"/>
            <a:ext cx="5638820" cy="931862"/>
          </a:xfrm>
        </p:spPr>
        <p:txBody>
          <a:bodyPr/>
          <a:lstStyle/>
          <a:p>
            <a:r>
              <a:rPr lang="it-IT" sz="2519"/>
              <a:t>Sezione 08 · Il metodo per farlo da soli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7D589769-AD7F-BB90-79EE-7A3DFE1D75E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787" y="6333330"/>
            <a:ext cx="1991187" cy="412376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ADED681-84E5-AEB9-F436-72396F9B8E8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/>
              <a:t>Il lavoro che</a:t>
            </a:r>
            <a:br>
              <a:rPr lang="it-IT"/>
            </a:br>
            <a:r>
              <a:rPr lang="it-IT"/>
              <a:t>nessuno ama</a:t>
            </a: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9F09FC85-CEA7-237E-6BE2-7B9206D04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4E4368F-7A30-F387-08EE-7E7CBE9CC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6451D-1641-964E-B995-104A5CF7FFD9}" type="slidenum">
              <a:rPr lang="it-IT" smtClean="0"/>
              <a:pPr/>
              <a:t>76</a:t>
            </a:fld>
            <a:endParaRPr lang="it-IT" dirty="0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60D7638C-CC8E-08F3-B3C2-B1A51502FB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it-IT">
                <a:latin typeface="Karla"/>
              </a:rPr>
              <a:t>Ogni ufficio marketing ha lavori che si ripetono uguali:</a:t>
            </a:r>
          </a:p>
          <a:p>
            <a:pPr marL="285750" indent="-285750">
              <a:buFont typeface="Arial"/>
              <a:buChar char="•"/>
            </a:pPr>
            <a:r>
              <a:rPr lang="it-IT">
                <a:latin typeface="Karla"/>
              </a:rPr>
              <a:t>fatture di agenzie e fornitori da girare a chi le approva</a:t>
            </a:r>
          </a:p>
          <a:p>
            <a:pPr marL="285750" indent="-285750">
              <a:buFont typeface="Arial"/>
              <a:buChar char="•"/>
            </a:pPr>
            <a:r>
              <a:rPr lang="it-IT">
                <a:latin typeface="Karla"/>
              </a:rPr>
              <a:t>richieste di materiali dai rivenditori</a:t>
            </a:r>
          </a:p>
          <a:p>
            <a:pPr marL="285750" indent="-285750">
              <a:buFont typeface="Arial"/>
              <a:buChar char="•"/>
            </a:pPr>
            <a:r>
              <a:rPr lang="it-IT">
                <a:latin typeface="Karla"/>
              </a:rPr>
              <a:t>report settimanali dei social e delle campagne</a:t>
            </a:r>
          </a:p>
          <a:p>
            <a:pPr marL="285750" indent="-285750">
              <a:buFont typeface="Arial"/>
              <a:buChar char="•"/>
            </a:pPr>
            <a:r>
              <a:rPr lang="it-IT">
                <a:latin typeface="Karla"/>
              </a:rPr>
              <a:t>rassegna stampa e monitoraggio competitor</a:t>
            </a:r>
          </a:p>
          <a:p>
            <a:pPr marL="285750" indent="-285750">
              <a:buFont typeface="Arial"/>
              <a:buChar char="•"/>
            </a:pPr>
            <a:r>
              <a:rPr lang="it-IT">
                <a:latin typeface="Karla"/>
              </a:rPr>
              <a:t>foto degli shooting da rinominare e archiviare</a:t>
            </a:r>
          </a:p>
          <a:p>
            <a:r>
              <a:rPr lang="it-IT">
                <a:latin typeface="Karla"/>
              </a:rPr>
              <a:t>Seguono regole che sapresti spiegare a un collega nuovo. Se sai spiegarle, Claude può eseguirle.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Segnaposto immagine 16" descr="Immagine che contiene arredo, interior design, interno, muro&#10;&#10;Il contenuto generato dall'IA potrebbe non essere corretto.">
            <a:extLst>
              <a:ext uri="{FF2B5EF4-FFF2-40B4-BE49-F238E27FC236}">
                <a16:creationId xmlns:a16="http://schemas.microsoft.com/office/drawing/2014/main" id="{A2009422-89A6-EEE3-8915-EC80353F714A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3"/>
          <a:srcRect l="53" r="53"/>
          <a:stretch>
            <a:fillRect/>
          </a:stretch>
        </p:blipFill>
        <p:spPr>
          <a:xfrm>
            <a:off x="0" y="1773238"/>
            <a:ext cx="11784013" cy="4319587"/>
          </a:xfrm>
        </p:spPr>
      </p:pic>
      <p:sp>
        <p:nvSpPr>
          <p:cNvPr id="12" name="Titolo 11">
            <a:extLst>
              <a:ext uri="{FF2B5EF4-FFF2-40B4-BE49-F238E27FC236}">
                <a16:creationId xmlns:a16="http://schemas.microsoft.com/office/drawing/2014/main" id="{C67F1C3F-C869-B3E5-976B-8ACF72C960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4384" y="441325"/>
            <a:ext cx="3682184" cy="839334"/>
          </a:xfrm>
        </p:spPr>
        <p:txBody>
          <a:bodyPr/>
          <a:lstStyle/>
          <a:p>
            <a:r>
              <a:rPr lang="it-IT"/>
              <a:t>Lo schema in 5 mosse</a:t>
            </a: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CED3D252-A3B8-5967-C08C-30A52050E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59395" y="6356350"/>
            <a:ext cx="1922987" cy="365125"/>
          </a:xfrm>
        </p:spPr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33F14E5-F6E6-228D-05C4-C12B4BA70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38555" y="6356350"/>
            <a:ext cx="723280" cy="365125"/>
          </a:xfrm>
        </p:spPr>
        <p:txBody>
          <a:bodyPr/>
          <a:lstStyle/>
          <a:p>
            <a:fld id="{13D6451D-1641-964E-B995-104A5CF7FFD9}" type="slidenum">
              <a:rPr lang="it-IT" smtClean="0"/>
              <a:pPr/>
              <a:t>77</a:t>
            </a:fld>
            <a:endParaRPr lang="it-IT" dirty="0"/>
          </a:p>
        </p:txBody>
      </p:sp>
      <p:sp>
        <p:nvSpPr>
          <p:cNvPr id="14" name="Segnaposto testo 13">
            <a:extLst>
              <a:ext uri="{FF2B5EF4-FFF2-40B4-BE49-F238E27FC236}">
                <a16:creationId xmlns:a16="http://schemas.microsoft.com/office/drawing/2014/main" id="{60DC93EE-17B2-3081-2D65-210FB2E6A8C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050232" y="590106"/>
            <a:ext cx="3825245" cy="906181"/>
          </a:xfrm>
        </p:spPr>
        <p:txBody>
          <a:bodyPr/>
          <a:lstStyle/>
          <a:p>
            <a:r>
              <a:rPr lang="it-IT">
                <a:latin typeface="Karla"/>
              </a:rPr>
              <a:t>Ogni automazione, semplice o complessa, è fatta così.</a:t>
            </a:r>
          </a:p>
        </p:txBody>
      </p:sp>
      <p:cxnSp>
        <p:nvCxnSpPr>
          <p:cNvPr id="23" name="Connettore 1 22">
            <a:extLst>
              <a:ext uri="{FF2B5EF4-FFF2-40B4-BE49-F238E27FC236}">
                <a16:creationId xmlns:a16="http://schemas.microsoft.com/office/drawing/2014/main" id="{B019C9E0-904B-93F1-F693-C4477C1EB3C6}"/>
              </a:ext>
            </a:extLst>
          </p:cNvPr>
          <p:cNvCxnSpPr>
            <a:cxnSpLocks/>
          </p:cNvCxnSpPr>
          <p:nvPr/>
        </p:nvCxnSpPr>
        <p:spPr>
          <a:xfrm>
            <a:off x="6203950" y="441325"/>
            <a:ext cx="5580063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Segnaposto immagine 8">
            <a:extLst>
              <a:ext uri="{FF2B5EF4-FFF2-40B4-BE49-F238E27FC236}">
                <a16:creationId xmlns:a16="http://schemas.microsoft.com/office/drawing/2014/main" id="{A12B5639-49C3-6C26-0924-928DA7BFD00C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3"/>
          <a:srcRect t="20" b="20"/>
          <a:stretch/>
        </p:blipFill>
        <p:spPr>
          <a:xfrm>
            <a:off x="-1" y="441325"/>
            <a:ext cx="7876903" cy="5651499"/>
          </a:xfr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1D5DC4FF-FFB6-C57F-B0E5-4318214EE4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64533" y="415199"/>
            <a:ext cx="3682184" cy="839334"/>
          </a:xfrm>
        </p:spPr>
        <p:txBody>
          <a:bodyPr/>
          <a:lstStyle/>
          <a:p>
            <a:r>
              <a:rPr lang="it-IT"/>
              <a:t>Esempio: la fattura</a:t>
            </a: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4670410F-3B65-AB9C-CC0C-3C0901C4F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59395" y="6356350"/>
            <a:ext cx="1922987" cy="365125"/>
          </a:xfrm>
        </p:spPr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F0158C3-5C5A-B6DD-0789-921BAFF0F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38555" y="6356350"/>
            <a:ext cx="723280" cy="365125"/>
          </a:xfrm>
        </p:spPr>
        <p:txBody>
          <a:bodyPr/>
          <a:lstStyle/>
          <a:p>
            <a:fld id="{13D6451D-1641-964E-B995-104A5CF7FFD9}" type="slidenum">
              <a:rPr lang="it-IT" smtClean="0"/>
              <a:pPr/>
              <a:t>78</a:t>
            </a:fld>
            <a:endParaRPr lang="it-IT" dirty="0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417462D0-F733-FF6E-518E-4B63287CB29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050232" y="1736475"/>
            <a:ext cx="3825245" cy="2357734"/>
          </a:xfrm>
        </p:spPr>
        <p:txBody>
          <a:bodyPr/>
          <a:lstStyle/>
          <a:p>
            <a:r>
              <a:rPr lang="it-IT">
                <a:latin typeface="Karla"/>
              </a:rPr>
              <a:t>Arriva una fattura in mail. Claude la riconosce, legge il fornitore, cerca nella tabella chi la deve ricevere e la inoltra.</a:t>
            </a:r>
          </a:p>
          <a:p>
            <a:r>
              <a:rPr lang="it-IT">
                <a:latin typeface="Karla"/>
              </a:rPr>
              <a:t>Se ha un dubbio, non indovina: la segnala a te.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F793BD9-74D4-443D-ADCB-E58599E2CD1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/>
              <a:t>Le regole</a:t>
            </a:r>
            <a:br>
              <a:rPr lang="it-IT"/>
            </a:br>
            <a:r>
              <a:rPr lang="it-IT"/>
              <a:t>in una tabella</a:t>
            </a: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D30CE9DD-37E3-B2D7-45DD-D66DD31C9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C84CF9C-4371-9672-F423-35D96CFAD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6451D-1641-964E-B995-104A5CF7FFD9}" type="slidenum">
              <a:rPr lang="it-IT" smtClean="0"/>
              <a:pPr/>
              <a:t>79</a:t>
            </a:fld>
            <a:endParaRPr lang="it-IT" dirty="0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B41D3C8E-18B5-19A9-C672-37F093B9A05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it-IT">
                <a:latin typeface="Karla"/>
              </a:rPr>
              <a:t>Il segreto è separare le regole dalle istruzioni. Crea un file Excel «chi riceve cosa»:</a:t>
            </a:r>
          </a:p>
          <a:p>
            <a:pPr marL="285750" indent="-285750">
              <a:buFont typeface="Arial"/>
              <a:buChar char="•"/>
            </a:pPr>
            <a:r>
              <a:rPr lang="it-IT">
                <a:latin typeface="Karla"/>
              </a:rPr>
              <a:t>Agenzia Social → Maria → Fatture/Social</a:t>
            </a:r>
          </a:p>
          <a:p>
            <a:pPr marL="285750" indent="-285750">
              <a:buFont typeface="Arial"/>
              <a:buChar char="•"/>
            </a:pPr>
            <a:r>
              <a:rPr lang="it-IT">
                <a:latin typeface="Karla"/>
              </a:rPr>
              <a:t>Studio Fotografico → Luca → Fatture/Shooting</a:t>
            </a:r>
          </a:p>
          <a:p>
            <a:pPr marL="285750" indent="-285750">
              <a:buFont typeface="Arial"/>
              <a:buChar char="•"/>
            </a:pPr>
            <a:r>
              <a:rPr lang="it-IT">
                <a:latin typeface="Karla"/>
              </a:rPr>
              <a:t>Ente Fiera → Anna → Fatture/Eventi</a:t>
            </a:r>
          </a:p>
          <a:p>
            <a:r>
              <a:rPr lang="it-IT">
                <a:latin typeface="Karla"/>
              </a:rPr>
              <a:t>Quando cambia un referente, aggiorni la tabella: l'automazione non si tocca.</a:t>
            </a:r>
          </a:p>
          <a:p>
            <a:r>
              <a:rPr lang="it-IT">
                <a:latin typeface="Karla"/>
              </a:rPr>
              <a:t>Mettila nella cartella del progetto.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D6D2C2E-63BE-BD1D-D3EC-EB9AD88E6D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6070" y="441325"/>
            <a:ext cx="5661980" cy="1976905"/>
          </a:xfrm>
        </p:spPr>
        <p:txBody>
          <a:bodyPr/>
          <a:lstStyle/>
          <a:p>
            <a:r>
              <a:rPr lang="it-IT"/>
              <a:t>Il prompt</a:t>
            </a:r>
            <a:br>
              <a:rPr lang="it-IT"/>
            </a:br>
            <a:r>
              <a:rPr lang="it-IT"/>
              <a:t>dell'attività</a:t>
            </a: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EB4573C2-5844-268A-A52E-80A5C4406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59395" y="6356350"/>
            <a:ext cx="1922987" cy="365125"/>
          </a:xfrm>
        </p:spPr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D91C807-1730-C2AC-4674-119E09F89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38555" y="6356350"/>
            <a:ext cx="723280" cy="365125"/>
          </a:xfrm>
        </p:spPr>
        <p:txBody>
          <a:bodyPr/>
          <a:lstStyle/>
          <a:p>
            <a:fld id="{13D6451D-1641-964E-B995-104A5CF7FFD9}" type="slidenum">
              <a:rPr lang="it-IT" smtClean="0"/>
              <a:pPr/>
              <a:t>80</a:t>
            </a:fld>
            <a:endParaRPr lang="it-IT" dirty="0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43BE69A5-5685-BC6E-944E-F2B75A38B70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03950" y="684843"/>
            <a:ext cx="5721350" cy="4849813"/>
          </a:xfrm>
        </p:spPr>
        <p:txBody>
          <a:bodyPr/>
          <a:lstStyle/>
          <a:p>
            <a:r>
              <a:rPr lang="it-IT">
                <a:latin typeface="Karla"/>
              </a:rPr>
              <a:t>«Ogni ora controlla la casella marketing. Per ogni nuova mail con un PDF che sembra una fattura:</a:t>
            </a:r>
          </a:p>
          <a:p>
            <a:r>
              <a:rPr lang="it-IT">
                <a:latin typeface="Karla"/>
              </a:rPr>
              <a:t>1. leggi fornitore, numero, data, importo</a:t>
            </a:r>
          </a:p>
          <a:p>
            <a:r>
              <a:rPr lang="it-IT">
                <a:latin typeface="Karla"/>
              </a:rPr>
              <a:t>2. cerca il fornitore in chi_riceve_cosa.xlsx</a:t>
            </a:r>
          </a:p>
          <a:p>
            <a:r>
              <a:rPr lang="it-IT">
                <a:latin typeface="Karla"/>
              </a:rPr>
              <a:t>3. se lo trovi, inoltra al referente e salva il PDF nella sua cartella</a:t>
            </a:r>
          </a:p>
          <a:p>
            <a:r>
              <a:rPr lang="it-IT">
                <a:latin typeface="Karla"/>
              </a:rPr>
              <a:t>4. se non lo trovi o hai dubbi, non fare nulla e aggiungilo alla lista da controllare</a:t>
            </a:r>
          </a:p>
          <a:p>
            <a:r>
              <a:rPr lang="it-IT">
                <a:latin typeface="Karla"/>
              </a:rPr>
              <a:t>5. aggiorna registro_fatture.xlsx</a:t>
            </a:r>
          </a:p>
          <a:p>
            <a:r>
              <a:rPr lang="it-IT">
                <a:latin typeface="Karla"/>
              </a:rPr>
              <a:t>Alle 18 mandami un riepilogo.»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Segnaposto immagine 9" descr="Immagine che contiene interno, interior design, muro, soffitto&#10;&#10;Il contenuto generato dall'IA potrebbe non essere corretto.">
            <a:extLst>
              <a:ext uri="{FF2B5EF4-FFF2-40B4-BE49-F238E27FC236}">
                <a16:creationId xmlns:a16="http://schemas.microsoft.com/office/drawing/2014/main" id="{0E30B22B-36A8-4A36-3F8E-BA9DE1BC07CB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3"/>
          <a:srcRect l="15" r="15"/>
          <a:stretch>
            <a:fillRect/>
          </a:stretch>
        </p:blipFill>
        <p:spPr>
          <a:xfrm>
            <a:off x="1" y="441324"/>
            <a:ext cx="5988050" cy="5651501"/>
          </a:xfrm>
        </p:spPr>
      </p:pic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51E6D9C1-6652-F14B-33AC-6E8FD9711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80DE77F-7D5E-A394-737F-5251C093A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6451D-1641-964E-B995-104A5CF7FFD9}" type="slidenum">
              <a:rPr lang="it-IT" smtClean="0"/>
              <a:pPr/>
              <a:t>81</a:t>
            </a:fld>
            <a:endParaRPr lang="it-IT" dirty="0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678C8310-1E7B-4250-0C1E-D3C48A7C40D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it-IT">
                <a:latin typeface="Karla"/>
              </a:rPr>
              <a:t>Innesco: lunedì alle 8. Lettura: export nella cartella. Decisione: cosa è salito o sceso. Azione: Doc con grafici e commento. Registro: archivio.</a:t>
            </a:r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36C47D9A-E3B2-49D5-133D-34210BC413A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it-IT">
                <a:latin typeface="Karla"/>
              </a:rPr>
              <a:t>Innesco: nuova mail. Lettura: cosa chiede. Decisione: catalogo, foto o listino? Azione: risposta in bozza con il link giusto. Registro: elenco richieste.</a:t>
            </a:r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5C83EFD7-7A83-9EC9-4F8A-FCD1C0ED130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it-IT"/>
              <a:t>Report social settimanale</a:t>
            </a:r>
          </a:p>
        </p:txBody>
      </p:sp>
      <p:sp>
        <p:nvSpPr>
          <p:cNvPr id="8" name="Segnaposto testo 7">
            <a:extLst>
              <a:ext uri="{FF2B5EF4-FFF2-40B4-BE49-F238E27FC236}">
                <a16:creationId xmlns:a16="http://schemas.microsoft.com/office/drawing/2014/main" id="{EFAA5162-FD8F-A9C2-DDDF-65637CD0418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it-IT"/>
              <a:t>Richieste dai rivenditori</a:t>
            </a:r>
          </a:p>
        </p:txBody>
      </p:sp>
      <p:cxnSp>
        <p:nvCxnSpPr>
          <p:cNvPr id="11" name="Connettore 1 10">
            <a:extLst>
              <a:ext uri="{FF2B5EF4-FFF2-40B4-BE49-F238E27FC236}">
                <a16:creationId xmlns:a16="http://schemas.microsoft.com/office/drawing/2014/main" id="{26E6A3F1-1138-C810-5BE0-89DFB5B6CD74}"/>
              </a:ext>
            </a:extLst>
          </p:cNvPr>
          <p:cNvCxnSpPr>
            <a:cxnSpLocks/>
          </p:cNvCxnSpPr>
          <p:nvPr/>
        </p:nvCxnSpPr>
        <p:spPr>
          <a:xfrm>
            <a:off x="6203950" y="441325"/>
            <a:ext cx="5580063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ttore 1 12">
            <a:extLst>
              <a:ext uri="{FF2B5EF4-FFF2-40B4-BE49-F238E27FC236}">
                <a16:creationId xmlns:a16="http://schemas.microsoft.com/office/drawing/2014/main" id="{707D02A4-951D-2269-B7D1-0FE03923480E}"/>
              </a:ext>
            </a:extLst>
          </p:cNvPr>
          <p:cNvCxnSpPr>
            <a:cxnSpLocks/>
          </p:cNvCxnSpPr>
          <p:nvPr/>
        </p:nvCxnSpPr>
        <p:spPr>
          <a:xfrm>
            <a:off x="6203950" y="3465096"/>
            <a:ext cx="5580063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Segnaposto immagine 9">
            <a:extLst>
              <a:ext uri="{FF2B5EF4-FFF2-40B4-BE49-F238E27FC236}">
                <a16:creationId xmlns:a16="http://schemas.microsoft.com/office/drawing/2014/main" id="{CAE37786-BBA6-42F4-2E26-A808E55CFBAA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3"/>
          <a:srcRect l="15" r="15"/>
          <a:stretch>
            <a:fillRect/>
          </a:stretch>
        </p:blipFill>
        <p:spPr>
          <a:xfrm>
            <a:off x="1" y="441324"/>
            <a:ext cx="5988050" cy="5651501"/>
          </a:xfrm>
        </p:spPr>
      </p:pic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D7740E89-EA43-DC5A-6D07-D89FF124C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48AD3930-78BC-BCE5-74E3-E2B34789F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6451D-1641-964E-B995-104A5CF7FFD9}" type="slidenum">
              <a:rPr lang="it-IT" smtClean="0"/>
              <a:pPr/>
              <a:t>82</a:t>
            </a:fld>
            <a:endParaRPr lang="it-IT" dirty="0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590800ED-8945-D047-3878-FEBADA7FB7B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it-IT">
                <a:latin typeface="Karla"/>
              </a:rPr>
              <a:t>Innesco: a fine shooting. Lettura: la cartella foto. Decisione: prodotto, finitura, ambiente. Azione: rinomina e smista. Registro: elenco file.</a:t>
            </a:r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9ABFC639-551E-1750-F630-7AB63B013F1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it-IT">
                <a:latin typeface="Karla"/>
              </a:rPr>
              <a:t>Innesco: ogni venerdì. Lettura: siti di settore e pagine dei competitor. Decisione: cosa è rilevante. Azione: sintesi con fonti. Registro: archivio rassegne.</a:t>
            </a:r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8ADFBBC1-E015-5FC2-6F1C-8BC9D9FE217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it-IT"/>
              <a:t>Archivio foto shooting</a:t>
            </a:r>
          </a:p>
        </p:txBody>
      </p:sp>
      <p:sp>
        <p:nvSpPr>
          <p:cNvPr id="8" name="Segnaposto testo 7">
            <a:extLst>
              <a:ext uri="{FF2B5EF4-FFF2-40B4-BE49-F238E27FC236}">
                <a16:creationId xmlns:a16="http://schemas.microsoft.com/office/drawing/2014/main" id="{045F09C8-7A0B-2D82-048C-89CC08258D2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it-IT"/>
              <a:t>Rassegna e competitor</a:t>
            </a:r>
          </a:p>
        </p:txBody>
      </p:sp>
      <p:cxnSp>
        <p:nvCxnSpPr>
          <p:cNvPr id="11" name="Connettore 1 10">
            <a:extLst>
              <a:ext uri="{FF2B5EF4-FFF2-40B4-BE49-F238E27FC236}">
                <a16:creationId xmlns:a16="http://schemas.microsoft.com/office/drawing/2014/main" id="{947085F4-0B86-8C4A-8E9A-B06A870BD802}"/>
              </a:ext>
            </a:extLst>
          </p:cNvPr>
          <p:cNvCxnSpPr>
            <a:cxnSpLocks/>
          </p:cNvCxnSpPr>
          <p:nvPr/>
        </p:nvCxnSpPr>
        <p:spPr>
          <a:xfrm>
            <a:off x="6203950" y="441325"/>
            <a:ext cx="5580063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ttore 1 12">
            <a:extLst>
              <a:ext uri="{FF2B5EF4-FFF2-40B4-BE49-F238E27FC236}">
                <a16:creationId xmlns:a16="http://schemas.microsoft.com/office/drawing/2014/main" id="{20AD8D09-B887-384E-AF26-4F84A3FEFB90}"/>
              </a:ext>
            </a:extLst>
          </p:cNvPr>
          <p:cNvCxnSpPr>
            <a:cxnSpLocks/>
          </p:cNvCxnSpPr>
          <p:nvPr/>
        </p:nvCxnSpPr>
        <p:spPr>
          <a:xfrm>
            <a:off x="6203950" y="3429000"/>
            <a:ext cx="5580063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ttore 1 11">
            <a:extLst>
              <a:ext uri="{FF2B5EF4-FFF2-40B4-BE49-F238E27FC236}">
                <a16:creationId xmlns:a16="http://schemas.microsoft.com/office/drawing/2014/main" id="{512EB736-D425-92EA-963D-D08F6E3906AE}"/>
              </a:ext>
            </a:extLst>
          </p:cNvPr>
          <p:cNvCxnSpPr>
            <a:cxnSpLocks/>
          </p:cNvCxnSpPr>
          <p:nvPr/>
        </p:nvCxnSpPr>
        <p:spPr>
          <a:xfrm>
            <a:off x="6199588" y="454382"/>
            <a:ext cx="5580063" cy="0"/>
          </a:xfrm>
          <a:prstGeom prst="line">
            <a:avLst/>
          </a:prstGeom>
          <a:ln w="15875"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ttore 1 13">
            <a:extLst>
              <a:ext uri="{FF2B5EF4-FFF2-40B4-BE49-F238E27FC236}">
                <a16:creationId xmlns:a16="http://schemas.microsoft.com/office/drawing/2014/main" id="{6C74E27F-FB86-CCFC-B304-F01F71AB7A24}"/>
              </a:ext>
            </a:extLst>
          </p:cNvPr>
          <p:cNvCxnSpPr>
            <a:cxnSpLocks/>
          </p:cNvCxnSpPr>
          <p:nvPr/>
        </p:nvCxnSpPr>
        <p:spPr>
          <a:xfrm>
            <a:off x="6199588" y="3478153"/>
            <a:ext cx="5580063" cy="0"/>
          </a:xfrm>
          <a:prstGeom prst="line">
            <a:avLst/>
          </a:prstGeom>
          <a:ln w="15875"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6D47EF5-7F82-9505-7D2B-E3131CCC95D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/>
              <a:t>Le regole d'oro</a:t>
            </a: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62D1BC6C-5EAC-6542-91A5-5AECDCF2B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A673DE2-373C-4810-E2D9-AB4A00DE4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6451D-1641-964E-B995-104A5CF7FFD9}" type="slidenum">
              <a:rPr lang="it-IT" smtClean="0"/>
              <a:pPr/>
              <a:t>83</a:t>
            </a:fld>
            <a:endParaRPr lang="it-IT" dirty="0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B9C44978-D868-95C9-90D3-998C3AC4C6E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it-IT">
                <a:latin typeface="Karla"/>
              </a:rPr>
              <a:t>1. Parti da un lavoro piccolo e frequente.</a:t>
            </a:r>
          </a:p>
          <a:p>
            <a:r>
              <a:rPr lang="it-IT">
                <a:latin typeface="Karla"/>
              </a:rPr>
              <a:t>2. Scrivi le regole come le spiegheresti a un collega nuovo.</a:t>
            </a:r>
          </a:p>
          <a:p>
            <a:r>
              <a:rPr lang="it-IT">
                <a:latin typeface="Karla"/>
              </a:rPr>
              <a:t>3. Inizia con i permessi in Manuale: osserva per una o due settimane.</a:t>
            </a:r>
          </a:p>
          <a:p>
            <a:r>
              <a:rPr lang="it-IT">
                <a:latin typeface="Karla"/>
              </a:rPr>
              <a:t>4. Prevedi sempre il caso «non so»: meglio una segnalazione che un errore.</a:t>
            </a:r>
          </a:p>
          <a:p>
            <a:r>
              <a:rPr lang="it-IT">
                <a:latin typeface="Karla"/>
              </a:rPr>
              <a:t>5. Tieni un registro di tutto ciò che fa.</a:t>
            </a:r>
          </a:p>
          <a:p>
            <a:r>
              <a:rPr lang="it-IT">
                <a:latin typeface="Karla"/>
              </a:rPr>
              <a:t>6. Mai invii, pagamenti o cancellazioni automatiche all'inizio.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Segnaposto immagine 16" descr="Immagine che contiene arredo, interior design, interno, muro&#10;&#10;Il contenuto generato dall'IA potrebbe non essere corretto.">
            <a:extLst>
              <a:ext uri="{FF2B5EF4-FFF2-40B4-BE49-F238E27FC236}">
                <a16:creationId xmlns:a16="http://schemas.microsoft.com/office/drawing/2014/main" id="{A2009422-89A6-EEE3-8915-EC80353F714A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3"/>
          <a:srcRect l="53" r="53"/>
          <a:stretch>
            <a:fillRect/>
          </a:stretch>
        </p:blipFill>
        <p:spPr>
          <a:xfrm>
            <a:off x="0" y="1773238"/>
            <a:ext cx="11784013" cy="4319587"/>
          </a:xfrm>
        </p:spPr>
      </p:pic>
      <p:sp>
        <p:nvSpPr>
          <p:cNvPr id="12" name="Titolo 11">
            <a:extLst>
              <a:ext uri="{FF2B5EF4-FFF2-40B4-BE49-F238E27FC236}">
                <a16:creationId xmlns:a16="http://schemas.microsoft.com/office/drawing/2014/main" id="{C67F1C3F-C869-B3E5-976B-8ACF72C960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4384" y="441325"/>
            <a:ext cx="3682184" cy="839334"/>
          </a:xfrm>
        </p:spPr>
        <p:txBody>
          <a:bodyPr/>
          <a:lstStyle/>
          <a:p>
            <a:r>
              <a:rPr lang="it-IT" sz="3419"/>
              <a:t>Pipeline: la tua automazione</a:t>
            </a: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CED3D252-A3B8-5967-C08C-30A52050E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59395" y="6356350"/>
            <a:ext cx="1922987" cy="365125"/>
          </a:xfrm>
        </p:spPr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33F14E5-F6E6-228D-05C4-C12B4BA70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38555" y="6356350"/>
            <a:ext cx="723280" cy="365125"/>
          </a:xfrm>
        </p:spPr>
        <p:txBody>
          <a:bodyPr/>
          <a:lstStyle/>
          <a:p>
            <a:fld id="{13D6451D-1641-964E-B995-104A5CF7FFD9}" type="slidenum">
              <a:rPr lang="it-IT" smtClean="0"/>
              <a:pPr/>
              <a:t>84</a:t>
            </a:fld>
            <a:endParaRPr lang="it-IT" dirty="0"/>
          </a:p>
        </p:txBody>
      </p:sp>
      <p:sp>
        <p:nvSpPr>
          <p:cNvPr id="14" name="Segnaposto testo 13">
            <a:extLst>
              <a:ext uri="{FF2B5EF4-FFF2-40B4-BE49-F238E27FC236}">
                <a16:creationId xmlns:a16="http://schemas.microsoft.com/office/drawing/2014/main" id="{60DC93EE-17B2-3081-2D65-210FB2E6A8C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050232" y="590106"/>
            <a:ext cx="3825245" cy="906181"/>
          </a:xfrm>
        </p:spPr>
        <p:txBody>
          <a:bodyPr/>
          <a:lstStyle/>
          <a:p>
            <a:r>
              <a:rPr lang="it-IT">
                <a:latin typeface="Karla"/>
              </a:rPr>
              <a:t>Percorso consigliato per costruire da soli la prima automazione.</a:t>
            </a:r>
          </a:p>
        </p:txBody>
      </p:sp>
      <p:cxnSp>
        <p:nvCxnSpPr>
          <p:cNvPr id="23" name="Connettore 1 22">
            <a:extLst>
              <a:ext uri="{FF2B5EF4-FFF2-40B4-BE49-F238E27FC236}">
                <a16:creationId xmlns:a16="http://schemas.microsoft.com/office/drawing/2014/main" id="{B019C9E0-904B-93F1-F693-C4477C1EB3C6}"/>
              </a:ext>
            </a:extLst>
          </p:cNvPr>
          <p:cNvCxnSpPr>
            <a:cxnSpLocks/>
          </p:cNvCxnSpPr>
          <p:nvPr/>
        </p:nvCxnSpPr>
        <p:spPr>
          <a:xfrm>
            <a:off x="6203950" y="441325"/>
            <a:ext cx="5580063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D6D2C2E-63BE-BD1D-D3EC-EB9AD88E6D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6070" y="441325"/>
            <a:ext cx="5661980" cy="1976905"/>
          </a:xfrm>
        </p:spPr>
        <p:txBody>
          <a:bodyPr/>
          <a:lstStyle/>
          <a:p>
            <a:r>
              <a:rPr lang="it-IT"/>
              <a:t>Il modello</a:t>
            </a:r>
            <a:br>
              <a:rPr lang="it-IT"/>
            </a:br>
            <a:r>
              <a:rPr lang="it-IT"/>
              <a:t>da compilare</a:t>
            </a: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EB4573C2-5844-268A-A52E-80A5C4406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59395" y="6356350"/>
            <a:ext cx="1922987" cy="365125"/>
          </a:xfrm>
        </p:spPr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D91C807-1730-C2AC-4674-119E09F89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38555" y="6356350"/>
            <a:ext cx="723280" cy="365125"/>
          </a:xfrm>
        </p:spPr>
        <p:txBody>
          <a:bodyPr/>
          <a:lstStyle/>
          <a:p>
            <a:fld id="{13D6451D-1641-964E-B995-104A5CF7FFD9}" type="slidenum">
              <a:rPr lang="it-IT" smtClean="0"/>
              <a:pPr/>
              <a:t>85</a:t>
            </a:fld>
            <a:endParaRPr lang="it-IT" dirty="0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43BE69A5-5685-BC6E-944E-F2B75A38B70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03950" y="684843"/>
            <a:ext cx="5721350" cy="4849813"/>
          </a:xfrm>
        </p:spPr>
        <p:txBody>
          <a:bodyPr/>
          <a:lstStyle/>
          <a:p>
            <a:r>
              <a:rPr lang="it-IT">
                <a:latin typeface="Karla"/>
              </a:rPr>
              <a:t>Copia e completa, poi incollalo in Pianificate &gt; Crea con Claude:</a:t>
            </a:r>
          </a:p>
          <a:p>
            <a:r>
              <a:rPr lang="it-IT">
                <a:latin typeface="Karla"/>
              </a:rPr>
              <a:t>1. Innesco: quando parte? (ogni ora, ogni lunedì, su richiesta)</a:t>
            </a:r>
          </a:p>
          <a:p>
            <a:r>
              <a:rPr lang="it-IT">
                <a:latin typeface="Karla"/>
              </a:rPr>
              <a:t>2. Lettura: cosa guarda? (casella, cartella, file, sito)</a:t>
            </a:r>
          </a:p>
          <a:p>
            <a:r>
              <a:rPr lang="it-IT">
                <a:latin typeface="Karla"/>
              </a:rPr>
              <a:t>3. Decisione: quali regole? (allega la tabella)</a:t>
            </a:r>
          </a:p>
          <a:p>
            <a:r>
              <a:rPr lang="it-IT">
                <a:latin typeface="Karla"/>
              </a:rPr>
              <a:t>4. Azione: cosa fa? (bozza o azione diretta)</a:t>
            </a:r>
          </a:p>
          <a:p>
            <a:r>
              <a:rPr lang="it-IT">
                <a:latin typeface="Karla"/>
              </a:rPr>
              <a:t>5. Registro: dove annota e quando ti avvisa?</a:t>
            </a:r>
          </a:p>
          <a:p>
            <a:r>
              <a:rPr lang="it-IT">
                <a:latin typeface="Karla"/>
              </a:rPr>
              <a:t>Caso dubbio: «se non sei sicuro, non fare nulla e segnalamelo».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tangolo 2">
            <a:extLst>
              <a:ext uri="{FF2B5EF4-FFF2-40B4-BE49-F238E27FC236}">
                <a16:creationId xmlns:a16="http://schemas.microsoft.com/office/drawing/2014/main" id="{F1C1CB56-4283-FDE5-69B6-03C379DE730D}"/>
              </a:ext>
            </a:extLst>
          </p:cNvPr>
          <p:cNvSpPr/>
          <p:nvPr/>
        </p:nvSpPr>
        <p:spPr>
          <a:xfrm>
            <a:off x="0" y="1662953"/>
            <a:ext cx="12192000" cy="353209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C52D1058-C56A-8891-A9DF-AB8158E3954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/>
              <a:t>Fiducia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A11C4E15-DDA8-85EE-18EB-919634828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FCC6785C-0674-6D8A-9339-DED2764C8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6451D-1641-964E-B995-104A5CF7FFD9}" type="slidenum">
              <a:rPr lang="it-IT" smtClean="0"/>
              <a:pPr/>
              <a:t>86</a:t>
            </a:fld>
            <a:endParaRPr lang="it-IT" dirty="0"/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C9460520-20F1-CFF9-73B3-8EA7BFE31C6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it-IT" sz="2519"/>
              <a:t>Sezione 09 · Verifica e primo passo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F793BD9-74D4-443D-ADCB-E58599E2CD1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/>
              <a:t>Verificare</a:t>
            </a:r>
            <a:br>
              <a:rPr lang="it-IT"/>
            </a:br>
            <a:r>
              <a:rPr lang="it-IT"/>
              <a:t>sempre</a:t>
            </a: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D30CE9DD-37E3-B2D7-45DD-D66DD31C9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C84CF9C-4371-9672-F423-35D96CFAD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6451D-1641-964E-B995-104A5CF7FFD9}" type="slidenum">
              <a:rPr lang="it-IT" smtClean="0"/>
              <a:pPr/>
              <a:t>87</a:t>
            </a:fld>
            <a:endParaRPr lang="it-IT" dirty="0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B41D3C8E-18B5-19A9-C672-37F093B9A05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it-IT">
                <a:latin typeface="Karla"/>
              </a:rPr>
              <a:t>Immagini e testi AI:</a:t>
            </a:r>
          </a:p>
          <a:p>
            <a:pPr marL="285750" indent="-285750">
              <a:buFont typeface="Arial"/>
              <a:buChar char="•"/>
            </a:pPr>
            <a:r>
              <a:rPr lang="it-IT">
                <a:latin typeface="Karla"/>
              </a:rPr>
              <a:t>controlla diritti, marchi e coerenza con le linee guida</a:t>
            </a:r>
          </a:p>
          <a:p>
            <a:pPr marL="285750" indent="-285750">
              <a:buFont typeface="Arial"/>
              <a:buChar char="•"/>
            </a:pPr>
            <a:r>
              <a:rPr lang="it-IT">
                <a:latin typeface="Karla"/>
              </a:rPr>
              <a:t>i prodotti reali non vanno «inventati» dall'AI</a:t>
            </a:r>
          </a:p>
          <a:p>
            <a:pPr marL="285750" indent="-285750">
              <a:buFont typeface="Arial"/>
              <a:buChar char="•"/>
            </a:pPr>
            <a:r>
              <a:rPr lang="it-IT">
                <a:latin typeface="Karla"/>
              </a:rPr>
              <a:t>numeri e dati vanno sempre ricontrollati</a:t>
            </a:r>
          </a:p>
          <a:p>
            <a:r>
              <a:rPr lang="it-IT">
                <a:latin typeface="Karla"/>
              </a:rPr>
              <a:t>Verifica in 4 mosse:</a:t>
            </a:r>
          </a:p>
          <a:p>
            <a:r>
              <a:rPr lang="it-IT">
                <a:latin typeface="Karla"/>
              </a:rPr>
              <a:t>1. chiedi le fonti</a:t>
            </a:r>
          </a:p>
          <a:p>
            <a:r>
              <a:rPr lang="it-IT">
                <a:latin typeface="Karla"/>
              </a:rPr>
              <a:t>2. confronta con dati che conosci</a:t>
            </a:r>
          </a:p>
          <a:p>
            <a:r>
              <a:rPr lang="it-IT">
                <a:latin typeface="Karla"/>
              </a:rPr>
              <a:t>3. usa il tuo giudizio di esperto</a:t>
            </a:r>
          </a:p>
          <a:p>
            <a:r>
              <a:rPr lang="it-IT">
                <a:latin typeface="Karla"/>
              </a:rPr>
              <a:t>4. prova in piccolo prima di pubblicare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ADED681-84E5-AEB9-F436-72396F9B8E8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/>
              <a:t>Cosa portare</a:t>
            </a:r>
            <a:br>
              <a:rPr lang="it-IT"/>
            </a:br>
            <a:r>
              <a:rPr lang="it-IT"/>
              <a:t>a casa</a:t>
            </a: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9F09FC85-CEA7-237E-6BE2-7B9206D04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4E4368F-7A30-F387-08EE-7E7CBE9CC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6451D-1641-964E-B995-104A5CF7FFD9}" type="slidenum">
              <a:rPr lang="it-IT" smtClean="0"/>
              <a:pPr/>
              <a:t>88</a:t>
            </a:fld>
            <a:endParaRPr lang="it-IT" dirty="0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60D7638C-CC8E-08F3-B3C2-B1A51502FB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it-IT">
                <a:latin typeface="Karla"/>
              </a:rPr>
              <a:t>01  Ogni AI ha il suo mestiere: Perplexity cerca, Claude scrive e lavora, Gemini vive in Google, ChatGPT corre, Leonardo crea immagini.</a:t>
            </a:r>
          </a:p>
          <a:p>
            <a:r>
              <a:rPr lang="it-IT">
                <a:latin typeface="Karla"/>
              </a:rPr>
              <a:t>02  Il prompt è tutto: ruolo, contesto, compito, formato.</a:t>
            </a:r>
          </a:p>
          <a:p>
            <a:r>
              <a:rPr lang="it-IT">
                <a:latin typeface="Karla"/>
              </a:rPr>
              <a:t>03  Modello giusto, chat brevi, cartella collegata: meno token, più qualità.</a:t>
            </a:r>
          </a:p>
          <a:p>
            <a:r>
              <a:rPr lang="it-IT">
                <a:latin typeface="Karla"/>
              </a:rPr>
              <a:t>04  Claude riscrive i file: chiedi a lui o lavora su una copia.</a:t>
            </a:r>
          </a:p>
          <a:p>
            <a:r>
              <a:rPr lang="it-IT">
                <a:latin typeface="Karla"/>
              </a:rPr>
              <a:t>05  Ogni automazione è fatta di 5 mosse. Prima chiedi, poi delega.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82084B6-88DB-9582-3110-FC43DB65D6C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/>
              <a:t>Il primo passo,</a:t>
            </a:r>
            <a:br>
              <a:rPr lang="it-IT"/>
            </a:br>
            <a:r>
              <a:rPr lang="it-IT"/>
              <a:t>entro domani</a:t>
            </a: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48B3B4FE-A5AE-15B5-039E-6B12456D4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9327E34A-D472-0C69-68BB-722F741F8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6451D-1641-964E-B995-104A5CF7FFD9}" type="slidenum">
              <a:rPr lang="it-IT" smtClean="0"/>
              <a:pPr/>
              <a:t>89</a:t>
            </a:fld>
            <a:endParaRPr lang="it-IT" dirty="0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BC36876A-8A9D-A20E-B94E-9472D4FFFC6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it-IT">
                <a:latin typeface="Karla"/>
              </a:rPr>
              <a:t>Una sola azione, piccola e concreta:</a:t>
            </a:r>
          </a:p>
          <a:p>
            <a:pPr marL="285750" indent="-285750">
              <a:buFont typeface="Arial"/>
              <a:buChar char="•"/>
            </a:pPr>
            <a:r>
              <a:rPr lang="it-IT">
                <a:latin typeface="Karla"/>
              </a:rPr>
              <a:t>crea la cartella di lavoro e il progetto collegato</a:t>
            </a:r>
          </a:p>
          <a:p>
            <a:pPr marL="285750" indent="-285750">
              <a:buFont typeface="Arial"/>
              <a:buChar char="•"/>
            </a:pPr>
            <a:r>
              <a:rPr lang="it-IT">
                <a:latin typeface="Karla"/>
              </a:rPr>
              <a:t>metti in 00_Leggimi tono di voce e due testi approvati</a:t>
            </a:r>
          </a:p>
          <a:p>
            <a:pPr marL="285750" indent="-285750">
              <a:buFont typeface="Arial"/>
              <a:buChar char="•"/>
            </a:pPr>
            <a:r>
              <a:rPr lang="it-IT">
                <a:latin typeface="Karla"/>
              </a:rPr>
              <a:t>chiedi la variante di un contenuto reale</a:t>
            </a:r>
          </a:p>
          <a:p>
            <a:pPr marL="285750" indent="-285750">
              <a:buFont typeface="Arial"/>
              <a:buChar char="•"/>
            </a:pPr>
            <a:r>
              <a:rPr lang="it-IT">
                <a:latin typeface="Karla"/>
              </a:rPr>
              <a:t>giudica il risultato: cosa manca? Aggiungilo alle istruzioni</a:t>
            </a:r>
          </a:p>
          <a:p>
            <a:r>
              <a:rPr lang="it-IT">
                <a:latin typeface="Karla"/>
              </a:rPr>
              <a:t>Nel prossimo incontro partiamo dai vostri progetti e dalle vostre automazioni.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tangolo 2">
            <a:extLst>
              <a:ext uri="{FF2B5EF4-FFF2-40B4-BE49-F238E27FC236}">
                <a16:creationId xmlns:a16="http://schemas.microsoft.com/office/drawing/2014/main" id="{F1C1CB56-4283-FDE5-69B6-03C379DE730D}"/>
              </a:ext>
            </a:extLst>
          </p:cNvPr>
          <p:cNvSpPr/>
          <p:nvPr/>
        </p:nvSpPr>
        <p:spPr>
          <a:xfrm>
            <a:off x="0" y="1662953"/>
            <a:ext cx="12192000" cy="353209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C52D1058-C56A-8891-A9DF-AB8158E3954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/>
              <a:t>Ufficio eventi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A11C4E15-DDA8-85EE-18EB-919634828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FCC6785C-0674-6D8A-9339-DED2764C8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6451D-1641-964E-B995-104A5CF7FFD9}" type="slidenum">
              <a:rPr lang="it-IT" smtClean="0"/>
              <a:pPr/>
              <a:t>90</a:t>
            </a:fld>
            <a:endParaRPr lang="it-IT" dirty="0"/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C9460520-20F1-CFF9-73B3-8EA7BFE31C6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it-IT" sz="2519"/>
              <a:t>Sezione 10 · Una squadra digitale per gli eventi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6D47EF5-7F82-9505-7D2B-E3131CCC95D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sz="4559"/>
              <a:t>L'idea: un ufficio</a:t>
            </a:r>
            <a:br>
              <a:rPr lang="it-IT" sz="4559"/>
            </a:br>
            <a:r>
              <a:rPr lang="it-IT" sz="4559"/>
              <a:t>di agenti</a:t>
            </a: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62D1BC6C-5EAC-6542-91A5-5AECDCF2B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A673DE2-373C-4810-E2D9-AB4A00DE4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6451D-1641-964E-B995-104A5CF7FFD9}" type="slidenum">
              <a:rPr lang="it-IT" smtClean="0"/>
              <a:pPr/>
              <a:t>91</a:t>
            </a:fld>
            <a:endParaRPr lang="it-IT" dirty="0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B9C44978-D868-95C9-90D3-998C3AC4C6E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it-IT">
                <a:latin typeface="Karla"/>
              </a:rPr>
              <a:t>Immagina l'ufficio eventi come una squadra digitale:</a:t>
            </a:r>
          </a:p>
          <a:p>
            <a:pPr marL="285750" indent="-285750">
              <a:buFont typeface="Arial"/>
              <a:buChar char="•"/>
            </a:pPr>
            <a:r>
              <a:rPr lang="it-IT">
                <a:latin typeface="Karla"/>
              </a:rPr>
              <a:t>ogni agente ha un ruolo: ricerca, comunicazione, logistica, report</a:t>
            </a:r>
          </a:p>
          <a:p>
            <a:pPr marL="285750" indent="-285750">
              <a:buFont typeface="Arial"/>
              <a:buChar char="•"/>
            </a:pPr>
            <a:r>
              <a:rPr lang="it-IT">
                <a:latin typeface="Karla"/>
              </a:rPr>
              <a:t>ognuno ha i suoi orari: chi lavora ogni mattina, chi ogni lunedì, chi a evento finito</a:t>
            </a:r>
          </a:p>
          <a:p>
            <a:pPr marL="285750" indent="-285750">
              <a:buFont typeface="Arial"/>
              <a:buChar char="•"/>
            </a:pPr>
            <a:r>
              <a:rPr lang="it-IT">
                <a:latin typeface="Karla"/>
              </a:rPr>
              <a:t>tutti lavorano sulla stessa cartella e lasciano traccia di ciò che fanno</a:t>
            </a:r>
          </a:p>
          <a:p>
            <a:pPr marL="285750" indent="-285750">
              <a:buFont typeface="Arial"/>
              <a:buChar char="•"/>
            </a:pPr>
            <a:r>
              <a:rPr lang="it-IT">
                <a:latin typeface="Karla"/>
              </a:rPr>
              <a:t>tu sei il direttore: assegni, approvi, correggi</a:t>
            </a:r>
          </a:p>
          <a:p>
            <a:r>
              <a:rPr lang="it-IT">
                <a:latin typeface="Karla"/>
              </a:rPr>
              <a:t>Claude è il motore: progetto, skill, agenti e attività pianificate.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Segnaposto immagine 16" descr="Immagine che contiene arredo, interior design, interno, muro&#10;&#10;Il contenuto generato dall'IA potrebbe non essere corretto.">
            <a:extLst>
              <a:ext uri="{FF2B5EF4-FFF2-40B4-BE49-F238E27FC236}">
                <a16:creationId xmlns:a16="http://schemas.microsoft.com/office/drawing/2014/main" id="{A2009422-89A6-EEE3-8915-EC80353F714A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3"/>
          <a:srcRect l="53" r="53"/>
          <a:stretch>
            <a:fillRect/>
          </a:stretch>
        </p:blipFill>
        <p:spPr>
          <a:xfrm>
            <a:off x="0" y="1773238"/>
            <a:ext cx="11784013" cy="4319587"/>
          </a:xfrm>
        </p:spPr>
      </p:pic>
      <p:sp>
        <p:nvSpPr>
          <p:cNvPr id="12" name="Titolo 11">
            <a:extLst>
              <a:ext uri="{FF2B5EF4-FFF2-40B4-BE49-F238E27FC236}">
                <a16:creationId xmlns:a16="http://schemas.microsoft.com/office/drawing/2014/main" id="{C67F1C3F-C869-B3E5-976B-8ACF72C960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4384" y="441325"/>
            <a:ext cx="3682184" cy="839334"/>
          </a:xfrm>
        </p:spPr>
        <p:txBody>
          <a:bodyPr/>
          <a:lstStyle/>
          <a:p>
            <a:r>
              <a:rPr lang="it-IT" sz="3240"/>
              <a:t>Un ufficio eventi in Claude</a:t>
            </a: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CED3D252-A3B8-5967-C08C-30A52050E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59395" y="6356350"/>
            <a:ext cx="1922987" cy="365125"/>
          </a:xfrm>
        </p:spPr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33F14E5-F6E6-228D-05C4-C12B4BA70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38555" y="6356350"/>
            <a:ext cx="723280" cy="365125"/>
          </a:xfrm>
        </p:spPr>
        <p:txBody>
          <a:bodyPr/>
          <a:lstStyle/>
          <a:p>
            <a:fld id="{13D6451D-1641-964E-B995-104A5CF7FFD9}" type="slidenum">
              <a:rPr lang="it-IT" smtClean="0"/>
              <a:pPr/>
              <a:t>92</a:t>
            </a:fld>
            <a:endParaRPr lang="it-IT" dirty="0"/>
          </a:p>
        </p:txBody>
      </p:sp>
      <p:sp>
        <p:nvSpPr>
          <p:cNvPr id="14" name="Segnaposto testo 13">
            <a:extLst>
              <a:ext uri="{FF2B5EF4-FFF2-40B4-BE49-F238E27FC236}">
                <a16:creationId xmlns:a16="http://schemas.microsoft.com/office/drawing/2014/main" id="{60DC93EE-17B2-3081-2D65-210FB2E6A8C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050232" y="590106"/>
            <a:ext cx="3825245" cy="906181"/>
          </a:xfrm>
        </p:spPr>
        <p:txBody>
          <a:bodyPr/>
          <a:lstStyle/>
          <a:p>
            <a:r>
              <a:rPr lang="it-IT">
                <a:latin typeface="Karla"/>
              </a:rPr>
              <a:t>Progetto, cartella, skill, agenti, connettori e attività pianificate: i mattoni che già conosciamo.</a:t>
            </a:r>
          </a:p>
        </p:txBody>
      </p:sp>
      <p:cxnSp>
        <p:nvCxnSpPr>
          <p:cNvPr id="23" name="Connettore 1 22">
            <a:extLst>
              <a:ext uri="{FF2B5EF4-FFF2-40B4-BE49-F238E27FC236}">
                <a16:creationId xmlns:a16="http://schemas.microsoft.com/office/drawing/2014/main" id="{B019C9E0-904B-93F1-F693-C4477C1EB3C6}"/>
              </a:ext>
            </a:extLst>
          </p:cNvPr>
          <p:cNvCxnSpPr>
            <a:cxnSpLocks/>
          </p:cNvCxnSpPr>
          <p:nvPr/>
        </p:nvCxnSpPr>
        <p:spPr>
          <a:xfrm>
            <a:off x="6203950" y="441325"/>
            <a:ext cx="5580063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Segnaposto immagine 8">
            <a:extLst>
              <a:ext uri="{FF2B5EF4-FFF2-40B4-BE49-F238E27FC236}">
                <a16:creationId xmlns:a16="http://schemas.microsoft.com/office/drawing/2014/main" id="{A12B5639-49C3-6C26-0924-928DA7BFD00C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3"/>
          <a:srcRect t="20" b="20"/>
          <a:stretch/>
        </p:blipFill>
        <p:spPr>
          <a:xfrm>
            <a:off x="-1" y="441325"/>
            <a:ext cx="7876903" cy="5651499"/>
          </a:xfr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1D5DC4FF-FFB6-C57F-B0E5-4318214EE4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64533" y="415199"/>
            <a:ext cx="3682184" cy="839334"/>
          </a:xfrm>
        </p:spPr>
        <p:txBody>
          <a:bodyPr/>
          <a:lstStyle/>
          <a:p>
            <a:r>
              <a:rPr lang="it-IT"/>
              <a:t>La cartella eventi</a:t>
            </a: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4670410F-3B65-AB9C-CC0C-3C0901C4F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59395" y="6356350"/>
            <a:ext cx="1922987" cy="365125"/>
          </a:xfrm>
        </p:spPr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F0158C3-5C5A-B6DD-0789-921BAFF0F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38555" y="6356350"/>
            <a:ext cx="723280" cy="365125"/>
          </a:xfrm>
        </p:spPr>
        <p:txBody>
          <a:bodyPr/>
          <a:lstStyle/>
          <a:p>
            <a:fld id="{13D6451D-1641-964E-B995-104A5CF7FFD9}" type="slidenum">
              <a:rPr lang="it-IT" smtClean="0"/>
              <a:pPr/>
              <a:t>93</a:t>
            </a:fld>
            <a:endParaRPr lang="it-IT" dirty="0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417462D0-F733-FF6E-518E-4B63287CB29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050232" y="1736475"/>
            <a:ext cx="3825245" cy="2357734"/>
          </a:xfrm>
        </p:spPr>
        <p:txBody>
          <a:bodyPr/>
          <a:lstStyle/>
          <a:p>
            <a:r>
              <a:rPr lang="it-IT">
                <a:latin typeface="Karla"/>
              </a:rPr>
              <a:t>Una cartella per l'ufficio, una sottocartella per ogni evento. Claude trova regole, fornitori e template, e salva tutto al posto giusto.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Segnaposto immagine 9" descr="Immagine che contiene interno, interior design, muro, soffitto&#10;&#10;Il contenuto generato dall'IA potrebbe non essere corretto.">
            <a:extLst>
              <a:ext uri="{FF2B5EF4-FFF2-40B4-BE49-F238E27FC236}">
                <a16:creationId xmlns:a16="http://schemas.microsoft.com/office/drawing/2014/main" id="{0E30B22B-36A8-4A36-3F8E-BA9DE1BC07CB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3"/>
          <a:srcRect l="15" r="15"/>
          <a:stretch>
            <a:fillRect/>
          </a:stretch>
        </p:blipFill>
        <p:spPr>
          <a:xfrm>
            <a:off x="1" y="441324"/>
            <a:ext cx="5988050" cy="5651501"/>
          </a:xfrm>
        </p:spPr>
      </p:pic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51E6D9C1-6652-F14B-33AC-6E8FD9711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80DE77F-7D5E-A394-737F-5251C093A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6451D-1641-964E-B995-104A5CF7FFD9}" type="slidenum">
              <a:rPr lang="it-IT" smtClean="0"/>
              <a:pPr/>
              <a:t>94</a:t>
            </a:fld>
            <a:endParaRPr lang="it-IT" dirty="0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678C8310-1E7B-4250-0C1E-D3C48A7C40D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it-IT">
                <a:latin typeface="Karla"/>
              </a:rPr>
              <a:t>Ricerca location e fornitori</a:t>
            </a:r>
          </a:p>
          <a:p>
            <a:pPr marL="285750" indent="-285750">
              <a:buFont typeface="Arial"/>
              <a:buChar char="•"/>
            </a:pPr>
            <a:r>
              <a:rPr lang="it-IT">
                <a:latin typeface="Karla"/>
              </a:rPr>
              <a:t>Comunicazione e ospiti</a:t>
            </a:r>
          </a:p>
          <a:p>
            <a:pPr marL="285750" indent="-285750">
              <a:buFont typeface="Arial"/>
              <a:buChar char="•"/>
            </a:pPr>
            <a:r>
              <a:rPr lang="it-IT">
                <a:latin typeface="Karla"/>
              </a:rPr>
              <a:t>Logistica e scadenze</a:t>
            </a:r>
          </a:p>
          <a:p>
            <a:pPr marL="285750" indent="-285750">
              <a:buFont typeface="Arial"/>
              <a:buChar char="•"/>
            </a:pPr>
            <a:r>
              <a:rPr lang="it-IT">
                <a:latin typeface="Karla"/>
              </a:rPr>
              <a:t>Analisi e report</a:t>
            </a:r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36C47D9A-E3B2-49D5-133D-34210BC413A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it-IT" sz="1709">
                <a:latin typeface="Karla"/>
              </a:rPr>
              <a:t>Brief evento: obiettivi, pubblico, budget, KPI</a:t>
            </a:r>
          </a:p>
          <a:p>
            <a:pPr marL="285750" indent="-285750">
              <a:buFont typeface="Arial"/>
              <a:buChar char="•"/>
            </a:pPr>
            <a:r>
              <a:rPr lang="it-IT" sz="1709">
                <a:latin typeface="Karla"/>
              </a:rPr>
              <a:t>Run of show: scaletta minuto per minuto</a:t>
            </a:r>
          </a:p>
          <a:p>
            <a:pPr marL="285750" indent="-285750">
              <a:buFont typeface="Arial"/>
              <a:buChar char="•"/>
            </a:pPr>
            <a:r>
              <a:rPr lang="it-IT" sz="1709">
                <a:latin typeface="Karla"/>
              </a:rPr>
              <a:t>Inviti e comunicazione nel tono del brand</a:t>
            </a:r>
          </a:p>
          <a:p>
            <a:pPr marL="285750" indent="-285750">
              <a:buFont typeface="Arial"/>
              <a:buChar char="•"/>
            </a:pPr>
            <a:r>
              <a:rPr lang="it-IT" sz="1709">
                <a:latin typeface="Karla"/>
              </a:rPr>
              <a:t>Report post evento</a:t>
            </a:r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5C83EFD7-7A83-9EC9-4F8A-FCD1C0ED130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it-IT"/>
              <a:t>Agenti</a:t>
            </a:r>
          </a:p>
        </p:txBody>
      </p:sp>
      <p:sp>
        <p:nvSpPr>
          <p:cNvPr id="8" name="Segnaposto testo 7">
            <a:extLst>
              <a:ext uri="{FF2B5EF4-FFF2-40B4-BE49-F238E27FC236}">
                <a16:creationId xmlns:a16="http://schemas.microsoft.com/office/drawing/2014/main" id="{EFAA5162-FD8F-A9C2-DDDF-65637CD0418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it-IT"/>
              <a:t>Skill da creare</a:t>
            </a:r>
          </a:p>
        </p:txBody>
      </p:sp>
      <p:cxnSp>
        <p:nvCxnSpPr>
          <p:cNvPr id="11" name="Connettore 1 10">
            <a:extLst>
              <a:ext uri="{FF2B5EF4-FFF2-40B4-BE49-F238E27FC236}">
                <a16:creationId xmlns:a16="http://schemas.microsoft.com/office/drawing/2014/main" id="{26E6A3F1-1138-C810-5BE0-89DFB5B6CD74}"/>
              </a:ext>
            </a:extLst>
          </p:cNvPr>
          <p:cNvCxnSpPr>
            <a:cxnSpLocks/>
          </p:cNvCxnSpPr>
          <p:nvPr/>
        </p:nvCxnSpPr>
        <p:spPr>
          <a:xfrm>
            <a:off x="6203950" y="441325"/>
            <a:ext cx="5580063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ttore 1 12">
            <a:extLst>
              <a:ext uri="{FF2B5EF4-FFF2-40B4-BE49-F238E27FC236}">
                <a16:creationId xmlns:a16="http://schemas.microsoft.com/office/drawing/2014/main" id="{707D02A4-951D-2269-B7D1-0FE03923480E}"/>
              </a:ext>
            </a:extLst>
          </p:cNvPr>
          <p:cNvCxnSpPr>
            <a:cxnSpLocks/>
          </p:cNvCxnSpPr>
          <p:nvPr/>
        </p:nvCxnSpPr>
        <p:spPr>
          <a:xfrm>
            <a:off x="6203950" y="3465096"/>
            <a:ext cx="5580063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Segnaposto immagine 16" descr="Immagine che contiene arredo, interior design, interno, muro&#10;&#10;Il contenuto generato dall'IA potrebbe non essere corretto.">
            <a:extLst>
              <a:ext uri="{FF2B5EF4-FFF2-40B4-BE49-F238E27FC236}">
                <a16:creationId xmlns:a16="http://schemas.microsoft.com/office/drawing/2014/main" id="{A2009422-89A6-EEE3-8915-EC80353F714A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3"/>
          <a:srcRect l="53" r="53"/>
          <a:stretch>
            <a:fillRect/>
          </a:stretch>
        </p:blipFill>
        <p:spPr>
          <a:xfrm>
            <a:off x="0" y="1773238"/>
            <a:ext cx="11784013" cy="4319587"/>
          </a:xfrm>
        </p:spPr>
      </p:pic>
      <p:sp>
        <p:nvSpPr>
          <p:cNvPr id="12" name="Titolo 11">
            <a:extLst>
              <a:ext uri="{FF2B5EF4-FFF2-40B4-BE49-F238E27FC236}">
                <a16:creationId xmlns:a16="http://schemas.microsoft.com/office/drawing/2014/main" id="{C67F1C3F-C869-B3E5-976B-8ACF72C960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4384" y="441325"/>
            <a:ext cx="3682184" cy="839334"/>
          </a:xfrm>
        </p:spPr>
        <p:txBody>
          <a:bodyPr/>
          <a:lstStyle/>
          <a:p>
            <a:r>
              <a:rPr lang="it-IT"/>
              <a:t>Pipeline: un evento</a:t>
            </a: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CED3D252-A3B8-5967-C08C-30A52050E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59395" y="6356350"/>
            <a:ext cx="1922987" cy="365125"/>
          </a:xfrm>
        </p:spPr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33F14E5-F6E6-228D-05C4-C12B4BA70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38555" y="6356350"/>
            <a:ext cx="723280" cy="365125"/>
          </a:xfrm>
        </p:spPr>
        <p:txBody>
          <a:bodyPr/>
          <a:lstStyle/>
          <a:p>
            <a:fld id="{13D6451D-1641-964E-B995-104A5CF7FFD9}" type="slidenum">
              <a:rPr lang="it-IT" smtClean="0"/>
              <a:pPr/>
              <a:t>95</a:t>
            </a:fld>
            <a:endParaRPr lang="it-IT" dirty="0"/>
          </a:p>
        </p:txBody>
      </p:sp>
      <p:sp>
        <p:nvSpPr>
          <p:cNvPr id="14" name="Segnaposto testo 13">
            <a:extLst>
              <a:ext uri="{FF2B5EF4-FFF2-40B4-BE49-F238E27FC236}">
                <a16:creationId xmlns:a16="http://schemas.microsoft.com/office/drawing/2014/main" id="{60DC93EE-17B2-3081-2D65-210FB2E6A8C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050232" y="590106"/>
            <a:ext cx="3825245" cy="906181"/>
          </a:xfrm>
        </p:spPr>
        <p:txBody>
          <a:bodyPr/>
          <a:lstStyle/>
          <a:p>
            <a:r>
              <a:rPr lang="it-IT">
                <a:latin typeface="Karla"/>
              </a:rPr>
              <a:t>Percorso consigliato, dal brief al report finale.</a:t>
            </a:r>
          </a:p>
        </p:txBody>
      </p:sp>
      <p:cxnSp>
        <p:nvCxnSpPr>
          <p:cNvPr id="23" name="Connettore 1 22">
            <a:extLst>
              <a:ext uri="{FF2B5EF4-FFF2-40B4-BE49-F238E27FC236}">
                <a16:creationId xmlns:a16="http://schemas.microsoft.com/office/drawing/2014/main" id="{B019C9E0-904B-93F1-F693-C4477C1EB3C6}"/>
              </a:ext>
            </a:extLst>
          </p:cNvPr>
          <p:cNvCxnSpPr>
            <a:cxnSpLocks/>
          </p:cNvCxnSpPr>
          <p:nvPr/>
        </p:nvCxnSpPr>
        <p:spPr>
          <a:xfrm>
            <a:off x="6203950" y="441325"/>
            <a:ext cx="5580063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F793BD9-74D4-443D-ADCB-E58599E2CD1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/>
              <a:t>Le attività</a:t>
            </a:r>
            <a:br>
              <a:rPr lang="it-IT"/>
            </a:br>
            <a:r>
              <a:rPr lang="it-IT"/>
              <a:t>pianificate</a:t>
            </a: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D30CE9DD-37E3-B2D7-45DD-D66DD31C9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C84CF9C-4371-9672-F423-35D96CFAD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6451D-1641-964E-B995-104A5CF7FFD9}" type="slidenum">
              <a:rPr lang="it-IT" smtClean="0"/>
              <a:pPr/>
              <a:t>96</a:t>
            </a:fld>
            <a:endParaRPr lang="it-IT" dirty="0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B41D3C8E-18B5-19A9-C672-37F093B9A05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it-IT">
                <a:latin typeface="Karla"/>
              </a:rPr>
              <a:t>Il cuore dell'ufficio eventi che lavora da solo:</a:t>
            </a:r>
          </a:p>
          <a:p>
            <a:pPr marL="285750" indent="-285750">
              <a:buFont typeface="Arial"/>
              <a:buChar char="•"/>
            </a:pPr>
            <a:r>
              <a:rPr lang="it-IT">
                <a:latin typeface="Karla"/>
              </a:rPr>
              <a:t>Ogni lunedì alle 9: stato di tutti gli eventi e scadenze della settimana.</a:t>
            </a:r>
          </a:p>
          <a:p>
            <a:pPr marL="285750" indent="-285750">
              <a:buFont typeface="Arial"/>
              <a:buChar char="•"/>
            </a:pPr>
            <a:r>
              <a:rPr lang="it-IT">
                <a:latin typeface="Karla"/>
              </a:rPr>
              <a:t>Ogni giorno: legge le risposte agli inviti e aggiorna la lista ospiti.</a:t>
            </a:r>
          </a:p>
          <a:p>
            <a:pPr marL="285750" indent="-285750">
              <a:buFont typeface="Arial"/>
              <a:buChar char="•"/>
            </a:pPr>
            <a:r>
              <a:rPr lang="it-IT">
                <a:latin typeface="Karla"/>
              </a:rPr>
              <a:t>A 14, 7 e 1 giorno dall'evento: promemoria ai fornitori, in bozza.</a:t>
            </a:r>
          </a:p>
          <a:p>
            <a:pPr marL="285750" indent="-285750">
              <a:buFont typeface="Arial"/>
              <a:buChar char="•"/>
            </a:pPr>
            <a:r>
              <a:rPr lang="it-IT">
                <a:latin typeface="Karla"/>
              </a:rPr>
              <a:t>Il giorno dopo: bozza di ringraziamento agli ospiti e raccolta foto.</a:t>
            </a:r>
          </a:p>
          <a:p>
            <a:pPr marL="285750" indent="-285750">
              <a:buFont typeface="Arial"/>
              <a:buChar char="•"/>
            </a:pPr>
            <a:r>
              <a:rPr lang="it-IT">
                <a:latin typeface="Karla"/>
              </a:rPr>
              <a:t>Una settimana dopo: report con presenze, costi e risultati.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D6D2C2E-63BE-BD1D-D3EC-EB9AD88E6D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6070" y="441325"/>
            <a:ext cx="5661980" cy="1976905"/>
          </a:xfrm>
        </p:spPr>
        <p:txBody>
          <a:bodyPr/>
          <a:lstStyle/>
          <a:p>
            <a:r>
              <a:rPr lang="it-IT"/>
              <a:t>Il prompt</a:t>
            </a:r>
            <a:br>
              <a:rPr lang="it-IT"/>
            </a:br>
            <a:r>
              <a:rPr lang="it-IT"/>
              <a:t>di avvio</a:t>
            </a: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EB4573C2-5844-268A-A52E-80A5C4406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59395" y="6356350"/>
            <a:ext cx="1922987" cy="365125"/>
          </a:xfrm>
        </p:spPr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D91C807-1730-C2AC-4674-119E09F89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38555" y="6356350"/>
            <a:ext cx="723280" cy="365125"/>
          </a:xfrm>
        </p:spPr>
        <p:txBody>
          <a:bodyPr/>
          <a:lstStyle/>
          <a:p>
            <a:fld id="{13D6451D-1641-964E-B995-104A5CF7FFD9}" type="slidenum">
              <a:rPr lang="it-IT" smtClean="0"/>
              <a:pPr/>
              <a:t>97</a:t>
            </a:fld>
            <a:endParaRPr lang="it-IT" dirty="0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43BE69A5-5685-BC6E-944E-F2B75A38B70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03950" y="684843"/>
            <a:ext cx="5721350" cy="4849813"/>
          </a:xfrm>
        </p:spPr>
        <p:txBody>
          <a:bodyPr/>
          <a:lstStyle/>
          <a:p>
            <a:r>
              <a:rPr lang="it-IT">
                <a:latin typeface="Karla"/>
              </a:rPr>
              <a:t>Da incollare nel progetto Ufficio Eventi:</a:t>
            </a:r>
          </a:p>
          <a:p>
            <a:r>
              <a:rPr lang="it-IT">
                <a:latin typeface="Karla"/>
              </a:rPr>
              <a:t>«Sei l'assistente dell'ufficio eventi del marketing. Leggi 00_Leggimi e Fornitori-Location.xlsx.</a:t>
            </a:r>
          </a:p>
          <a:p>
            <a:r>
              <a:rPr lang="it-IT">
                <a:latin typeface="Karla"/>
              </a:rPr>
              <a:t>Per un nuovo evento crea la cartella Eventi/AAAA-MM_nome con brief, budget e cronoprogramma.</a:t>
            </a:r>
          </a:p>
          <a:p>
            <a:r>
              <a:rPr lang="it-IT">
                <a:latin typeface="Karla"/>
              </a:rPr>
              <a:t>Tieni aggiornata la lista ospiti da mail e moduli.</a:t>
            </a:r>
          </a:p>
          <a:p>
            <a:r>
              <a:rPr lang="it-IT">
                <a:latin typeface="Karla"/>
              </a:rPr>
              <a:t>Prepara inviti, comunicazioni e promemoria solo in bozza: niente invii senza il mio ok.</a:t>
            </a:r>
          </a:p>
          <a:p>
            <a:r>
              <a:rPr lang="it-IT">
                <a:latin typeface="Karla"/>
              </a:rPr>
              <a:t>Ogni lunedì mandami lo stato degli eventi.»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6D47EF5-7F82-9505-7D2B-E3131CCC95D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/>
              <a:t>Setup in otto</a:t>
            </a:r>
            <a:br>
              <a:rPr lang="it-IT"/>
            </a:br>
            <a:r>
              <a:rPr lang="it-IT"/>
              <a:t>passi</a:t>
            </a: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62D1BC6C-5EAC-6542-91A5-5AECDCF2B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A673DE2-373C-4810-E2D9-AB4A00DE4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6451D-1641-964E-B995-104A5CF7FFD9}" type="slidenum">
              <a:rPr lang="it-IT" smtClean="0"/>
              <a:pPr/>
              <a:t>98</a:t>
            </a:fld>
            <a:endParaRPr lang="it-IT" dirty="0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B9C44978-D868-95C9-90D3-998C3AC4C6E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it-IT">
                <a:latin typeface="Karla"/>
              </a:rPr>
              <a:t>1. Crea la cartella Ufficio-Eventi con la struttura vista.</a:t>
            </a:r>
          </a:p>
          <a:p>
            <a:r>
              <a:rPr lang="it-IT">
                <a:latin typeface="Karla"/>
              </a:rPr>
              <a:t>2. Riempi Fornitori-Location.xlsx e i template.</a:t>
            </a:r>
          </a:p>
          <a:p>
            <a:r>
              <a:rPr lang="it-IT">
                <a:latin typeface="Karla"/>
              </a:rPr>
              <a:t>3. Crea il progetto e collega la cartella.</a:t>
            </a:r>
          </a:p>
          <a:p>
            <a:r>
              <a:rPr lang="it-IT">
                <a:latin typeface="Karla"/>
              </a:rPr>
              <a:t>4. Scrivi le istruzioni (il prompt di avvio).</a:t>
            </a:r>
          </a:p>
          <a:p>
            <a:r>
              <a:rPr lang="it-IT">
                <a:latin typeface="Karla"/>
              </a:rPr>
              <a:t>5. Crea le skill: brief, run of show, inviti, report.</a:t>
            </a:r>
          </a:p>
          <a:p>
            <a:r>
              <a:rPr lang="it-IT">
                <a:latin typeface="Karla"/>
              </a:rPr>
              <a:t>6. Collega mail, calendario e Drive o SharePoint, con l'IT.</a:t>
            </a:r>
          </a:p>
          <a:p>
            <a:r>
              <a:rPr lang="it-IT">
                <a:latin typeface="Karla"/>
              </a:rPr>
              <a:t>7. Crea le attività pianificate, in Manuale.</a:t>
            </a:r>
          </a:p>
          <a:p>
            <a:r>
              <a:rPr lang="it-IT">
                <a:latin typeface="Karla"/>
              </a:rPr>
              <a:t>8. Prova su un evento piccolo, poi estendi.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82084B6-88DB-9582-3110-FC43DB65D6C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/>
              <a:t>Cosa resta</a:t>
            </a:r>
            <a:br>
              <a:rPr lang="it-IT"/>
            </a:br>
            <a:r>
              <a:rPr lang="it-IT"/>
              <a:t>fuori</a:t>
            </a: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48B3B4FE-A5AE-15B5-039E-6B12456D4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9327E34A-D472-0C69-68BB-722F741F8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6451D-1641-964E-B995-104A5CF7FFD9}" type="slidenum">
              <a:rPr lang="it-IT" smtClean="0"/>
              <a:pPr/>
              <a:t>99</a:t>
            </a:fld>
            <a:endParaRPr lang="it-IT" dirty="0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BC36876A-8A9D-A20E-B94E-9472D4FFFC6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it-IT">
                <a:latin typeface="Karla"/>
              </a:rPr>
              <a:t>Claude organizza, scrive, controlla e ricorda. Per alcune cose servono strumenti dedicati:</a:t>
            </a:r>
          </a:p>
          <a:p>
            <a:pPr marL="285750" indent="-285750">
              <a:buFont typeface="Arial"/>
              <a:buChar char="•"/>
            </a:pPr>
            <a:r>
              <a:rPr lang="it-IT">
                <a:latin typeface="Karla"/>
              </a:rPr>
              <a:t>registrazione e biglietteria online</a:t>
            </a:r>
          </a:p>
          <a:p>
            <a:pPr marL="285750" indent="-285750">
              <a:buFont typeface="Arial"/>
              <a:buChar char="•"/>
            </a:pPr>
            <a:r>
              <a:rPr lang="it-IT">
                <a:latin typeface="Karla"/>
              </a:rPr>
              <a:t>check-in con QR code all'ingresso</a:t>
            </a:r>
          </a:p>
          <a:p>
            <a:pPr marL="285750" indent="-285750">
              <a:buFont typeface="Arial"/>
              <a:buChar char="•"/>
            </a:pPr>
            <a:r>
              <a:rPr lang="it-IT">
                <a:latin typeface="Karla"/>
              </a:rPr>
              <a:t>pagamenti</a:t>
            </a:r>
          </a:p>
          <a:p>
            <a:pPr marL="285750" indent="-285750">
              <a:buFont typeface="Arial"/>
              <a:buChar char="•"/>
            </a:pPr>
            <a:r>
              <a:rPr lang="it-IT">
                <a:latin typeface="Karla"/>
              </a:rPr>
              <a:t>app per i partecipanti</a:t>
            </a:r>
          </a:p>
          <a:p>
            <a:r>
              <a:rPr lang="it-IT">
                <a:latin typeface="Karla"/>
              </a:rPr>
              <a:t>Se la piattaforma ha un connettore, Claude ne legge i dati.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574C459-1E8A-002D-242B-9B6741E53DF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/>
              <a:t>Un ufficio ben</a:t>
            </a:r>
            <a:br>
              <a:rPr lang="it-IT"/>
            </a:br>
            <a:r>
              <a:rPr lang="it-IT"/>
              <a:t>impostato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3D26EBE8-14E6-C9A5-3762-3E2050849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A13DE717-F641-F685-A461-E1A3D0CBB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6451D-1641-964E-B995-104A5CF7FFD9}" type="slidenum">
              <a:rPr lang="it-IT" smtClean="0"/>
              <a:pPr/>
              <a:t>100</a:t>
            </a:fld>
            <a:endParaRPr lang="it-IT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tangolo 2">
            <a:extLst>
              <a:ext uri="{FF2B5EF4-FFF2-40B4-BE49-F238E27FC236}">
                <a16:creationId xmlns:a16="http://schemas.microsoft.com/office/drawing/2014/main" id="{FE3F8970-ADB9-FC80-EE5C-032B8DDA03C8}"/>
              </a:ext>
            </a:extLst>
          </p:cNvPr>
          <p:cNvSpPr/>
          <p:nvPr/>
        </p:nvSpPr>
        <p:spPr>
          <a:xfrm>
            <a:off x="0" y="3442446"/>
            <a:ext cx="12192000" cy="341555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F658AAB5-4DA6-E1F8-E32F-066FF90705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3978" y="4115920"/>
            <a:ext cx="5608587" cy="687414"/>
          </a:xfrm>
        </p:spPr>
        <p:txBody>
          <a:bodyPr/>
          <a:lstStyle/>
          <a:p>
            <a:r>
              <a:rPr lang="it-IT"/>
              <a:t>Leonardo AI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1026BD36-5398-6256-97FF-323A74260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59395" y="6356350"/>
            <a:ext cx="1922987" cy="365125"/>
          </a:xfrm>
        </p:spPr>
        <p:txBody>
          <a:bodyPr/>
          <a:lstStyle/>
          <a:p>
            <a:endParaRPr lang="it-IT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88B0C64A-590C-FCF6-0BA0-546ED8029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38555" y="6356350"/>
            <a:ext cx="723280" cy="365125"/>
          </a:xfrm>
        </p:spPr>
        <p:txBody>
          <a:bodyPr/>
          <a:lstStyle/>
          <a:p>
            <a:fld id="{13D6451D-1641-964E-B995-104A5CF7FFD9}" type="slidenum">
              <a:rPr lang="it-IT" smtClean="0"/>
              <a:pPr/>
              <a:t>101</a:t>
            </a:fld>
            <a:endParaRPr lang="it-IT" dirty="0"/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C6FAFAA2-E607-9ED6-0BD6-A042B53336A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49604" y="4869610"/>
            <a:ext cx="5638820" cy="931862"/>
          </a:xfrm>
        </p:spPr>
        <p:txBody>
          <a:bodyPr/>
          <a:lstStyle/>
          <a:p>
            <a:r>
              <a:rPr lang="it-IT" sz="2519"/>
              <a:t>Sezione 11 · Lo studio visivo, nel dettaglio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7D589769-AD7F-BB90-79EE-7A3DFE1D75E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787" y="6333330"/>
            <a:ext cx="1991187" cy="412376"/>
          </a:xfrm>
          <a:prstGeom prst="rect">
            <a:avLst/>
          </a:prstGeom>
        </p:spPr>
      </p:pic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Segnaposto immagine 9" descr="Immagine che contiene interno, interior design, muro, soffitto&#10;&#10;Il contenuto generato dall'IA potrebbe non essere corretto.">
            <a:extLst>
              <a:ext uri="{FF2B5EF4-FFF2-40B4-BE49-F238E27FC236}">
                <a16:creationId xmlns:a16="http://schemas.microsoft.com/office/drawing/2014/main" id="{0E30B22B-36A8-4A36-3F8E-BA9DE1BC07CB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3"/>
          <a:srcRect l="15" r="15"/>
          <a:stretch>
            <a:fillRect/>
          </a:stretch>
        </p:blipFill>
        <p:spPr>
          <a:xfrm>
            <a:off x="1" y="441324"/>
            <a:ext cx="5988050" cy="5651501"/>
          </a:xfrm>
        </p:spPr>
      </p:pic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51E6D9C1-6652-F14B-33AC-6E8FD9711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80DE77F-7D5E-A394-737F-5251C093A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6451D-1641-964E-B995-104A5CF7FFD9}" type="slidenum">
              <a:rPr lang="it-IT" smtClean="0"/>
              <a:pPr/>
              <a:t>102</a:t>
            </a:fld>
            <a:endParaRPr lang="it-IT" dirty="0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678C8310-1E7B-4250-0C1E-D3C48A7C40D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it-IT">
                <a:latin typeface="Karla"/>
              </a:rPr>
              <a:t>è un aggregatore: tanti modelli diversi</a:t>
            </a:r>
          </a:p>
          <a:p>
            <a:pPr marL="285750" indent="-285750">
              <a:buFont typeface="Arial"/>
              <a:buChar char="•"/>
            </a:pPr>
            <a:r>
              <a:rPr lang="it-IT">
                <a:latin typeface="Karla"/>
              </a:rPr>
              <a:t>ogni generazione costa token</a:t>
            </a:r>
          </a:p>
          <a:p>
            <a:pPr marL="285750" indent="-285750">
              <a:buFont typeface="Arial"/>
              <a:buChar char="•"/>
            </a:pPr>
            <a:r>
              <a:rPr lang="it-IT">
                <a:latin typeface="Karla"/>
              </a:rPr>
              <a:t>immagini private sui piani a pagamento</a:t>
            </a:r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36C47D9A-E3B2-49D5-133D-34210BC413A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it-IT">
                <a:latin typeface="Karla"/>
              </a:rPr>
              <a:t>Descrivi un'immagine a parole, scegli un modello e un formato: Leonardo genera alcune varianti. Poi le ritocchi, le ingrandisci o le animi.</a:t>
            </a:r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5C83EFD7-7A83-9EC9-4F8A-FCD1C0ED130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it-IT"/>
              <a:t>Cosa sapere</a:t>
            </a:r>
          </a:p>
        </p:txBody>
      </p:sp>
      <p:sp>
        <p:nvSpPr>
          <p:cNvPr id="8" name="Segnaposto testo 7">
            <a:extLst>
              <a:ext uri="{FF2B5EF4-FFF2-40B4-BE49-F238E27FC236}">
                <a16:creationId xmlns:a16="http://schemas.microsoft.com/office/drawing/2014/main" id="{EFAA5162-FD8F-A9C2-DDDF-65637CD0418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it-IT"/>
              <a:t>Come funziona</a:t>
            </a:r>
          </a:p>
        </p:txBody>
      </p:sp>
      <p:cxnSp>
        <p:nvCxnSpPr>
          <p:cNvPr id="11" name="Connettore 1 10">
            <a:extLst>
              <a:ext uri="{FF2B5EF4-FFF2-40B4-BE49-F238E27FC236}">
                <a16:creationId xmlns:a16="http://schemas.microsoft.com/office/drawing/2014/main" id="{26E6A3F1-1138-C810-5BE0-89DFB5B6CD74}"/>
              </a:ext>
            </a:extLst>
          </p:cNvPr>
          <p:cNvCxnSpPr>
            <a:cxnSpLocks/>
          </p:cNvCxnSpPr>
          <p:nvPr/>
        </p:nvCxnSpPr>
        <p:spPr>
          <a:xfrm>
            <a:off x="6203950" y="441325"/>
            <a:ext cx="5580063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ttore 1 12">
            <a:extLst>
              <a:ext uri="{FF2B5EF4-FFF2-40B4-BE49-F238E27FC236}">
                <a16:creationId xmlns:a16="http://schemas.microsoft.com/office/drawing/2014/main" id="{707D02A4-951D-2269-B7D1-0FE03923480E}"/>
              </a:ext>
            </a:extLst>
          </p:cNvPr>
          <p:cNvCxnSpPr>
            <a:cxnSpLocks/>
          </p:cNvCxnSpPr>
          <p:nvPr/>
        </p:nvCxnSpPr>
        <p:spPr>
          <a:xfrm>
            <a:off x="6203950" y="3465096"/>
            <a:ext cx="5580063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Segnaposto immagine 16" descr="Immagine che contiene arredo, interior design, interno, muro&#10;&#10;Il contenuto generato dall'IA potrebbe non essere corretto.">
            <a:extLst>
              <a:ext uri="{FF2B5EF4-FFF2-40B4-BE49-F238E27FC236}">
                <a16:creationId xmlns:a16="http://schemas.microsoft.com/office/drawing/2014/main" id="{A2009422-89A6-EEE3-8915-EC80353F714A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3"/>
          <a:srcRect l="53" r="53"/>
          <a:stretch>
            <a:fillRect/>
          </a:stretch>
        </p:blipFill>
        <p:spPr>
          <a:xfrm>
            <a:off x="0" y="1773238"/>
            <a:ext cx="11784013" cy="4319587"/>
          </a:xfrm>
        </p:spPr>
      </p:pic>
      <p:sp>
        <p:nvSpPr>
          <p:cNvPr id="12" name="Titolo 11">
            <a:extLst>
              <a:ext uri="{FF2B5EF4-FFF2-40B4-BE49-F238E27FC236}">
                <a16:creationId xmlns:a16="http://schemas.microsoft.com/office/drawing/2014/main" id="{C67F1C3F-C869-B3E5-976B-8ACF72C960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4384" y="441325"/>
            <a:ext cx="3682184" cy="839334"/>
          </a:xfrm>
        </p:spPr>
        <p:txBody>
          <a:bodyPr/>
          <a:lstStyle/>
          <a:p>
            <a:r>
              <a:rPr lang="it-IT"/>
              <a:t>L'area di lavoro</a:t>
            </a: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CED3D252-A3B8-5967-C08C-30A52050E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59395" y="6356350"/>
            <a:ext cx="1922987" cy="365125"/>
          </a:xfrm>
        </p:spPr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33F14E5-F6E6-228D-05C4-C12B4BA70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38555" y="6356350"/>
            <a:ext cx="723280" cy="365125"/>
          </a:xfrm>
        </p:spPr>
        <p:txBody>
          <a:bodyPr/>
          <a:lstStyle/>
          <a:p>
            <a:fld id="{13D6451D-1641-964E-B995-104A5CF7FFD9}" type="slidenum">
              <a:rPr lang="it-IT" smtClean="0"/>
              <a:pPr/>
              <a:t>103</a:t>
            </a:fld>
            <a:endParaRPr lang="it-IT" dirty="0"/>
          </a:p>
        </p:txBody>
      </p:sp>
      <p:sp>
        <p:nvSpPr>
          <p:cNvPr id="14" name="Segnaposto testo 13">
            <a:extLst>
              <a:ext uri="{FF2B5EF4-FFF2-40B4-BE49-F238E27FC236}">
                <a16:creationId xmlns:a16="http://schemas.microsoft.com/office/drawing/2014/main" id="{60DC93EE-17B2-3081-2D65-210FB2E6A8C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050232" y="590106"/>
            <a:ext cx="3825245" cy="906181"/>
          </a:xfrm>
        </p:spPr>
        <p:txBody>
          <a:bodyPr/>
          <a:lstStyle/>
          <a:p>
            <a:r>
              <a:rPr lang="it-IT">
                <a:latin typeface="Karla"/>
              </a:rPr>
              <a:t>Sei strumenti, dal primo concept al video.</a:t>
            </a:r>
          </a:p>
        </p:txBody>
      </p:sp>
      <p:cxnSp>
        <p:nvCxnSpPr>
          <p:cNvPr id="23" name="Connettore 1 22">
            <a:extLst>
              <a:ext uri="{FF2B5EF4-FFF2-40B4-BE49-F238E27FC236}">
                <a16:creationId xmlns:a16="http://schemas.microsoft.com/office/drawing/2014/main" id="{B019C9E0-904B-93F1-F693-C4477C1EB3C6}"/>
              </a:ext>
            </a:extLst>
          </p:cNvPr>
          <p:cNvCxnSpPr>
            <a:cxnSpLocks/>
          </p:cNvCxnSpPr>
          <p:nvPr/>
        </p:nvCxnSpPr>
        <p:spPr>
          <a:xfrm>
            <a:off x="6203950" y="441325"/>
            <a:ext cx="5580063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Segnaposto immagine 8">
            <a:extLst>
              <a:ext uri="{FF2B5EF4-FFF2-40B4-BE49-F238E27FC236}">
                <a16:creationId xmlns:a16="http://schemas.microsoft.com/office/drawing/2014/main" id="{A12B5639-49C3-6C26-0924-928DA7BFD00C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3"/>
          <a:srcRect t="20" b="20"/>
          <a:stretch/>
        </p:blipFill>
        <p:spPr>
          <a:xfrm>
            <a:off x="-1" y="441325"/>
            <a:ext cx="7876903" cy="5651499"/>
          </a:xfr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1D5DC4FF-FFB6-C57F-B0E5-4318214EE4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64533" y="415199"/>
            <a:ext cx="3682184" cy="839334"/>
          </a:xfrm>
        </p:spPr>
        <p:txBody>
          <a:bodyPr/>
          <a:lstStyle/>
          <a:p>
            <a:r>
              <a:rPr lang="it-IT"/>
              <a:t>I modelli immagine</a:t>
            </a: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4670410F-3B65-AB9C-CC0C-3C0901C4F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59395" y="6356350"/>
            <a:ext cx="1922987" cy="365125"/>
          </a:xfrm>
        </p:spPr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F0158C3-5C5A-B6DD-0789-921BAFF0F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38555" y="6356350"/>
            <a:ext cx="723280" cy="365125"/>
          </a:xfrm>
        </p:spPr>
        <p:txBody>
          <a:bodyPr/>
          <a:lstStyle/>
          <a:p>
            <a:fld id="{13D6451D-1641-964E-B995-104A5CF7FFD9}" type="slidenum">
              <a:rPr lang="it-IT" smtClean="0"/>
              <a:pPr/>
              <a:t>104</a:t>
            </a:fld>
            <a:endParaRPr lang="it-IT" dirty="0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417462D0-F733-FF6E-518E-4B63287CB29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050232" y="1736475"/>
            <a:ext cx="3825245" cy="2357734"/>
          </a:xfrm>
        </p:spPr>
        <p:txBody>
          <a:bodyPr/>
          <a:lstStyle/>
          <a:p>
            <a:r>
              <a:rPr lang="it-IT">
                <a:latin typeface="Karla"/>
              </a:rPr>
              <a:t>Non c'è un modello migliore in assoluto: ognuno ha la sua specialità. Leonardo può anche scegliere da solo in base al prompt.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Segnaposto immagine 8">
            <a:extLst>
              <a:ext uri="{FF2B5EF4-FFF2-40B4-BE49-F238E27FC236}">
                <a16:creationId xmlns:a16="http://schemas.microsoft.com/office/drawing/2014/main" id="{A12B5639-49C3-6C26-0924-928DA7BFD00C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3"/>
          <a:srcRect t="20" b="20"/>
          <a:stretch/>
        </p:blipFill>
        <p:spPr>
          <a:xfrm>
            <a:off x="-1" y="441325"/>
            <a:ext cx="7876903" cy="5651499"/>
          </a:xfr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1D5DC4FF-FFB6-C57F-B0E5-4318214EE4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64533" y="415199"/>
            <a:ext cx="3682184" cy="839334"/>
          </a:xfrm>
        </p:spPr>
        <p:txBody>
          <a:bodyPr/>
          <a:lstStyle/>
          <a:p>
            <a:r>
              <a:rPr lang="it-IT"/>
              <a:t>I modelli video</a:t>
            </a: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4670410F-3B65-AB9C-CC0C-3C0901C4F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59395" y="6356350"/>
            <a:ext cx="1922987" cy="365125"/>
          </a:xfrm>
        </p:spPr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F0158C3-5C5A-B6DD-0789-921BAFF0F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38555" y="6356350"/>
            <a:ext cx="723280" cy="365125"/>
          </a:xfrm>
        </p:spPr>
        <p:txBody>
          <a:bodyPr/>
          <a:lstStyle/>
          <a:p>
            <a:fld id="{13D6451D-1641-964E-B995-104A5CF7FFD9}" type="slidenum">
              <a:rPr lang="it-IT" smtClean="0"/>
              <a:pPr/>
              <a:t>105</a:t>
            </a:fld>
            <a:endParaRPr lang="it-IT" dirty="0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417462D0-F733-FF6E-518E-4B63287CB29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050232" y="1736475"/>
            <a:ext cx="3825245" cy="2357734"/>
          </a:xfrm>
        </p:spPr>
        <p:txBody>
          <a:bodyPr/>
          <a:lstStyle/>
          <a:p>
            <a:r>
              <a:rPr lang="it-IT">
                <a:latin typeface="Karla"/>
              </a:rPr>
              <a:t>Il video parte quasi sempre da un'immagine: diventa il primo fotogramma, il prompt descrive il movimento.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6D47EF5-7F82-9505-7D2B-E3131CCC95D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/>
              <a:t>Come scegliere</a:t>
            </a:r>
            <a:br>
              <a:rPr lang="it-IT"/>
            </a:br>
            <a:r>
              <a:rPr lang="it-IT"/>
              <a:t>il modello</a:t>
            </a: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62D1BC6C-5EAC-6542-91A5-5AECDCF2B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A673DE2-373C-4810-E2D9-AB4A00DE4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6451D-1641-964E-B995-104A5CF7FFD9}" type="slidenum">
              <a:rPr lang="it-IT" smtClean="0"/>
              <a:pPr/>
              <a:t>106</a:t>
            </a:fld>
            <a:endParaRPr lang="it-IT" dirty="0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B9C44978-D868-95C9-90D3-998C3AC4C6E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it-IT">
                <a:latin typeface="Karla"/>
              </a:rPr>
              <a:t>Concept e moodboard: Lucid Origin, poi Flow State per le varianti</a:t>
            </a:r>
          </a:p>
          <a:p>
            <a:pPr marL="285750" indent="-285750">
              <a:buFont typeface="Arial"/>
              <a:buChar char="•"/>
            </a:pPr>
            <a:r>
              <a:rPr lang="it-IT">
                <a:latin typeface="Karla"/>
              </a:rPr>
              <a:t>Ambientazione fotorealistica: Lucid Realism o Flux 2 Pro</a:t>
            </a:r>
          </a:p>
          <a:p>
            <a:pPr marL="285750" indent="-285750">
              <a:buFont typeface="Arial"/>
              <a:buChar char="•"/>
            </a:pPr>
            <a:r>
              <a:rPr lang="it-IT">
                <a:latin typeface="Karla"/>
              </a:rPr>
              <a:t>Correggere un dettaglio: Nano Banana, a parole, senza maschere</a:t>
            </a:r>
          </a:p>
          <a:p>
            <a:pPr marL="285750" indent="-285750">
              <a:buFont typeface="Arial"/>
              <a:buChar char="•"/>
            </a:pPr>
            <a:r>
              <a:rPr lang="it-IT">
                <a:latin typeface="Karla"/>
              </a:rPr>
              <a:t>Locandina con testo: Ideogram 3.0</a:t>
            </a:r>
          </a:p>
          <a:p>
            <a:pPr marL="285750" indent="-285750">
              <a:buFont typeface="Arial"/>
              <a:buChar char="•"/>
            </a:pPr>
            <a:r>
              <a:rPr lang="it-IT">
                <a:latin typeface="Karla"/>
              </a:rPr>
              <a:t>Visual per stampa e adv: Seedream 4.0 in 4K</a:t>
            </a:r>
          </a:p>
          <a:p>
            <a:pPr marL="285750" indent="-285750">
              <a:buFont typeface="Arial"/>
              <a:buChar char="•"/>
            </a:pPr>
            <a:r>
              <a:rPr lang="it-IT">
                <a:latin typeface="Karla"/>
              </a:rPr>
              <a:t>Teaser social: Motion 2.0</a:t>
            </a:r>
          </a:p>
          <a:p>
            <a:pPr marL="285750" indent="-285750">
              <a:buFont typeface="Arial"/>
              <a:buChar char="•"/>
            </a:pPr>
            <a:r>
              <a:rPr lang="it-IT">
                <a:latin typeface="Karla"/>
              </a:rPr>
              <a:t>Video adv con prodotto: Veo 3.1 o Kling 3.0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Segnaposto immagine 16" descr="Immagine che contiene arredo, interior design, interno, muro&#10;&#10;Il contenuto generato dall'IA potrebbe non essere corretto.">
            <a:extLst>
              <a:ext uri="{FF2B5EF4-FFF2-40B4-BE49-F238E27FC236}">
                <a16:creationId xmlns:a16="http://schemas.microsoft.com/office/drawing/2014/main" id="{A2009422-89A6-EEE3-8915-EC80353F714A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3"/>
          <a:srcRect l="53" r="53"/>
          <a:stretch>
            <a:fillRect/>
          </a:stretch>
        </p:blipFill>
        <p:spPr>
          <a:xfrm>
            <a:off x="0" y="1773238"/>
            <a:ext cx="11784013" cy="4319587"/>
          </a:xfrm>
        </p:spPr>
      </p:pic>
      <p:sp>
        <p:nvSpPr>
          <p:cNvPr id="12" name="Titolo 11">
            <a:extLst>
              <a:ext uri="{FF2B5EF4-FFF2-40B4-BE49-F238E27FC236}">
                <a16:creationId xmlns:a16="http://schemas.microsoft.com/office/drawing/2014/main" id="{C67F1C3F-C869-B3E5-976B-8ACF72C960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4384" y="441325"/>
            <a:ext cx="3682184" cy="839334"/>
          </a:xfrm>
        </p:spPr>
        <p:txBody>
          <a:bodyPr/>
          <a:lstStyle/>
          <a:p>
            <a:r>
              <a:rPr lang="it-IT"/>
              <a:t>Anatomia di un prompt</a:t>
            </a: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CED3D252-A3B8-5967-C08C-30A52050E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59395" y="6356350"/>
            <a:ext cx="1922987" cy="365125"/>
          </a:xfrm>
        </p:spPr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33F14E5-F6E6-228D-05C4-C12B4BA70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38555" y="6356350"/>
            <a:ext cx="723280" cy="365125"/>
          </a:xfrm>
        </p:spPr>
        <p:txBody>
          <a:bodyPr/>
          <a:lstStyle/>
          <a:p>
            <a:fld id="{13D6451D-1641-964E-B995-104A5CF7FFD9}" type="slidenum">
              <a:rPr lang="it-IT" smtClean="0"/>
              <a:pPr/>
              <a:t>107</a:t>
            </a:fld>
            <a:endParaRPr lang="it-IT" dirty="0"/>
          </a:p>
        </p:txBody>
      </p:sp>
      <p:sp>
        <p:nvSpPr>
          <p:cNvPr id="14" name="Segnaposto testo 13">
            <a:extLst>
              <a:ext uri="{FF2B5EF4-FFF2-40B4-BE49-F238E27FC236}">
                <a16:creationId xmlns:a16="http://schemas.microsoft.com/office/drawing/2014/main" id="{60DC93EE-17B2-3081-2D65-210FB2E6A8C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050232" y="590106"/>
            <a:ext cx="3825245" cy="906181"/>
          </a:xfrm>
        </p:spPr>
        <p:txBody>
          <a:bodyPr/>
          <a:lstStyle/>
          <a:p>
            <a:r>
              <a:rPr lang="it-IT">
                <a:latin typeface="Karla"/>
              </a:rPr>
              <a:t>Sei blocchi. In inglese i modelli rendono meglio.</a:t>
            </a:r>
          </a:p>
        </p:txBody>
      </p:sp>
      <p:cxnSp>
        <p:nvCxnSpPr>
          <p:cNvPr id="23" name="Connettore 1 22">
            <a:extLst>
              <a:ext uri="{FF2B5EF4-FFF2-40B4-BE49-F238E27FC236}">
                <a16:creationId xmlns:a16="http://schemas.microsoft.com/office/drawing/2014/main" id="{B019C9E0-904B-93F1-F693-C4477C1EB3C6}"/>
              </a:ext>
            </a:extLst>
          </p:cNvPr>
          <p:cNvCxnSpPr>
            <a:cxnSpLocks/>
          </p:cNvCxnSpPr>
          <p:nvPr/>
        </p:nvCxnSpPr>
        <p:spPr>
          <a:xfrm>
            <a:off x="6203950" y="441325"/>
            <a:ext cx="5580063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F793BD9-74D4-443D-ADCB-E58599E2CD1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/>
              <a:t>Riferimenti</a:t>
            </a:r>
            <a:br>
              <a:rPr lang="it-IT"/>
            </a:br>
            <a:r>
              <a:rPr lang="it-IT"/>
              <a:t>e ritocchi</a:t>
            </a: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D30CE9DD-37E3-B2D7-45DD-D66DD31C9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C84CF9C-4371-9672-F423-35D96CFAD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6451D-1641-964E-B995-104A5CF7FFD9}" type="slidenum">
              <a:rPr lang="it-IT" smtClean="0"/>
              <a:pPr/>
              <a:t>108</a:t>
            </a:fld>
            <a:endParaRPr lang="it-IT" dirty="0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B41D3C8E-18B5-19A9-C672-37F093B9A05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it-IT">
                <a:latin typeface="Karla"/>
              </a:rPr>
              <a:t>Il testo da solo non basta per la coerenza. Leonardo accetta immagini di riferimento:</a:t>
            </a:r>
          </a:p>
          <a:p>
            <a:pPr marL="285750" indent="-285750">
              <a:buFont typeface="Arial"/>
              <a:buChar char="•"/>
            </a:pPr>
            <a:r>
              <a:rPr lang="it-IT">
                <a:latin typeface="Karla"/>
              </a:rPr>
              <a:t>di stile: «fallo come questa foto»</a:t>
            </a:r>
          </a:p>
          <a:p>
            <a:pPr marL="285750" indent="-285750">
              <a:buFont typeface="Arial"/>
              <a:buChar char="•"/>
            </a:pPr>
            <a:r>
              <a:rPr lang="it-IT">
                <a:latin typeface="Karla"/>
              </a:rPr>
              <a:t>di contenuto: forma e composizione di partenza</a:t>
            </a:r>
          </a:p>
          <a:p>
            <a:pPr marL="285750" indent="-285750">
              <a:buFont typeface="Arial"/>
              <a:buChar char="•"/>
            </a:pPr>
            <a:r>
              <a:rPr lang="it-IT">
                <a:latin typeface="Karla"/>
              </a:rPr>
              <a:t>di personaggio: lo stesso soggetto in più immagini</a:t>
            </a:r>
          </a:p>
          <a:p>
            <a:r>
              <a:rPr lang="it-IT">
                <a:latin typeface="Karla"/>
              </a:rPr>
              <a:t>Poi i ritocchi:</a:t>
            </a:r>
          </a:p>
          <a:p>
            <a:pPr marL="285750" indent="-285750">
              <a:buFont typeface="Arial"/>
              <a:buChar char="•"/>
            </a:pPr>
            <a:r>
              <a:rPr lang="it-IT">
                <a:latin typeface="Karla"/>
              </a:rPr>
              <a:t>modifiche a parole con Nano Banana</a:t>
            </a:r>
          </a:p>
          <a:p>
            <a:pPr marL="285750" indent="-285750">
              <a:buFont typeface="Arial"/>
              <a:buChar char="•"/>
            </a:pPr>
            <a:r>
              <a:rPr lang="it-IT">
                <a:latin typeface="Karla"/>
              </a:rPr>
              <a:t>upscale per la risoluzione finale</a:t>
            </a:r>
          </a:p>
          <a:p>
            <a:pPr marL="285750" indent="-285750">
              <a:buFont typeface="Arial"/>
              <a:buChar char="•"/>
            </a:pPr>
            <a:r>
              <a:rPr lang="it-IT">
                <a:latin typeface="Karla"/>
              </a:rPr>
              <a:t>espansione del formato, da quadrato a orizzontale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F793BD9-74D4-443D-ADCB-E58599E2CD1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/>
              <a:t>Token e piani</a:t>
            </a: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D30CE9DD-37E3-B2D7-45DD-D66DD31C9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C84CF9C-4371-9672-F423-35D96CFAD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6451D-1641-964E-B995-104A5CF7FFD9}" type="slidenum">
              <a:rPr lang="it-IT" smtClean="0"/>
              <a:pPr/>
              <a:t>109</a:t>
            </a:fld>
            <a:endParaRPr lang="it-IT" dirty="0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B41D3C8E-18B5-19A9-C672-37F093B9A05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it-IT">
                <a:latin typeface="Karla"/>
              </a:rPr>
              <a:t>Ogni generazione costa token: dipende da modello, risoluzione e numero di immagini. I video costano molto di più.</a:t>
            </a:r>
          </a:p>
          <a:p>
            <a:pPr marL="285750" indent="-285750">
              <a:buFont typeface="Arial"/>
              <a:buChar char="•"/>
            </a:pPr>
            <a:r>
              <a:rPr lang="it-IT">
                <a:latin typeface="Karla"/>
              </a:rPr>
              <a:t>Free: 150 token al giorno</a:t>
            </a:r>
          </a:p>
          <a:p>
            <a:pPr marL="285750" indent="-285750">
              <a:buFont typeface="Arial"/>
              <a:buChar char="•"/>
            </a:pPr>
            <a:r>
              <a:rPr lang="it-IT">
                <a:latin typeface="Karla"/>
              </a:rPr>
              <a:t>Essential: circa 12 $ al mese</a:t>
            </a:r>
          </a:p>
          <a:p>
            <a:pPr marL="285750" indent="-285750">
              <a:buFont typeface="Arial"/>
              <a:buChar char="•"/>
            </a:pPr>
            <a:r>
              <a:rPr lang="it-IT">
                <a:latin typeface="Karla"/>
              </a:rPr>
              <a:t>Premium: circa 30 $ al mese</a:t>
            </a:r>
          </a:p>
          <a:p>
            <a:pPr marL="285750" indent="-285750">
              <a:buFont typeface="Arial"/>
              <a:buChar char="•"/>
            </a:pPr>
            <a:r>
              <a:rPr lang="it-IT">
                <a:latin typeface="Karla"/>
              </a:rPr>
              <a:t>Ultimate: circa 60 $ al mese</a:t>
            </a:r>
          </a:p>
          <a:p>
            <a:r>
              <a:rPr lang="it-IT">
                <a:latin typeface="Karla"/>
              </a:rPr>
              <a:t>Consigli: genera 1 o 2 immagini alla volta, esplora in bassa risoluzione, fai l'upscale solo delle migliori, anima solo le immagini scelte.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Segnaposto immagine 16" descr="Immagine che contiene arredo, interior design, interno, muro&#10;&#10;Il contenuto generato dall'IA potrebbe non essere corretto.">
            <a:extLst>
              <a:ext uri="{FF2B5EF4-FFF2-40B4-BE49-F238E27FC236}">
                <a16:creationId xmlns:a16="http://schemas.microsoft.com/office/drawing/2014/main" id="{A2009422-89A6-EEE3-8915-EC80353F714A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3"/>
          <a:srcRect l="53" r="53"/>
          <a:stretch>
            <a:fillRect/>
          </a:stretch>
        </p:blipFill>
        <p:spPr>
          <a:xfrm>
            <a:off x="0" y="1773238"/>
            <a:ext cx="11784013" cy="4319587"/>
          </a:xfrm>
        </p:spPr>
      </p:pic>
      <p:sp>
        <p:nvSpPr>
          <p:cNvPr id="12" name="Titolo 11">
            <a:extLst>
              <a:ext uri="{FF2B5EF4-FFF2-40B4-BE49-F238E27FC236}">
                <a16:creationId xmlns:a16="http://schemas.microsoft.com/office/drawing/2014/main" id="{C67F1C3F-C869-B3E5-976B-8ACF72C960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4384" y="441325"/>
            <a:ext cx="3682184" cy="839334"/>
          </a:xfrm>
        </p:spPr>
        <p:txBody>
          <a:bodyPr/>
          <a:lstStyle/>
          <a:p>
            <a:r>
              <a:rPr lang="it-IT" sz="2879"/>
              <a:t>Pipeline: dall'idea al video</a:t>
            </a: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CED3D252-A3B8-5967-C08C-30A52050E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59395" y="6356350"/>
            <a:ext cx="1922987" cy="365125"/>
          </a:xfrm>
        </p:spPr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33F14E5-F6E6-228D-05C4-C12B4BA70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38555" y="6356350"/>
            <a:ext cx="723280" cy="365125"/>
          </a:xfrm>
        </p:spPr>
        <p:txBody>
          <a:bodyPr/>
          <a:lstStyle/>
          <a:p>
            <a:fld id="{13D6451D-1641-964E-B995-104A5CF7FFD9}" type="slidenum">
              <a:rPr lang="it-IT" smtClean="0"/>
              <a:pPr/>
              <a:t>110</a:t>
            </a:fld>
            <a:endParaRPr lang="it-IT" dirty="0"/>
          </a:p>
        </p:txBody>
      </p:sp>
      <p:sp>
        <p:nvSpPr>
          <p:cNvPr id="14" name="Segnaposto testo 13">
            <a:extLst>
              <a:ext uri="{FF2B5EF4-FFF2-40B4-BE49-F238E27FC236}">
                <a16:creationId xmlns:a16="http://schemas.microsoft.com/office/drawing/2014/main" id="{60DC93EE-17B2-3081-2D65-210FB2E6A8C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050232" y="590106"/>
            <a:ext cx="3825245" cy="906181"/>
          </a:xfrm>
        </p:spPr>
        <p:txBody>
          <a:bodyPr/>
          <a:lstStyle/>
          <a:p>
            <a:r>
              <a:rPr lang="it-IT">
                <a:latin typeface="Karla"/>
              </a:rPr>
              <a:t>Percorso consigliato per un teaser social o un video per lo stand.</a:t>
            </a:r>
          </a:p>
        </p:txBody>
      </p:sp>
      <p:cxnSp>
        <p:nvCxnSpPr>
          <p:cNvPr id="23" name="Connettore 1 22">
            <a:extLst>
              <a:ext uri="{FF2B5EF4-FFF2-40B4-BE49-F238E27FC236}">
                <a16:creationId xmlns:a16="http://schemas.microsoft.com/office/drawing/2014/main" id="{B019C9E0-904B-93F1-F693-C4477C1EB3C6}"/>
              </a:ext>
            </a:extLst>
          </p:cNvPr>
          <p:cNvCxnSpPr>
            <a:cxnSpLocks/>
          </p:cNvCxnSpPr>
          <p:nvPr/>
        </p:nvCxnSpPr>
        <p:spPr>
          <a:xfrm>
            <a:off x="6203950" y="441325"/>
            <a:ext cx="5580063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ADED681-84E5-AEB9-F436-72396F9B8E8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/>
              <a:t>Attenzioni</a:t>
            </a: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9F09FC85-CEA7-237E-6BE2-7B9206D04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4E4368F-7A30-F387-08EE-7E7CBE9CC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6451D-1641-964E-B995-104A5CF7FFD9}" type="slidenum">
              <a:rPr lang="it-IT" smtClean="0"/>
              <a:pPr/>
              <a:t>111</a:t>
            </a:fld>
            <a:endParaRPr lang="it-IT" dirty="0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60D7638C-CC8E-08F3-B3C2-B1A51502FB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it-IT">
                <a:latin typeface="Karla"/>
              </a:rPr>
              <a:t>I prodotti reali non escono fedeli: usali come riferimento o fai il compositing.</a:t>
            </a:r>
          </a:p>
          <a:p>
            <a:pPr marL="285750" indent="-285750">
              <a:buFont typeface="Arial"/>
              <a:buChar char="•"/>
            </a:pPr>
            <a:r>
              <a:rPr lang="it-IT">
                <a:latin typeface="Karla"/>
              </a:rPr>
              <a:t>Il testo nelle immagini spesso sbaglia: aggiungilo dopo, oppure inseriscilo con Claude Design (in vettoriale o InDesign) o con ChatGPT.</a:t>
            </a:r>
          </a:p>
          <a:p>
            <a:pPr marL="285750" indent="-285750">
              <a:buFont typeface="Arial"/>
              <a:buChar char="•"/>
            </a:pPr>
            <a:r>
              <a:rPr lang="it-IT">
                <a:latin typeface="Karla"/>
              </a:rPr>
              <a:t>Uso commerciale e immagini private: verifica le condizioni del piano.</a:t>
            </a:r>
          </a:p>
          <a:p>
            <a:pPr marL="285750" indent="-285750">
              <a:buFont typeface="Arial"/>
              <a:buChar char="•"/>
            </a:pPr>
            <a:r>
              <a:rPr lang="it-IT">
                <a:latin typeface="Karla"/>
              </a:rPr>
              <a:t>Coerenza di brand: palette, luce e materiali vanno guidati.</a:t>
            </a:r>
          </a:p>
          <a:p>
            <a:pPr marL="285750" indent="-285750">
              <a:buFont typeface="Arial"/>
              <a:buChar char="•"/>
            </a:pPr>
            <a:r>
              <a:rPr lang="it-IT">
                <a:latin typeface="Karla"/>
              </a:rPr>
              <a:t>Trasparenza: dichiarare i contenuti generati con AI quando richiesto.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piè di pagina 1">
            <a:extLst>
              <a:ext uri="{FF2B5EF4-FFF2-40B4-BE49-F238E27FC236}">
                <a16:creationId xmlns:a16="http://schemas.microsoft.com/office/drawing/2014/main" id="{402E460F-4F9F-0677-CFD9-424E0F23C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F8858F06-55B1-6701-F194-75FA76A4854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it-IT">
                <a:latin typeface="Butler" panose="02000503090000020003" pitchFamily="2" charset="77"/>
              </a:rPr>
              <a:t>Grazie per l'attenzione</a:t>
            </a:r>
          </a:p>
          <a:p>
            <a:r>
              <a:rPr lang="it-IT" sz="2000">
                <a:latin typeface="Karla"/>
              </a:rPr>
              <a:t>slatte@colombinigroup.com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ColombiniGroup 1">
      <a:dk1>
        <a:srgbClr val="000000"/>
      </a:dk1>
      <a:lt1>
        <a:srgbClr val="FFFFFF"/>
      </a:lt1>
      <a:dk2>
        <a:srgbClr val="161D33"/>
      </a:dk2>
      <a:lt2>
        <a:srgbClr val="CBC6BB"/>
      </a:lt2>
      <a:accent1>
        <a:srgbClr val="75655C"/>
      </a:accent1>
      <a:accent2>
        <a:srgbClr val="FFFFFF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17d8eb1-1bba-4ea2-b346-f3316f08628d" xsi:nil="true"/>
    <Persona xmlns="ca6337a6-e3a4-4b38-b557-c867ce7fba84">
      <UserInfo>
        <DisplayName/>
        <AccountId xsi:nil="true"/>
        <AccountType/>
      </UserInfo>
    </Persona>
    <lcf76f155ced4ddcb4097134ff3c332f xmlns="ca6337a6-e3a4-4b38-b557-c867ce7fba84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52B87A09755EC0479E58B45462714600" ma:contentTypeVersion="17" ma:contentTypeDescription="Creare un nuovo documento." ma:contentTypeScope="" ma:versionID="7f14270cf27029fba874d740d97bd70e">
  <xsd:schema xmlns:xsd="http://www.w3.org/2001/XMLSchema" xmlns:xs="http://www.w3.org/2001/XMLSchema" xmlns:p="http://schemas.microsoft.com/office/2006/metadata/properties" xmlns:ns2="c17d8eb1-1bba-4ea2-b346-f3316f08628d" xmlns:ns3="ca6337a6-e3a4-4b38-b557-c867ce7fba84" targetNamespace="http://schemas.microsoft.com/office/2006/metadata/properties" ma:root="true" ma:fieldsID="da8d851ed2b7748edb6c191a989ca7bb" ns2:_="" ns3:_="">
    <xsd:import namespace="c17d8eb1-1bba-4ea2-b346-f3316f08628d"/>
    <xsd:import namespace="ca6337a6-e3a4-4b38-b557-c867ce7fba84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lcf76f155ced4ddcb4097134ff3c332f" minOccurs="0"/>
                <xsd:element ref="ns2:TaxCatchAll" minOccurs="0"/>
                <xsd:element ref="ns3:MediaServiceMetadata" minOccurs="0"/>
                <xsd:element ref="ns3:MediaServiceFastMetadata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MediaServiceObjectDetectorVersions" minOccurs="0"/>
                <xsd:element ref="ns3:MediaServiceSearchProperties" minOccurs="0"/>
                <xsd:element ref="ns3:Persona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17d8eb1-1bba-4ea2-b346-f3316f08628d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ndivis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Condiviso con dettagli" ma:internalName="SharedWithDetails" ma:readOnly="true">
      <xsd:simpleType>
        <xsd:restriction base="dms:Note">
          <xsd:maxLength value="255"/>
        </xsd:restriction>
      </xsd:simpleType>
    </xsd:element>
    <xsd:element name="TaxCatchAll" ma:index="12" nillable="true" ma:displayName="Taxonomy Catch All Column" ma:hidden="true" ma:list="{a166e57b-8a4a-4f41-a75e-59e45afdfbb1}" ma:internalName="TaxCatchAll" ma:showField="CatchAllData" ma:web="c17d8eb1-1bba-4ea2-b346-f3316f08628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a6337a6-e3a4-4b38-b557-c867ce7fba84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11" nillable="true" ma:taxonomy="true" ma:internalName="lcf76f155ced4ddcb4097134ff3c332f" ma:taxonomyFieldName="MediaServiceImageTags" ma:displayName="Tag immagine" ma:readOnly="false" ma:fieldId="{5cf76f15-5ced-4ddc-b409-7134ff3c332f}" ma:taxonomyMulti="true" ma:sspId="09818fe3-6ea2-492d-b78b-19bedbda6e3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3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4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Persona" ma:index="23" nillable="true" ma:displayName="Persona" ma:format="Dropdown" ma:list="UserInfo" ma:SharePointGroup="0" ma:internalName="Persona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38F4A41-4F1D-4E19-A800-2EDA218D28E7}">
  <ds:schemaRefs>
    <ds:schemaRef ds:uri="http://schemas.microsoft.com/office/2006/metadata/properties"/>
    <ds:schemaRef ds:uri="http://schemas.microsoft.com/office/infopath/2007/PartnerControls"/>
    <ds:schemaRef ds:uri="c17d8eb1-1bba-4ea2-b346-f3316f08628d"/>
    <ds:schemaRef ds:uri="ca6337a6-e3a4-4b38-b557-c867ce7fba84"/>
  </ds:schemaRefs>
</ds:datastoreItem>
</file>

<file path=customXml/itemProps2.xml><?xml version="1.0" encoding="utf-8"?>
<ds:datastoreItem xmlns:ds="http://schemas.openxmlformats.org/officeDocument/2006/customXml" ds:itemID="{7EE6A8CB-55C8-4BA5-8A27-91C6F324136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17d8eb1-1bba-4ea2-b346-f3316f08628d"/>
    <ds:schemaRef ds:uri="ca6337a6-e3a4-4b38-b557-c867ce7fba8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59050A4-0ADA-4AD9-81AA-373177D6177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921</TotalTime>
  <Words>7403</Words>
  <Application>Microsoft Macintosh PowerPoint</Application>
  <PresentationFormat>Widescreen</PresentationFormat>
  <Paragraphs>781</Paragraphs>
  <Slides>112</Slides>
  <Notes>98</Notes>
  <HiddenSlides>0</HiddenSlides>
  <MMClips>1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112</vt:i4>
      </vt:variant>
    </vt:vector>
  </HeadingPairs>
  <TitlesOfParts>
    <vt:vector size="118" baseType="lpstr">
      <vt:lpstr>Aptos</vt:lpstr>
      <vt:lpstr>Arial</vt:lpstr>
      <vt:lpstr>Butler</vt:lpstr>
      <vt:lpstr>BUTLER-EXTRABOLD</vt:lpstr>
      <vt:lpstr>Karla</vt:lpstr>
      <vt:lpstr>Tema di Office</vt:lpstr>
      <vt:lpstr>Presentazione standard di PowerPoint</vt:lpstr>
      <vt:lpstr>L'AI al lavoro</vt:lpstr>
      <vt:lpstr>Perché siamo qui oggi</vt:lpstr>
      <vt:lpstr>Cosa vedremo oggi</vt:lpstr>
      <vt:lpstr>L'AI potenzia chi la usa</vt:lpstr>
      <vt:lpstr>Il panorama AI</vt:lpstr>
      <vt:lpstr>Quanto corre il mondo AI</vt:lpstr>
      <vt:lpstr>Come ragiona un'AI</vt:lpstr>
      <vt:lpstr>Cinque mestieri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Quale AI per cosa</vt:lpstr>
      <vt:lpstr>Il prompt</vt:lpstr>
      <vt:lpstr>Prima e dopo</vt:lpstr>
      <vt:lpstr>Tre trucchi che funzionano</vt:lpstr>
      <vt:lpstr>Pipeline: 3 trend 2027</vt:lpstr>
      <vt:lpstr>I prompt della pipeline</vt:lpstr>
      <vt:lpstr>Tre a confronto</vt:lpstr>
      <vt:lpstr>Cosa hanno in comune</vt:lpstr>
      <vt:lpstr>Il confronto</vt:lpstr>
      <vt:lpstr>Quando uso cosa</vt:lpstr>
      <vt:lpstr>Il metodo conta più dello strumento</vt:lpstr>
      <vt:lpstr>Dentro Claude</vt:lpstr>
      <vt:lpstr>La mappa di Claude</vt:lpstr>
      <vt:lpstr>Dove si usa Claude</vt:lpstr>
      <vt:lpstr>Desktop o browser?</vt:lpstr>
      <vt:lpstr>Una sola conversazione</vt:lpstr>
      <vt:lpstr>Cosa è cambiato</vt:lpstr>
      <vt:lpstr>Dove sono finite le cose</vt:lpstr>
      <vt:lpstr>L'area di lavoro</vt:lpstr>
      <vt:lpstr>Come lavora Claude</vt:lpstr>
      <vt:lpstr>Come si imposta il lavoro</vt:lpstr>
      <vt:lpstr>Cos'è un modello</vt:lpstr>
      <vt:lpstr>Cos'è un token</vt:lpstr>
      <vt:lpstr>Perché le chat lunghe pesano</vt:lpstr>
      <vt:lpstr>Modelli e consumo</vt:lpstr>
      <vt:lpstr>Come scegliere il modello</vt:lpstr>
      <vt:lpstr>Usarlo con consapevolezza</vt:lpstr>
      <vt:lpstr>Lavorare bene</vt:lpstr>
      <vt:lpstr>La chat, usata bene</vt:lpstr>
      <vt:lpstr>Presentazione standard di PowerPoint</vt:lpstr>
      <vt:lpstr>Presentazione standard di PowerPoint</vt:lpstr>
      <vt:lpstr>La cartella ideale</vt:lpstr>
      <vt:lpstr>Il progetto ideale, passo per passo</vt:lpstr>
      <vt:lpstr>Esempio di istruzioni</vt:lpstr>
      <vt:lpstr>Artifact o file?</vt:lpstr>
      <vt:lpstr>Gli artifact</vt:lpstr>
      <vt:lpstr>Attenzione alle modifiche</vt:lpstr>
      <vt:lpstr>Presentazione standard di PowerPoint</vt:lpstr>
      <vt:lpstr>Skill e agenti</vt:lpstr>
      <vt:lpstr>Presentazione standard di PowerPoint</vt:lpstr>
      <vt:lpstr>Dentro una skill</vt:lpstr>
      <vt:lpstr>Presentazione standard di PowerPoint</vt:lpstr>
      <vt:lpstr>Creare una skill su misura</vt:lpstr>
      <vt:lpstr>Idee di skill per il marketing</vt:lpstr>
      <vt:lpstr>Presentazione standard di PowerPoint</vt:lpstr>
      <vt:lpstr>Come si crea un agente</vt:lpstr>
      <vt:lpstr>Skill o agente?</vt:lpstr>
      <vt:lpstr>Come lavorano insieme</vt:lpstr>
      <vt:lpstr>Presentazione standard di PowerPoint</vt:lpstr>
      <vt:lpstr>Presentazione standard di PowerPoint</vt:lpstr>
      <vt:lpstr>Presentazione standard di PowerPoint</vt:lpstr>
      <vt:lpstr>Claude Code in pratica</vt:lpstr>
      <vt:lpstr>Sicurezza: Manuale o Auto</vt:lpstr>
      <vt:lpstr>Pipeline: un lancio</vt:lpstr>
      <vt:lpstr>I prompt della pipeline</vt:lpstr>
      <vt:lpstr>Il setup ideale</vt:lpstr>
      <vt:lpstr>Dieci mosse per il setup</vt:lpstr>
      <vt:lpstr>Istruzioni personali</vt:lpstr>
      <vt:lpstr>Memoria e privacy</vt:lpstr>
      <vt:lpstr>Errori da evitare</vt:lpstr>
      <vt:lpstr>Automazioni</vt:lpstr>
      <vt:lpstr>Il lavoro che nessuno ama</vt:lpstr>
      <vt:lpstr>Lo schema in 5 mosse</vt:lpstr>
      <vt:lpstr>Esempio: la fattura</vt:lpstr>
      <vt:lpstr>Le regole in una tabella</vt:lpstr>
      <vt:lpstr>Il prompt dell'attività</vt:lpstr>
      <vt:lpstr>Presentazione standard di PowerPoint</vt:lpstr>
      <vt:lpstr>Presentazione standard di PowerPoint</vt:lpstr>
      <vt:lpstr>Le regole d'oro</vt:lpstr>
      <vt:lpstr>Pipeline: la tua automazione</vt:lpstr>
      <vt:lpstr>Il modello da compilare</vt:lpstr>
      <vt:lpstr>Fiducia</vt:lpstr>
      <vt:lpstr>Verificare sempre</vt:lpstr>
      <vt:lpstr>Cosa portare a casa</vt:lpstr>
      <vt:lpstr>Il primo passo, entro domani</vt:lpstr>
      <vt:lpstr>Ufficio eventi</vt:lpstr>
      <vt:lpstr>L'idea: un ufficio di agenti</vt:lpstr>
      <vt:lpstr>Un ufficio eventi in Claude</vt:lpstr>
      <vt:lpstr>La cartella eventi</vt:lpstr>
      <vt:lpstr>Presentazione standard di PowerPoint</vt:lpstr>
      <vt:lpstr>Pipeline: un evento</vt:lpstr>
      <vt:lpstr>Le attività pianificate</vt:lpstr>
      <vt:lpstr>Il prompt di avvio</vt:lpstr>
      <vt:lpstr>Setup in otto passi</vt:lpstr>
      <vt:lpstr>Cosa resta fuori</vt:lpstr>
      <vt:lpstr>Un ufficio ben impostato</vt:lpstr>
      <vt:lpstr>Leonardo AI</vt:lpstr>
      <vt:lpstr>Presentazione standard di PowerPoint</vt:lpstr>
      <vt:lpstr>L'area di lavoro</vt:lpstr>
      <vt:lpstr>I modelli immagine</vt:lpstr>
      <vt:lpstr>I modelli video</vt:lpstr>
      <vt:lpstr>Come scegliere il modello</vt:lpstr>
      <vt:lpstr>Anatomia di un prompt</vt:lpstr>
      <vt:lpstr>Riferimenti e ritocchi</vt:lpstr>
      <vt:lpstr>Token e piani</vt:lpstr>
      <vt:lpstr>Pipeline: dall'idea al video</vt:lpstr>
      <vt:lpstr>Attenzioni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Andrea Zaccarelli - andrea.zaccarelli6@studio.unibo.it</dc:creator>
  <cp:lastModifiedBy>Stefano Latte</cp:lastModifiedBy>
  <cp:revision>32</cp:revision>
  <dcterms:created xsi:type="dcterms:W3CDTF">2025-06-24T13:09:03Z</dcterms:created>
  <dcterms:modified xsi:type="dcterms:W3CDTF">2026-10-21T08:16:52Z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0x01010052B87A09755EC0479E58B45462714600</vt:lpwstr>
  </property>
  <property fmtid="{D5CDD505-2E9C-101B-9397-08002B2CF9AE}" pid="3" name="MediaServiceImageTags">
    <vt:lpwstr/>
  </property>
</Properties>
</file>